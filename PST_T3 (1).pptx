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3"/>
  </p:notesMasterIdLst>
  <p:sldIdLst>
    <p:sldId id="265" r:id="rId3"/>
    <p:sldId id="257" r:id="rId4"/>
    <p:sldId id="262" r:id="rId5"/>
    <p:sldId id="258" r:id="rId6"/>
    <p:sldId id="260" r:id="rId7"/>
    <p:sldId id="259" r:id="rId8"/>
    <p:sldId id="263" r:id="rId9"/>
    <p:sldId id="268" r:id="rId10"/>
    <p:sldId id="269" r:id="rId11"/>
    <p:sldId id="267" r:id="rId12"/>
  </p:sldIdLst>
  <p:sldSz cx="18288000" cy="10287000"/>
  <p:notesSz cx="6858000" cy="9144000"/>
  <p:defaultText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sar" initials="C" lastIdx="1" clrIdx="0">
    <p:extLst>
      <p:ext uri="{19B8F6BF-5375-455C-9EA6-DF929625EA0E}">
        <p15:presenceInfo xmlns:p15="http://schemas.microsoft.com/office/powerpoint/2012/main" userId="Cesa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9BF5"/>
    <a:srgbClr val="1D5B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88" autoAdjust="0"/>
    <p:restoredTop sz="94660"/>
  </p:normalViewPr>
  <p:slideViewPr>
    <p:cSldViewPr snapToGrid="0">
      <p:cViewPr varScale="1">
        <p:scale>
          <a:sx n="47" d="100"/>
          <a:sy n="47" d="100"/>
        </p:scale>
        <p:origin x="690"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7-16T13:35:54.076" idx="1">
    <p:pos x="11520" y="3240"/>
    <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1"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strike="noStrike" spc="-1">
                <a:solidFill>
                  <a:srgbClr val="000000"/>
                </a:solidFill>
                <a:latin typeface="Calibri"/>
              </a:rPr>
              <a:t>Pulse para desplazar la diapositiva</a:t>
            </a:r>
          </a:p>
        </p:txBody>
      </p:sp>
      <p:sp>
        <p:nvSpPr>
          <p:cNvPr id="4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0">
              <a:buNone/>
            </a:pPr>
            <a:r>
              <a:rPr lang="es-VE" sz="2000" b="0" strike="noStrike" spc="-1">
                <a:solidFill>
                  <a:srgbClr val="000000"/>
                </a:solidFill>
                <a:latin typeface="Arial"/>
              </a:rPr>
              <a:t>Pulse para editar el formato de las notas</a:t>
            </a:r>
          </a:p>
        </p:txBody>
      </p:sp>
      <p:sp>
        <p:nvSpPr>
          <p:cNvPr id="43"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s-VE" sz="1400" b="0" strike="noStrike" spc="-1">
                <a:solidFill>
                  <a:srgbClr val="000000"/>
                </a:solidFill>
                <a:latin typeface="Times New Roman"/>
              </a:rPr>
              <a:t>&lt;cabecera&gt;</a:t>
            </a:r>
          </a:p>
        </p:txBody>
      </p:sp>
      <p:sp>
        <p:nvSpPr>
          <p:cNvPr id="44"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s-VE" sz="1400" b="0" strike="noStrike" spc="-1">
                <a:solidFill>
                  <a:srgbClr val="000000"/>
                </a:solidFill>
                <a:latin typeface="Times New Roman"/>
              </a:defRPr>
            </a:lvl1pPr>
          </a:lstStyle>
          <a:p>
            <a:pPr indent="0" algn="r">
              <a:buNone/>
            </a:pPr>
            <a:r>
              <a:rPr lang="es-VE" sz="1400" b="0" strike="noStrike" spc="-1">
                <a:solidFill>
                  <a:srgbClr val="000000"/>
                </a:solidFill>
                <a:latin typeface="Times New Roman"/>
              </a:rPr>
              <a:t>&lt;fecha/hora&gt;</a:t>
            </a:r>
          </a:p>
        </p:txBody>
      </p:sp>
      <p:sp>
        <p:nvSpPr>
          <p:cNvPr id="45"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buNone/>
              <a:defRPr lang="es-VE" sz="1400" b="0" strike="noStrike" spc="-1">
                <a:solidFill>
                  <a:srgbClr val="000000"/>
                </a:solidFill>
                <a:latin typeface="Times New Roman"/>
              </a:defRPr>
            </a:lvl1pPr>
          </a:lstStyle>
          <a:p>
            <a:pPr indent="0">
              <a:buNone/>
            </a:pPr>
            <a:r>
              <a:rPr lang="es-VE" sz="1400" b="0" strike="noStrike" spc="-1">
                <a:solidFill>
                  <a:srgbClr val="000000"/>
                </a:solidFill>
                <a:latin typeface="Times New Roman"/>
              </a:rPr>
              <a:t>&lt;pie de página&gt;</a:t>
            </a:r>
          </a:p>
        </p:txBody>
      </p:sp>
      <p:sp>
        <p:nvSpPr>
          <p:cNvPr id="46"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s-VE" sz="1400" b="0" strike="noStrike" spc="-1">
                <a:solidFill>
                  <a:srgbClr val="000000"/>
                </a:solidFill>
                <a:latin typeface="Times New Roman"/>
              </a:defRPr>
            </a:lvl1pPr>
          </a:lstStyle>
          <a:p>
            <a:pPr indent="0" algn="r">
              <a:buNone/>
            </a:pPr>
            <a:fld id="{192585B8-DFDC-4613-824A-79E432A7B481}" type="slidenum">
              <a:rPr lang="es-VE" sz="1400" b="0" strike="noStrike" spc="-1">
                <a:solidFill>
                  <a:srgbClr val="000000"/>
                </a:solidFill>
                <a:latin typeface="Times New Roman"/>
              </a:rPr>
              <a:t>‹Nº›</a:t>
            </a:fld>
            <a:endParaRPr lang="es-VE"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noRot="1" noChangeAspect="1"/>
          </p:cNvSpPr>
          <p:nvPr>
            <p:ph type="sldImg"/>
          </p:nvPr>
        </p:nvSpPr>
        <p:spPr>
          <a:xfrm>
            <a:off x="685800" y="1143000"/>
            <a:ext cx="5486400" cy="3086100"/>
          </a:xfrm>
          <a:prstGeom prst="rect">
            <a:avLst/>
          </a:prstGeom>
          <a:ln w="0">
            <a:noFill/>
          </a:ln>
        </p:spPr>
      </p:sp>
      <p:sp>
        <p:nvSpPr>
          <p:cNvPr id="128"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0">
              <a:buNone/>
            </a:pPr>
            <a:endParaRPr lang="es-VE" sz="1800" b="0" strike="noStrike" spc="-1">
              <a:solidFill>
                <a:srgbClr val="000000"/>
              </a:solidFill>
              <a:latin typeface="Arial"/>
            </a:endParaRPr>
          </a:p>
        </p:txBody>
      </p:sp>
      <p:sp>
        <p:nvSpPr>
          <p:cNvPr id="129"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indent="0" algn="r">
              <a:lnSpc>
                <a:spcPct val="100000"/>
              </a:lnSpc>
              <a:buNone/>
              <a:defRPr lang="es-VE" sz="1200" b="0" strike="noStrike" spc="-1">
                <a:solidFill>
                  <a:srgbClr val="000000"/>
                </a:solidFill>
                <a:latin typeface="Times New Roman"/>
              </a:defRPr>
            </a:lvl1pPr>
          </a:lstStyle>
          <a:p>
            <a:pPr indent="0" algn="r">
              <a:lnSpc>
                <a:spcPct val="100000"/>
              </a:lnSpc>
              <a:buNone/>
            </a:pPr>
            <a:fld id="{CCA28764-260E-431F-BB8B-861DD3270191}" type="slidenum">
              <a:rPr lang="es-VE" sz="1200" b="0" strike="noStrike" spc="-1">
                <a:solidFill>
                  <a:srgbClr val="000000"/>
                </a:solidFill>
                <a:latin typeface="Times New Roman"/>
              </a:rPr>
              <a:t>2</a:t>
            </a:fld>
            <a:endParaRPr lang="es-VE"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noRot="1" noChangeAspect="1"/>
          </p:cNvSpPr>
          <p:nvPr>
            <p:ph type="sldImg"/>
          </p:nvPr>
        </p:nvSpPr>
        <p:spPr>
          <a:xfrm>
            <a:off x="685800" y="1143000"/>
            <a:ext cx="5486400" cy="3086100"/>
          </a:xfrm>
          <a:prstGeom prst="rect">
            <a:avLst/>
          </a:prstGeom>
          <a:ln w="0">
            <a:noFill/>
          </a:ln>
        </p:spPr>
      </p:sp>
      <p:sp>
        <p:nvSpPr>
          <p:cNvPr id="128"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0">
              <a:buNone/>
            </a:pPr>
            <a:endParaRPr lang="es-VE" sz="1800" b="0" strike="noStrike" spc="-1">
              <a:solidFill>
                <a:srgbClr val="000000"/>
              </a:solidFill>
              <a:latin typeface="Arial"/>
            </a:endParaRPr>
          </a:p>
        </p:txBody>
      </p:sp>
      <p:sp>
        <p:nvSpPr>
          <p:cNvPr id="129"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indent="0" algn="r">
              <a:lnSpc>
                <a:spcPct val="100000"/>
              </a:lnSpc>
              <a:buNone/>
              <a:defRPr lang="es-VE" sz="1200" b="0" strike="noStrike" spc="-1">
                <a:solidFill>
                  <a:srgbClr val="000000"/>
                </a:solidFill>
                <a:latin typeface="Times New Roman"/>
              </a:defRPr>
            </a:lvl1pPr>
          </a:lstStyle>
          <a:p>
            <a:pPr indent="0" algn="r">
              <a:lnSpc>
                <a:spcPct val="100000"/>
              </a:lnSpc>
              <a:buNone/>
            </a:pPr>
            <a:fld id="{CCA28764-260E-431F-BB8B-861DD3270191}" type="slidenum">
              <a:rPr lang="es-VE" sz="1200" b="0" strike="noStrike" spc="-1">
                <a:solidFill>
                  <a:srgbClr val="000000"/>
                </a:solidFill>
                <a:latin typeface="Times New Roman"/>
              </a:rPr>
              <a:t>3</a:t>
            </a:fld>
            <a:endParaRPr lang="es-VE" sz="1200" b="0" strike="noStrike" spc="-1">
              <a:solidFill>
                <a:srgbClr val="000000"/>
              </a:solidFill>
              <a:latin typeface="Times New Roman"/>
            </a:endParaRPr>
          </a:p>
        </p:txBody>
      </p:sp>
    </p:spTree>
    <p:extLst>
      <p:ext uri="{BB962C8B-B14F-4D97-AF65-F5344CB8AC3E}">
        <p14:creationId xmlns:p14="http://schemas.microsoft.com/office/powerpoint/2010/main" val="3611954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C4C9E6DD-A382-43F3-B4A5-56012CC1A925}" type="slidenum">
              <a:t>‹Nº›</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lstStyle/>
          <a:p>
            <a:pPr indent="0" algn="ctr">
              <a:buNone/>
            </a:pPr>
            <a:endParaRPr lang="es-VE"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F31FECB4-8E30-44DC-9016-AC1A451E0A87}" type="slidenum">
              <a:t>‹Nº›</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8" name="PlaceHolder 2"/>
          <p:cNvSpPr>
            <a:spLocks noGrp="1"/>
          </p:cNvSpPr>
          <p:nvPr>
            <p:ph/>
          </p:nvPr>
        </p:nvSpPr>
        <p:spPr>
          <a:xfrm>
            <a:off x="914400" y="2406960"/>
            <a:ext cx="1645884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2AD01575-2966-4044-B608-38896DDD0834}" type="slidenum">
              <a:t>‹Nº›</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0" name="PlaceHolder 2"/>
          <p:cNvSpPr>
            <a:spLocks noGrp="1"/>
          </p:cNvSpPr>
          <p:nvPr>
            <p:ph/>
          </p:nvPr>
        </p:nvSpPr>
        <p:spPr>
          <a:xfrm>
            <a:off x="91440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1" name="PlaceHolder 3"/>
          <p:cNvSpPr>
            <a:spLocks noGrp="1"/>
          </p:cNvSpPr>
          <p:nvPr>
            <p:ph/>
          </p:nvPr>
        </p:nvSpPr>
        <p:spPr>
          <a:xfrm>
            <a:off x="934812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88FC20B0-2B18-44BA-B5E5-21645AE63A6B}"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AA3589E9-2F1C-4E0C-8D27-2FA9CB13912D}"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s-VE"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A9B2B825-CF2A-4CC7-A4F3-0F03AC647D1C}" type="slidenum">
              <a:t>‹Nº›</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5" name="PlaceHolder 2"/>
          <p:cNvSpPr>
            <a:spLocks noGrp="1"/>
          </p:cNvSpPr>
          <p:nvPr>
            <p:ph/>
          </p:nvPr>
        </p:nvSpPr>
        <p:spPr>
          <a:xfrm>
            <a:off x="914400" y="240696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6" name="PlaceHolder 3"/>
          <p:cNvSpPr>
            <a:spLocks noGrp="1"/>
          </p:cNvSpPr>
          <p:nvPr>
            <p:ph/>
          </p:nvPr>
        </p:nvSpPr>
        <p:spPr>
          <a:xfrm>
            <a:off x="934812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 name="PlaceHolder 4"/>
          <p:cNvSpPr>
            <a:spLocks noGrp="1"/>
          </p:cNvSpPr>
          <p:nvPr>
            <p:ph/>
          </p:nvPr>
        </p:nvSpPr>
        <p:spPr>
          <a:xfrm>
            <a:off x="914400" y="552312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A725C9A7-8C5A-4F17-AB7C-CB15134DDFB5}"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9" name="PlaceHolder 2"/>
          <p:cNvSpPr>
            <a:spLocks noGrp="1"/>
          </p:cNvSpPr>
          <p:nvPr>
            <p:ph/>
          </p:nvPr>
        </p:nvSpPr>
        <p:spPr>
          <a:xfrm>
            <a:off x="91440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 name="PlaceHolder 3"/>
          <p:cNvSpPr>
            <a:spLocks noGrp="1"/>
          </p:cNvSpPr>
          <p:nvPr>
            <p:ph/>
          </p:nvPr>
        </p:nvSpPr>
        <p:spPr>
          <a:xfrm>
            <a:off x="9348120" y="240696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1" name="PlaceHolder 4"/>
          <p:cNvSpPr>
            <a:spLocks noGrp="1"/>
          </p:cNvSpPr>
          <p:nvPr>
            <p:ph/>
          </p:nvPr>
        </p:nvSpPr>
        <p:spPr>
          <a:xfrm>
            <a:off x="9348120" y="552312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98F37658-3D36-42A4-BBF8-BF7F58015302}"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3" name="PlaceHolder 2"/>
          <p:cNvSpPr>
            <a:spLocks noGrp="1"/>
          </p:cNvSpPr>
          <p:nvPr>
            <p:ph/>
          </p:nvPr>
        </p:nvSpPr>
        <p:spPr>
          <a:xfrm>
            <a:off x="914400" y="240696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4" name="PlaceHolder 3"/>
          <p:cNvSpPr>
            <a:spLocks noGrp="1"/>
          </p:cNvSpPr>
          <p:nvPr>
            <p:ph/>
          </p:nvPr>
        </p:nvSpPr>
        <p:spPr>
          <a:xfrm>
            <a:off x="9348120" y="240696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 name="PlaceHolder 4"/>
          <p:cNvSpPr>
            <a:spLocks noGrp="1"/>
          </p:cNvSpPr>
          <p:nvPr>
            <p:ph/>
          </p:nvPr>
        </p:nvSpPr>
        <p:spPr>
          <a:xfrm>
            <a:off x="914400" y="5523120"/>
            <a:ext cx="1645884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9512DE1-A89C-4A97-887A-821D2A6EAB03}" type="slidenum">
              <a:t>‹Nº›</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7" name="PlaceHolder 2"/>
          <p:cNvSpPr>
            <a:spLocks noGrp="1"/>
          </p:cNvSpPr>
          <p:nvPr>
            <p:ph/>
          </p:nvPr>
        </p:nvSpPr>
        <p:spPr>
          <a:xfrm>
            <a:off x="914400" y="2406960"/>
            <a:ext cx="1645884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8" name="PlaceHolder 3"/>
          <p:cNvSpPr>
            <a:spLocks noGrp="1"/>
          </p:cNvSpPr>
          <p:nvPr>
            <p:ph/>
          </p:nvPr>
        </p:nvSpPr>
        <p:spPr>
          <a:xfrm>
            <a:off x="914400" y="5523120"/>
            <a:ext cx="1645884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25ED16CB-133D-4EFF-A892-5A9E3AF62959}" type="slidenum">
              <a:t>‹Nº›</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0" name="PlaceHolder 2"/>
          <p:cNvSpPr>
            <a:spLocks noGrp="1"/>
          </p:cNvSpPr>
          <p:nvPr>
            <p:ph/>
          </p:nvPr>
        </p:nvSpPr>
        <p:spPr>
          <a:xfrm>
            <a:off x="914400" y="240696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 name="PlaceHolder 3"/>
          <p:cNvSpPr>
            <a:spLocks noGrp="1"/>
          </p:cNvSpPr>
          <p:nvPr>
            <p:ph/>
          </p:nvPr>
        </p:nvSpPr>
        <p:spPr>
          <a:xfrm>
            <a:off x="9348120" y="240696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 name="PlaceHolder 4"/>
          <p:cNvSpPr>
            <a:spLocks noGrp="1"/>
          </p:cNvSpPr>
          <p:nvPr>
            <p:ph/>
          </p:nvPr>
        </p:nvSpPr>
        <p:spPr>
          <a:xfrm>
            <a:off x="914400" y="552312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3" name="PlaceHolder 5"/>
          <p:cNvSpPr>
            <a:spLocks noGrp="1"/>
          </p:cNvSpPr>
          <p:nvPr>
            <p:ph/>
          </p:nvPr>
        </p:nvSpPr>
        <p:spPr>
          <a:xfrm>
            <a:off x="9348120" y="5523120"/>
            <a:ext cx="803160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747844F4-3AAD-4EAB-8132-E004BFFBD984}" type="slidenum">
              <a:t>‹Nº›</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5" name="PlaceHolder 2"/>
          <p:cNvSpPr>
            <a:spLocks noGrp="1"/>
          </p:cNvSpPr>
          <p:nvPr>
            <p:ph/>
          </p:nvPr>
        </p:nvSpPr>
        <p:spPr>
          <a:xfrm>
            <a:off x="914400" y="2406960"/>
            <a:ext cx="529956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6" name="PlaceHolder 3"/>
          <p:cNvSpPr>
            <a:spLocks noGrp="1"/>
          </p:cNvSpPr>
          <p:nvPr>
            <p:ph/>
          </p:nvPr>
        </p:nvSpPr>
        <p:spPr>
          <a:xfrm>
            <a:off x="6479280" y="2406960"/>
            <a:ext cx="529956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7" name="PlaceHolder 4"/>
          <p:cNvSpPr>
            <a:spLocks noGrp="1"/>
          </p:cNvSpPr>
          <p:nvPr>
            <p:ph/>
          </p:nvPr>
        </p:nvSpPr>
        <p:spPr>
          <a:xfrm>
            <a:off x="12044160" y="2406960"/>
            <a:ext cx="529956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8" name="PlaceHolder 5"/>
          <p:cNvSpPr>
            <a:spLocks noGrp="1"/>
          </p:cNvSpPr>
          <p:nvPr>
            <p:ph/>
          </p:nvPr>
        </p:nvSpPr>
        <p:spPr>
          <a:xfrm>
            <a:off x="914400" y="5523120"/>
            <a:ext cx="529956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9" name="PlaceHolder 6"/>
          <p:cNvSpPr>
            <a:spLocks noGrp="1"/>
          </p:cNvSpPr>
          <p:nvPr>
            <p:ph/>
          </p:nvPr>
        </p:nvSpPr>
        <p:spPr>
          <a:xfrm>
            <a:off x="6479280" y="5523120"/>
            <a:ext cx="529956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0" name="PlaceHolder 7"/>
          <p:cNvSpPr>
            <a:spLocks noGrp="1"/>
          </p:cNvSpPr>
          <p:nvPr>
            <p:ph/>
          </p:nvPr>
        </p:nvSpPr>
        <p:spPr>
          <a:xfrm>
            <a:off x="12044160" y="5523120"/>
            <a:ext cx="5299560" cy="28454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E552CBDC-C7FA-4AEB-8FB9-6EA9DA0136B6}" type="slidenum">
              <a:t>‹Nº›</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03824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61676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870019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957318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200753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16399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962035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16969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5200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41000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32715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94000"/>
            <a:lum/>
          </a:blip>
          <a:srcRect/>
          <a:stretch>
            <a:fillRect/>
          </a:stretch>
        </a:blipFill>
        <a:effectLst/>
      </p:bgPr>
    </p:bg>
    <p:spTree>
      <p:nvGrpSpPr>
        <p:cNvPr id="1" name=""/>
        <p:cNvGrpSpPr/>
        <p:nvPr/>
      </p:nvGrpSpPr>
      <p:grpSpPr>
        <a:xfrm>
          <a:off x="0" y="0"/>
          <a:ext cx="0" cy="0"/>
          <a:chOff x="0" y="0"/>
          <a:chExt cx="0" cy="0"/>
        </a:xfrm>
      </p:grpSpPr>
      <p:sp>
        <p:nvSpPr>
          <p:cNvPr id="5"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indent="0">
              <a:lnSpc>
                <a:spcPct val="100000"/>
              </a:lnSpc>
              <a:buNone/>
              <a:defRPr lang="en-US" sz="1200" b="0" strike="noStrike" spc="-1">
                <a:solidFill>
                  <a:srgbClr val="8B8B8B"/>
                </a:solidFill>
                <a:latin typeface="Calibri"/>
              </a:defRPr>
            </a:lvl1pPr>
          </a:lstStyle>
          <a:p>
            <a:pPr indent="0">
              <a:lnSpc>
                <a:spcPct val="100000"/>
              </a:lnSpc>
              <a:buNone/>
            </a:pPr>
            <a:r>
              <a:rPr lang="en-US" sz="1200" b="0" strike="noStrike" spc="-1">
                <a:solidFill>
                  <a:srgbClr val="8B8B8B"/>
                </a:solidFill>
                <a:latin typeface="Calibri"/>
              </a:rPr>
              <a:t>&lt;fecha/hora&gt;</a:t>
            </a:r>
            <a:endParaRPr lang="es-VE" sz="1200" b="0" strike="noStrike" spc="-1">
              <a:solidFill>
                <a:srgbClr val="000000"/>
              </a:solidFill>
              <a:latin typeface="Times New Roman"/>
            </a:endParaRPr>
          </a:p>
        </p:txBody>
      </p:sp>
      <p:sp>
        <p:nvSpPr>
          <p:cNvPr id="6"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indent="0" algn="ctr">
              <a:buNone/>
              <a:defRPr lang="es-VE" sz="1400" b="0" strike="noStrike" spc="-1">
                <a:solidFill>
                  <a:srgbClr val="000000"/>
                </a:solidFill>
                <a:latin typeface="Times New Roman"/>
              </a:defRPr>
            </a:lvl1pPr>
          </a:lstStyle>
          <a:p>
            <a:pPr indent="0" algn="ctr">
              <a:buNone/>
            </a:pPr>
            <a:r>
              <a:rPr lang="es-VE" sz="1400" b="0" strike="noStrike" spc="-1">
                <a:solidFill>
                  <a:srgbClr val="000000"/>
                </a:solidFill>
                <a:latin typeface="Times New Roman"/>
              </a:rPr>
              <a:t>&lt;pie de página&gt;</a:t>
            </a: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indent="0" algn="r">
              <a:lnSpc>
                <a:spcPct val="100000"/>
              </a:lnSpc>
              <a:buNone/>
              <a:defRPr lang="en-US" sz="1200" b="0" strike="noStrike" spc="-1">
                <a:solidFill>
                  <a:srgbClr val="8B8B8B"/>
                </a:solidFill>
                <a:latin typeface="Calibri"/>
              </a:defRPr>
            </a:lvl1pPr>
          </a:lstStyle>
          <a:p>
            <a:pPr indent="0" algn="r">
              <a:lnSpc>
                <a:spcPct val="100000"/>
              </a:lnSpc>
              <a:buNone/>
            </a:pPr>
            <a:fld id="{E046B716-720F-437D-8586-83CE3624A6B7}" type="slidenum">
              <a:rPr lang="en-US" sz="1200" b="0" strike="noStrike" spc="-1">
                <a:solidFill>
                  <a:srgbClr val="8B8B8B"/>
                </a:solidFill>
                <a:latin typeface="Calibri"/>
              </a:rPr>
              <a:t>‹Nº›</a:t>
            </a:fld>
            <a:endParaRPr lang="es-VE" sz="1200" b="0" strike="noStrike" spc="-1">
              <a:solidFill>
                <a:srgbClr val="000000"/>
              </a:solidFill>
              <a:latin typeface="Times New Roman"/>
            </a:endParaRPr>
          </a:p>
        </p:txBody>
      </p:sp>
      <p:sp>
        <p:nvSpPr>
          <p:cNvPr id="3"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Calibri"/>
              </a:rPr>
              <a:t>Pulse para editar el formato del texto de título</a:t>
            </a:r>
          </a:p>
        </p:txBody>
      </p:sp>
      <p:sp>
        <p:nvSpPr>
          <p:cNvPr id="4"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Pulse para editar el formato de texto del esquema</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Segundo nivel del esquema</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Tercer nivel del esquema</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Cuarto nivel del esquema</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Quinto nivel del esquema</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Sexto nivel del esquema</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94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7/16/2026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1130248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6.png"/><Relationship Id="rId7" Type="http://schemas.openxmlformats.org/officeDocument/2006/relationships/image" Target="../media/image23.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comments" Target="../comments/comment1.xml"/><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6.png"/><Relationship Id="rId7" Type="http://schemas.openxmlformats.org/officeDocument/2006/relationships/image" Target="../media/image30.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4000"/>
            <a:lum/>
          </a:blip>
          <a:srcRect/>
          <a:stretch>
            <a:fillRect/>
          </a:stretch>
        </a:blipFill>
        <a:effectLst/>
      </p:bgPr>
    </p:bg>
    <p:spTree>
      <p:nvGrpSpPr>
        <p:cNvPr id="1" name=""/>
        <p:cNvGrpSpPr/>
        <p:nvPr/>
      </p:nvGrpSpPr>
      <p:grpSpPr>
        <a:xfrm>
          <a:off x="0" y="0"/>
          <a:ext cx="0" cy="0"/>
          <a:chOff x="0" y="0"/>
          <a:chExt cx="0" cy="0"/>
        </a:xfrm>
      </p:grpSpPr>
      <p:sp>
        <p:nvSpPr>
          <p:cNvPr id="8" name="Rectángulo 7"/>
          <p:cNvSpPr/>
          <p:nvPr/>
        </p:nvSpPr>
        <p:spPr>
          <a:xfrm>
            <a:off x="376518" y="322729"/>
            <a:ext cx="17563535" cy="134679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3" name="Freeform 6"/>
          <p:cNvSpPr/>
          <p:nvPr/>
        </p:nvSpPr>
        <p:spPr>
          <a:xfrm>
            <a:off x="376518" y="534681"/>
            <a:ext cx="1504559" cy="1017113"/>
          </a:xfrm>
          <a:custGeom>
            <a:avLst/>
            <a:gdLst/>
            <a:ahLst/>
            <a:cxnLst/>
            <a:rect l="l" t="t" r="r" b="b"/>
            <a:pathLst>
              <a:path w="1715229" h="1715229">
                <a:moveTo>
                  <a:pt x="0" y="0"/>
                </a:moveTo>
                <a:lnTo>
                  <a:pt x="1715229" y="0"/>
                </a:lnTo>
                <a:lnTo>
                  <a:pt x="1715229" y="1715229"/>
                </a:lnTo>
                <a:lnTo>
                  <a:pt x="0" y="1715229"/>
                </a:lnTo>
                <a:lnTo>
                  <a:pt x="0" y="0"/>
                </a:lnTo>
                <a:close/>
              </a:path>
            </a:pathLst>
          </a:custGeom>
          <a:blipFill>
            <a:blip r:embed="rId3"/>
            <a:stretch>
              <a:fillRect/>
            </a:stretch>
          </a:blipFill>
          <a:ln>
            <a:solidFill>
              <a:schemeClr val="bg1"/>
            </a:solidFill>
          </a:ln>
        </p:spPr>
      </p:sp>
      <p:sp>
        <p:nvSpPr>
          <p:cNvPr id="4" name="TextBox 9"/>
          <p:cNvSpPr txBox="1"/>
          <p:nvPr/>
        </p:nvSpPr>
        <p:spPr>
          <a:xfrm>
            <a:off x="838199" y="1903759"/>
            <a:ext cx="16078200" cy="2308324"/>
          </a:xfrm>
          <a:prstGeom prst="rect">
            <a:avLst/>
          </a:prstGeom>
        </p:spPr>
        <p:txBody>
          <a:bodyPr wrap="square" lIns="0" tIns="0" rIns="0" bIns="0" rtlCol="0" anchor="t">
            <a:spAutoFit/>
          </a:bodyPr>
          <a:lstStyle/>
          <a:p>
            <a:pPr marL="0" marR="0" lvl="0" indent="0" algn="ctr" defTabSz="914400" rtl="0" eaLnBrk="1" fontAlgn="auto" latinLnBrk="0" hangingPunct="1">
              <a:lnSpc>
                <a:spcPts val="3639"/>
              </a:lnSpc>
              <a:spcBef>
                <a:spcPts val="0"/>
              </a:spcBef>
              <a:spcAft>
                <a:spcPts val="0"/>
              </a:spcAft>
              <a:buClrTx/>
              <a:buSzTx/>
              <a:buFontTx/>
              <a:buNone/>
              <a:tabLst/>
              <a:defRPr/>
            </a:pPr>
            <a:r>
              <a:rPr kumimoji="0" lang="en-US" sz="2400" b="1" i="0" u="none" strike="noStrike" kern="1200" cap="none" spc="163" normalizeH="0" baseline="0" noProof="0" dirty="0">
                <a:ln>
                  <a:noFill/>
                </a:ln>
                <a:solidFill>
                  <a:srgbClr val="000000"/>
                </a:solidFill>
                <a:effectLst/>
                <a:uLnTx/>
                <a:uFillTx/>
                <a:latin typeface="Arial" panose="020B0604020202020204" pitchFamily="34" charset="0"/>
                <a:ea typeface="Poppins Bold"/>
                <a:cs typeface="Arial" panose="020B0604020202020204" pitchFamily="34" charset="0"/>
                <a:sym typeface="Poppins Bold"/>
              </a:rPr>
              <a:t>REPÚBLICA BOLIVARIANA DE VENEZUELA </a:t>
            </a:r>
          </a:p>
          <a:p>
            <a:pPr marL="0" marR="0" lvl="0" indent="0" algn="ctr" defTabSz="914400" rtl="0" eaLnBrk="1" fontAlgn="auto" latinLnBrk="0" hangingPunct="1">
              <a:lnSpc>
                <a:spcPts val="3639"/>
              </a:lnSpc>
              <a:spcBef>
                <a:spcPts val="0"/>
              </a:spcBef>
              <a:spcAft>
                <a:spcPts val="0"/>
              </a:spcAft>
              <a:buClrTx/>
              <a:buSzTx/>
              <a:buFontTx/>
              <a:buNone/>
              <a:tabLst/>
              <a:defRPr/>
            </a:pPr>
            <a:r>
              <a:rPr kumimoji="0" lang="en-US" sz="2400" b="1" i="0" u="none" strike="noStrike" kern="1200" cap="none" spc="163" normalizeH="0" baseline="0" noProof="0" dirty="0">
                <a:ln>
                  <a:noFill/>
                </a:ln>
                <a:solidFill>
                  <a:srgbClr val="000000"/>
                </a:solidFill>
                <a:effectLst/>
                <a:uLnTx/>
                <a:uFillTx/>
                <a:latin typeface="Arial" panose="020B0604020202020204" pitchFamily="34" charset="0"/>
                <a:ea typeface="Poppins Bold"/>
                <a:cs typeface="Arial" panose="020B0604020202020204" pitchFamily="34" charset="0"/>
                <a:sym typeface="Poppins Bold"/>
              </a:rPr>
              <a:t>MINISTERIO DEL PODER POPULAR PARA LA EDUCACIÓN UNIVERSITARIA, CIENCIA Y TECNOLOGÍA </a:t>
            </a:r>
          </a:p>
          <a:p>
            <a:pPr marL="0" marR="0" lvl="0" indent="0" algn="ctr" defTabSz="914400" rtl="0" eaLnBrk="1" fontAlgn="auto" latinLnBrk="0" hangingPunct="1">
              <a:lnSpc>
                <a:spcPts val="3639"/>
              </a:lnSpc>
              <a:spcBef>
                <a:spcPts val="0"/>
              </a:spcBef>
              <a:spcAft>
                <a:spcPts val="0"/>
              </a:spcAft>
              <a:buClrTx/>
              <a:buSzTx/>
              <a:buFontTx/>
              <a:buNone/>
              <a:tabLst/>
              <a:defRPr/>
            </a:pPr>
            <a:r>
              <a:rPr kumimoji="0" lang="en-US" sz="2400" b="1" i="0" u="none" strike="noStrike" kern="1200" cap="none" spc="163" normalizeH="0" baseline="0" noProof="0" dirty="0">
                <a:ln>
                  <a:noFill/>
                </a:ln>
                <a:solidFill>
                  <a:srgbClr val="000000"/>
                </a:solidFill>
                <a:effectLst/>
                <a:uLnTx/>
                <a:uFillTx/>
                <a:latin typeface="Arial" panose="020B0604020202020204" pitchFamily="34" charset="0"/>
                <a:ea typeface="Poppins Bold"/>
                <a:cs typeface="Arial" panose="020B0604020202020204" pitchFamily="34" charset="0"/>
                <a:sym typeface="Poppins Bold"/>
              </a:rPr>
              <a:t>UNIVERSIDAD POLITÉCNICA TERRITORIAL DEL ESTADO BOLÍVAR</a:t>
            </a:r>
          </a:p>
          <a:p>
            <a:pPr marL="0" marR="0" lvl="0" indent="0" algn="ctr" defTabSz="914400" rtl="0" eaLnBrk="1" fontAlgn="auto" latinLnBrk="0" hangingPunct="1">
              <a:lnSpc>
                <a:spcPts val="3639"/>
              </a:lnSpc>
              <a:spcBef>
                <a:spcPts val="0"/>
              </a:spcBef>
              <a:spcAft>
                <a:spcPts val="0"/>
              </a:spcAft>
              <a:buClrTx/>
              <a:buSzTx/>
              <a:buFontTx/>
              <a:buNone/>
              <a:tabLst/>
              <a:defRPr/>
            </a:pPr>
            <a:r>
              <a:rPr kumimoji="0" lang="en-US" sz="2400" b="1" i="0" u="none" strike="noStrike" kern="1200" cap="none" spc="163" normalizeH="0" baseline="0" noProof="0" dirty="0">
                <a:ln>
                  <a:noFill/>
                </a:ln>
                <a:solidFill>
                  <a:srgbClr val="000000"/>
                </a:solidFill>
                <a:effectLst/>
                <a:uLnTx/>
                <a:uFillTx/>
                <a:latin typeface="Arial" panose="020B0604020202020204" pitchFamily="34" charset="0"/>
                <a:ea typeface="Poppins Bold"/>
                <a:cs typeface="Arial" panose="020B0604020202020204" pitchFamily="34" charset="0"/>
                <a:sym typeface="Poppins Bold"/>
              </a:rPr>
              <a:t>PROGRAMA NACIONAL DE FORMACIÓN EN INFORMÁTICA</a:t>
            </a:r>
          </a:p>
        </p:txBody>
      </p:sp>
      <p:sp>
        <p:nvSpPr>
          <p:cNvPr id="5" name="TextBox 10"/>
          <p:cNvSpPr txBox="1"/>
          <p:nvPr/>
        </p:nvSpPr>
        <p:spPr>
          <a:xfrm>
            <a:off x="2425830" y="4433267"/>
            <a:ext cx="13464910" cy="2215991"/>
          </a:xfrm>
          <a:prstGeom prst="rect">
            <a:avLst/>
          </a:prstGeom>
        </p:spPr>
        <p:txBody>
          <a:bodyPr wrap="square" lIns="0" tIns="0" rIns="0" bIns="0" rtlCol="0" anchor="t">
            <a:spAutoFit/>
          </a:bodyPr>
          <a:lstStyle/>
          <a:p>
            <a:pPr marL="0" marR="0" lvl="0" indent="0" algn="ctr" defTabSz="914400" rtl="0" eaLnBrk="1" fontAlgn="auto" latinLnBrk="0" hangingPunct="1">
              <a:spcBef>
                <a:spcPts val="0"/>
              </a:spcBef>
              <a:spcAft>
                <a:spcPts val="0"/>
              </a:spcAft>
              <a:buClrTx/>
              <a:buSzTx/>
              <a:buFontTx/>
              <a:buNone/>
              <a:tabLst/>
              <a:defRPr/>
            </a:pPr>
            <a:r>
              <a:rPr lang="es-ES" sz="3600" b="1" dirty="0" smtClean="0">
                <a:solidFill>
                  <a:srgbClr val="0038A8"/>
                </a:solidFill>
                <a:latin typeface="Open Sans Bold"/>
                <a:ea typeface="Open Sans Bold"/>
                <a:cs typeface="Open Sans Bold"/>
                <a:sym typeface="Open Sans Bold"/>
              </a:rPr>
              <a:t>Desarrollo </a:t>
            </a:r>
            <a:r>
              <a:rPr lang="es-ES" sz="3600" b="1" dirty="0">
                <a:solidFill>
                  <a:srgbClr val="0038A8"/>
                </a:solidFill>
                <a:latin typeface="Open Sans Bold"/>
                <a:ea typeface="Open Sans Bold"/>
                <a:cs typeface="Open Sans Bold"/>
                <a:sym typeface="Open Sans Bold"/>
              </a:rPr>
              <a:t>de un Sistema Web para la Gestión de Solicitudes de Compra y Venta en C.V.G. CABELUM, Ubicada en la Nueva Zona industrial, Av. Perimetral, Municipio Angostura del Orinoco, Ciudad Bolívar, Estado Bolívar</a:t>
            </a:r>
            <a:endParaRPr kumimoji="0" lang="en-US" sz="3600" b="1" i="0" u="none" strike="noStrike" kern="1200" cap="none" spc="0" normalizeH="0" baseline="0" noProof="0" dirty="0">
              <a:ln>
                <a:noFill/>
              </a:ln>
              <a:solidFill>
                <a:srgbClr val="0038A8"/>
              </a:solidFill>
              <a:effectLst/>
              <a:uLnTx/>
              <a:uFillTx/>
              <a:latin typeface="Open Sans Bold"/>
              <a:ea typeface="Open Sans Bold"/>
              <a:cs typeface="Open Sans Bold"/>
              <a:sym typeface="Open Sans Bold"/>
            </a:endParaRPr>
          </a:p>
        </p:txBody>
      </p:sp>
      <p:sp>
        <p:nvSpPr>
          <p:cNvPr id="6" name="TextBox 12"/>
          <p:cNvSpPr txBox="1"/>
          <p:nvPr/>
        </p:nvSpPr>
        <p:spPr>
          <a:xfrm>
            <a:off x="11167782" y="7247808"/>
            <a:ext cx="8224553" cy="1170705"/>
          </a:xfrm>
          <a:prstGeom prst="rect">
            <a:avLst/>
          </a:prstGeom>
        </p:spPr>
        <p:txBody>
          <a:bodyPr lIns="0" tIns="0" rIns="0" bIns="0" rtlCol="0" anchor="t">
            <a:spAutoFit/>
          </a:bodyPr>
          <a:lstStyle/>
          <a:p>
            <a:pPr marL="0" marR="0" lvl="0" indent="0" algn="l" defTabSz="914400" rtl="0" eaLnBrk="1" fontAlgn="auto" latinLnBrk="0" hangingPunct="1">
              <a:lnSpc>
                <a:spcPts val="4759"/>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0000"/>
                </a:solidFill>
                <a:effectLst/>
                <a:uLnTx/>
                <a:uFillTx/>
                <a:latin typeface="Poppins"/>
                <a:ea typeface="Poppins"/>
                <a:cs typeface="Poppins"/>
                <a:sym typeface="Poppins"/>
              </a:rPr>
              <a:t>AUTOR : CESAR</a:t>
            </a:r>
            <a:r>
              <a:rPr kumimoji="0" lang="en-US" sz="2400" b="0" i="0" u="none" strike="noStrike" kern="1200" cap="none" spc="0" normalizeH="0" noProof="0" dirty="0" smtClean="0">
                <a:ln>
                  <a:noFill/>
                </a:ln>
                <a:solidFill>
                  <a:srgbClr val="000000"/>
                </a:solidFill>
                <a:effectLst/>
                <a:uLnTx/>
                <a:uFillTx/>
                <a:latin typeface="Poppins"/>
                <a:ea typeface="Poppins"/>
                <a:cs typeface="Poppins"/>
                <a:sym typeface="Poppins"/>
              </a:rPr>
              <a:t> TORRES C.I:30.939.693</a:t>
            </a:r>
            <a:endParaRPr kumimoji="0" lang="en-US" sz="2400" b="0" i="0" u="none" strike="noStrike" kern="1200" cap="none" spc="0" normalizeH="0" baseline="0" noProof="0" dirty="0" smtClean="0">
              <a:ln>
                <a:noFill/>
              </a:ln>
              <a:solidFill>
                <a:srgbClr val="000000"/>
              </a:solidFill>
              <a:effectLst/>
              <a:uLnTx/>
              <a:uFillTx/>
              <a:latin typeface="Poppins"/>
              <a:ea typeface="Poppins"/>
              <a:cs typeface="Poppins"/>
              <a:sym typeface="Poppins"/>
            </a:endParaRPr>
          </a:p>
          <a:p>
            <a:pPr marL="0" marR="0" lvl="0" indent="0" algn="l" defTabSz="914400" rtl="0" eaLnBrk="1" fontAlgn="auto" latinLnBrk="0" hangingPunct="1">
              <a:lnSpc>
                <a:spcPts val="4759"/>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0000"/>
                </a:solidFill>
                <a:effectLst/>
                <a:uLnTx/>
                <a:uFillTx/>
                <a:latin typeface="Poppins"/>
                <a:ea typeface="Poppins"/>
                <a:cs typeface="Poppins"/>
                <a:sym typeface="Poppins"/>
              </a:rPr>
              <a:t>TUTOR RESPONSABLE: </a:t>
            </a:r>
            <a:r>
              <a:rPr lang="en-US" sz="2400" dirty="0" smtClean="0">
                <a:solidFill>
                  <a:srgbClr val="000000"/>
                </a:solidFill>
                <a:latin typeface="Poppins"/>
                <a:ea typeface="Poppins"/>
                <a:cs typeface="Poppins"/>
                <a:sym typeface="Poppins"/>
              </a:rPr>
              <a:t>JORGE NUÑEZ</a:t>
            </a:r>
            <a:endParaRPr kumimoji="0" lang="en-US" sz="2400" b="0" i="0" u="none" strike="noStrike" kern="1200" cap="none" spc="0" normalizeH="0" baseline="0" noProof="0" dirty="0">
              <a:ln>
                <a:noFill/>
              </a:ln>
              <a:solidFill>
                <a:srgbClr val="000000"/>
              </a:solidFill>
              <a:effectLst/>
              <a:uLnTx/>
              <a:uFillTx/>
              <a:latin typeface="Poppins"/>
              <a:ea typeface="Poppins"/>
              <a:cs typeface="Poppins"/>
              <a:sym typeface="Poppins"/>
            </a:endParaRPr>
          </a:p>
        </p:txBody>
      </p:sp>
      <p:sp>
        <p:nvSpPr>
          <p:cNvPr id="7" name="TextBox 12"/>
          <p:cNvSpPr txBox="1"/>
          <p:nvPr/>
        </p:nvSpPr>
        <p:spPr>
          <a:xfrm>
            <a:off x="5657063" y="9017064"/>
            <a:ext cx="8224553" cy="615553"/>
          </a:xfrm>
          <a:prstGeom prst="rect">
            <a:avLst/>
          </a:prstGeom>
        </p:spPr>
        <p:txBody>
          <a:bodyPr lIns="0" tIns="0" rIns="0" bIns="0" rtlCol="0" anchor="t">
            <a:spAutoFit/>
          </a:bodyPr>
          <a:lstStyle/>
          <a:p>
            <a:pPr marL="0" marR="0" lvl="0" indent="0" algn="l" defTabSz="914400" rtl="0" eaLnBrk="1" fontAlgn="auto" latinLnBrk="0" hangingPunct="1">
              <a:lnSpc>
                <a:spcPts val="4759"/>
              </a:lnSpc>
              <a:spcBef>
                <a:spcPts val="0"/>
              </a:spcBef>
              <a:spcAft>
                <a:spcPts val="0"/>
              </a:spcAft>
              <a:buClrTx/>
              <a:buSzTx/>
              <a:buFontTx/>
              <a:buNone/>
              <a:tabLst/>
              <a:defRPr/>
            </a:pPr>
            <a:r>
              <a:rPr kumimoji="0" lang="en-US" sz="2800" b="0" i="0" u="none" strike="noStrike" kern="1200" cap="none" spc="0" normalizeH="0" baseline="0" noProof="0" dirty="0" smtClean="0">
                <a:ln>
                  <a:noFill/>
                </a:ln>
                <a:solidFill>
                  <a:srgbClr val="000000"/>
                </a:solidFill>
                <a:effectLst/>
                <a:uLnTx/>
                <a:uFillTx/>
                <a:latin typeface="Poppins"/>
                <a:ea typeface="Poppins"/>
                <a:cs typeface="Poppins"/>
                <a:sym typeface="Poppins"/>
              </a:rPr>
              <a:t>CIUDAD BOLIVAR,</a:t>
            </a:r>
            <a:r>
              <a:rPr kumimoji="0" lang="en-US" sz="2800" b="0" i="0" u="none" strike="noStrike" kern="1200" cap="none" spc="0" normalizeH="0" noProof="0" dirty="0" smtClean="0">
                <a:ln>
                  <a:noFill/>
                </a:ln>
                <a:solidFill>
                  <a:srgbClr val="000000"/>
                </a:solidFill>
                <a:effectLst/>
                <a:uLnTx/>
                <a:uFillTx/>
                <a:latin typeface="Poppins"/>
                <a:ea typeface="Poppins"/>
                <a:cs typeface="Poppins"/>
                <a:sym typeface="Poppins"/>
              </a:rPr>
              <a:t> JULIO</a:t>
            </a:r>
            <a:r>
              <a:rPr kumimoji="0" lang="en-US" sz="2800" b="0" i="0" u="none" strike="noStrike" kern="1200" cap="none" spc="0" normalizeH="0" baseline="0" noProof="0" dirty="0" smtClean="0">
                <a:ln>
                  <a:noFill/>
                </a:ln>
                <a:solidFill>
                  <a:srgbClr val="000000"/>
                </a:solidFill>
                <a:effectLst/>
                <a:uLnTx/>
                <a:uFillTx/>
                <a:latin typeface="Poppins"/>
                <a:ea typeface="Poppins"/>
                <a:cs typeface="Poppins"/>
                <a:sym typeface="Poppins"/>
              </a:rPr>
              <a:t> DEL AÑO 2026</a:t>
            </a:r>
            <a:endParaRPr kumimoji="0" lang="en-US" sz="2800" b="0" i="0" u="none" strike="noStrike" kern="1200" cap="none" spc="0" normalizeH="0" baseline="0" noProof="0" dirty="0">
              <a:ln>
                <a:noFill/>
              </a:ln>
              <a:solidFill>
                <a:srgbClr val="000000"/>
              </a:solidFill>
              <a:effectLst/>
              <a:uLnTx/>
              <a:uFillTx/>
              <a:latin typeface="Poppins"/>
              <a:ea typeface="Poppins"/>
              <a:cs typeface="Poppins"/>
              <a:sym typeface="Poppins"/>
            </a:endParaRPr>
          </a:p>
        </p:txBody>
      </p:sp>
      <p:sp>
        <p:nvSpPr>
          <p:cNvPr id="9" name="Freeform 24"/>
          <p:cNvSpPr/>
          <p:nvPr/>
        </p:nvSpPr>
        <p:spPr>
          <a:xfrm>
            <a:off x="3335099" y="328256"/>
            <a:ext cx="11084400" cy="1354320"/>
          </a:xfrm>
          <a:custGeom>
            <a:avLst/>
            <a:gdLst>
              <a:gd name="textAreaLeft" fmla="*/ 0 w 11084400"/>
              <a:gd name="textAreaRight" fmla="*/ 11084760 w 11084400"/>
              <a:gd name="textAreaTop" fmla="*/ 0 h 1354320"/>
              <a:gd name="textAreaBottom" fmla="*/ 1354680 h 1354320"/>
            </a:gdLst>
            <a:ahLst/>
            <a:cxnLst/>
            <a:rect l="textAreaLeft" t="textAreaTop" r="textAreaRight" b="textAreaBottom"/>
            <a:pathLst>
              <a:path w="11084732" h="1505088">
                <a:moveTo>
                  <a:pt x="0" y="0"/>
                </a:moveTo>
                <a:lnTo>
                  <a:pt x="11084732" y="0"/>
                </a:lnTo>
                <a:lnTo>
                  <a:pt x="11084732" y="1505088"/>
                </a:lnTo>
                <a:lnTo>
                  <a:pt x="0" y="1505088"/>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10" name="Freeform 23"/>
          <p:cNvSpPr/>
          <p:nvPr/>
        </p:nvSpPr>
        <p:spPr>
          <a:xfrm>
            <a:off x="15873521" y="367526"/>
            <a:ext cx="1713600" cy="1051200"/>
          </a:xfrm>
          <a:custGeom>
            <a:avLst/>
            <a:gdLst>
              <a:gd name="textAreaLeft" fmla="*/ 0 w 1713600"/>
              <a:gd name="textAreaRight" fmla="*/ 1713960 w 1713600"/>
              <a:gd name="textAreaTop" fmla="*/ 0 h 1051200"/>
              <a:gd name="textAreaBottom" fmla="*/ 1051560 h 1051200"/>
            </a:gdLst>
            <a:ahLst/>
            <a:cxnLst/>
            <a:rect l="textAreaLeft" t="textAreaTop" r="textAreaRight" b="textAreaBottom"/>
            <a:pathLst>
              <a:path w="1714068" h="1051413">
                <a:moveTo>
                  <a:pt x="0" y="0"/>
                </a:moveTo>
                <a:lnTo>
                  <a:pt x="1714067" y="0"/>
                </a:lnTo>
                <a:lnTo>
                  <a:pt x="1714067" y="1051412"/>
                </a:lnTo>
                <a:lnTo>
                  <a:pt x="0" y="1051412"/>
                </a:lnTo>
                <a:lnTo>
                  <a:pt x="0" y="0"/>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11"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Tree>
    <p:extLst>
      <p:ext uri="{BB962C8B-B14F-4D97-AF65-F5344CB8AC3E}">
        <p14:creationId xmlns:p14="http://schemas.microsoft.com/office/powerpoint/2010/main" val="2693753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n 20"/>
          <p:cNvPicPr>
            <a:picLocks noChangeAspect="1"/>
          </p:cNvPicPr>
          <p:nvPr/>
        </p:nvPicPr>
        <p:blipFill>
          <a:blip r:embed="rId3"/>
          <a:stretch>
            <a:fillRect/>
          </a:stretch>
        </p:blipFill>
        <p:spPr>
          <a:xfrm>
            <a:off x="652414" y="3148108"/>
            <a:ext cx="5409029" cy="5533466"/>
          </a:xfrm>
          <a:prstGeom prst="rect">
            <a:avLst/>
          </a:prstGeom>
        </p:spPr>
      </p:pic>
      <p:sp>
        <p:nvSpPr>
          <p:cNvPr id="78"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79" name="TextBox 6"/>
          <p:cNvSpPr/>
          <p:nvPr/>
        </p:nvSpPr>
        <p:spPr>
          <a:xfrm>
            <a:off x="5977800" y="600120"/>
            <a:ext cx="6332040" cy="160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trike="noStrike" spc="-1" dirty="0">
                <a:solidFill>
                  <a:srgbClr val="000000"/>
                </a:solidFill>
                <a:latin typeface="Arial Bold"/>
                <a:ea typeface="Arial Bold"/>
              </a:rPr>
              <a:t>CAPÍTULO I.</a:t>
            </a:r>
            <a:endParaRPr lang="es-VE" sz="4500" b="0" strike="noStrike" spc="-1" dirty="0">
              <a:solidFill>
                <a:srgbClr val="000000"/>
              </a:solidFill>
              <a:latin typeface="Arial"/>
            </a:endParaRPr>
          </a:p>
          <a:p>
            <a:pPr algn="ctr">
              <a:lnSpc>
                <a:spcPts val="6299"/>
              </a:lnSpc>
            </a:pPr>
            <a:r>
              <a:rPr lang="en-US" sz="2800" b="0" strike="noStrike" spc="-1" dirty="0" smtClean="0">
                <a:solidFill>
                  <a:schemeClr val="accent1"/>
                </a:solidFill>
                <a:latin typeface="Arial"/>
                <a:ea typeface="Arial"/>
              </a:rPr>
              <a:t>El </a:t>
            </a:r>
            <a:r>
              <a:rPr lang="en-US" sz="2800" b="0" strike="noStrike" spc="-1" dirty="0" err="1" smtClean="0">
                <a:solidFill>
                  <a:schemeClr val="accent1"/>
                </a:solidFill>
                <a:latin typeface="Arial"/>
                <a:ea typeface="Arial"/>
              </a:rPr>
              <a:t>problema</a:t>
            </a:r>
            <a:endParaRPr lang="es-VE" sz="2800" b="0" strike="noStrike" spc="-1" dirty="0">
              <a:solidFill>
                <a:schemeClr val="accent1"/>
              </a:solidFill>
              <a:latin typeface="Arial"/>
            </a:endParaRPr>
          </a:p>
        </p:txBody>
      </p:sp>
      <p:sp>
        <p:nvSpPr>
          <p:cNvPr id="2" name="CuadroTexto 1"/>
          <p:cNvSpPr txBox="1"/>
          <p:nvPr/>
        </p:nvSpPr>
        <p:spPr>
          <a:xfrm>
            <a:off x="1100259" y="2229605"/>
            <a:ext cx="7746031" cy="769441"/>
          </a:xfrm>
          <a:prstGeom prst="rect">
            <a:avLst/>
          </a:prstGeom>
          <a:noFill/>
        </p:spPr>
        <p:txBody>
          <a:bodyPr wrap="none" rtlCol="0">
            <a:spAutoFit/>
          </a:bodyPr>
          <a:lstStyle/>
          <a:p>
            <a:r>
              <a:rPr lang="es-ES" sz="4400" b="1" dirty="0" smtClean="0"/>
              <a:t>Planteamiento del Problema</a:t>
            </a:r>
            <a:endParaRPr lang="es-ES" sz="3600" b="1" dirty="0"/>
          </a:p>
        </p:txBody>
      </p:sp>
      <p:pic>
        <p:nvPicPr>
          <p:cNvPr id="10" name="Imagen 9"/>
          <p:cNvPicPr>
            <a:picLocks noChangeAspect="1"/>
          </p:cNvPicPr>
          <p:nvPr/>
        </p:nvPicPr>
        <p:blipFill>
          <a:blip r:embed="rId3"/>
          <a:stretch>
            <a:fillRect/>
          </a:stretch>
        </p:blipFill>
        <p:spPr>
          <a:xfrm>
            <a:off x="12088481" y="3232315"/>
            <a:ext cx="5269546" cy="5449259"/>
          </a:xfrm>
          <a:prstGeom prst="rect">
            <a:avLst/>
          </a:prstGeom>
        </p:spPr>
      </p:pic>
      <p:pic>
        <p:nvPicPr>
          <p:cNvPr id="11" name="Imagen 10"/>
          <p:cNvPicPr>
            <a:picLocks noChangeAspect="1"/>
          </p:cNvPicPr>
          <p:nvPr/>
        </p:nvPicPr>
        <p:blipFill>
          <a:blip r:embed="rId3"/>
          <a:stretch>
            <a:fillRect/>
          </a:stretch>
        </p:blipFill>
        <p:spPr>
          <a:xfrm>
            <a:off x="6487471" y="3232315"/>
            <a:ext cx="5409029" cy="5449259"/>
          </a:xfrm>
          <a:prstGeom prst="rect">
            <a:avLst/>
          </a:prstGeom>
        </p:spPr>
      </p:pic>
      <p:sp>
        <p:nvSpPr>
          <p:cNvPr id="12" name="Google Shape;123;p15"/>
          <p:cNvSpPr txBox="1"/>
          <p:nvPr/>
        </p:nvSpPr>
        <p:spPr>
          <a:xfrm>
            <a:off x="6969790" y="4750184"/>
            <a:ext cx="4547371" cy="3545586"/>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2400" b="0" i="0" u="none" strike="noStrike" cap="none" dirty="0" err="1" smtClean="0">
                <a:solidFill>
                  <a:srgbClr val="475569"/>
                </a:solidFill>
                <a:latin typeface="Inter"/>
                <a:ea typeface="Inter"/>
                <a:cs typeface="Inter"/>
                <a:sym typeface="Inter"/>
              </a:rPr>
              <a:t>Necesidad</a:t>
            </a:r>
            <a:r>
              <a:rPr lang="en-US" sz="2400" b="0" i="0" u="none" strike="noStrike" cap="none" dirty="0" smtClean="0">
                <a:solidFill>
                  <a:srgbClr val="475569"/>
                </a:solidFill>
                <a:latin typeface="Inter"/>
                <a:ea typeface="Inter"/>
                <a:cs typeface="Inter"/>
                <a:sym typeface="Inter"/>
              </a:rPr>
              <a:t> de las </a:t>
            </a:r>
            <a:r>
              <a:rPr lang="en-US" sz="2400" b="0" i="0" u="none" strike="noStrike" cap="none" dirty="0" err="1" smtClean="0">
                <a:solidFill>
                  <a:srgbClr val="475569"/>
                </a:solidFill>
                <a:latin typeface="Inter"/>
                <a:ea typeface="Inter"/>
                <a:cs typeface="Inter"/>
                <a:sym typeface="Inter"/>
              </a:rPr>
              <a:t>empresas</a:t>
            </a:r>
            <a:r>
              <a:rPr lang="en-US" sz="2400" b="0" i="0" u="none" strike="noStrike" cap="none" dirty="0" smtClean="0">
                <a:solidFill>
                  <a:srgbClr val="475569"/>
                </a:solidFill>
                <a:latin typeface="Inter"/>
                <a:ea typeface="Inter"/>
                <a:cs typeface="Inter"/>
                <a:sym typeface="Inter"/>
              </a:rPr>
              <a:t> </a:t>
            </a:r>
            <a:r>
              <a:rPr lang="en-US" sz="2400" b="0" i="0" u="none" strike="noStrike" cap="none" dirty="0" err="1" smtClean="0">
                <a:solidFill>
                  <a:srgbClr val="475569"/>
                </a:solidFill>
                <a:latin typeface="Inter"/>
                <a:ea typeface="Inter"/>
                <a:cs typeface="Inter"/>
                <a:sym typeface="Inter"/>
              </a:rPr>
              <a:t>básicas</a:t>
            </a:r>
            <a:r>
              <a:rPr lang="en-US" sz="2400" b="0" i="0" u="none" strike="noStrike" cap="none" dirty="0" smtClean="0">
                <a:solidFill>
                  <a:srgbClr val="475569"/>
                </a:solidFill>
                <a:latin typeface="Inter"/>
                <a:ea typeface="Inter"/>
                <a:cs typeface="Inter"/>
                <a:sym typeface="Inter"/>
              </a:rPr>
              <a:t> del Estado Bolívar de </a:t>
            </a:r>
            <a:r>
              <a:rPr lang="en-US" sz="2400" b="0" i="0" u="none" strike="noStrike" cap="none" dirty="0" err="1" smtClean="0">
                <a:solidFill>
                  <a:srgbClr val="475569"/>
                </a:solidFill>
                <a:latin typeface="Inter"/>
                <a:ea typeface="Inter"/>
                <a:cs typeface="Inter"/>
                <a:sym typeface="Inter"/>
              </a:rPr>
              <a:t>reducir</a:t>
            </a:r>
            <a:r>
              <a:rPr lang="en-US" sz="2400" b="0" i="0" u="none" strike="noStrike" cap="none" dirty="0" smtClean="0">
                <a:solidFill>
                  <a:srgbClr val="475569"/>
                </a:solidFill>
                <a:latin typeface="Inter"/>
                <a:ea typeface="Inter"/>
                <a:cs typeface="Inter"/>
                <a:sym typeface="Inter"/>
              </a:rPr>
              <a:t> </a:t>
            </a:r>
            <a:r>
              <a:rPr lang="en-US" sz="2400" b="0" i="0" u="none" strike="noStrike" cap="none" dirty="0" err="1" smtClean="0">
                <a:solidFill>
                  <a:srgbClr val="475569"/>
                </a:solidFill>
                <a:latin typeface="Inter"/>
                <a:ea typeface="Inter"/>
                <a:cs typeface="Inter"/>
                <a:sym typeface="Inter"/>
              </a:rPr>
              <a:t>tiempos</a:t>
            </a:r>
            <a:r>
              <a:rPr lang="en-US" sz="2400" b="0" i="0" u="none" strike="noStrike" cap="none" dirty="0" smtClean="0">
                <a:solidFill>
                  <a:srgbClr val="475569"/>
                </a:solidFill>
                <a:latin typeface="Inter"/>
                <a:ea typeface="Inter"/>
                <a:cs typeface="Inter"/>
                <a:sym typeface="Inter"/>
              </a:rPr>
              <a:t> de </a:t>
            </a:r>
            <a:r>
              <a:rPr lang="en-US" sz="2400" b="0" i="0" u="none" strike="noStrike" cap="none" dirty="0" err="1" smtClean="0">
                <a:solidFill>
                  <a:srgbClr val="475569"/>
                </a:solidFill>
                <a:latin typeface="Inter"/>
                <a:ea typeface="Inter"/>
                <a:cs typeface="Inter"/>
                <a:sym typeface="Inter"/>
              </a:rPr>
              <a:t>respuesta</a:t>
            </a:r>
            <a:r>
              <a:rPr lang="en-US" sz="2400" b="0" i="0" u="none" strike="noStrike" cap="none" dirty="0" smtClean="0">
                <a:solidFill>
                  <a:srgbClr val="475569"/>
                </a:solidFill>
                <a:latin typeface="Inter"/>
                <a:ea typeface="Inter"/>
                <a:cs typeface="Inter"/>
                <a:sym typeface="Inter"/>
              </a:rPr>
              <a:t> </a:t>
            </a:r>
            <a:r>
              <a:rPr lang="en-US" sz="2400" b="0" i="0" u="none" strike="noStrike" cap="none" dirty="0" err="1" smtClean="0">
                <a:solidFill>
                  <a:srgbClr val="475569"/>
                </a:solidFill>
                <a:latin typeface="Inter"/>
                <a:ea typeface="Inter"/>
                <a:cs typeface="Inter"/>
                <a:sym typeface="Inter"/>
              </a:rPr>
              <a:t>logísticos</a:t>
            </a:r>
            <a:r>
              <a:rPr lang="en-US" sz="2400" b="0" i="0" u="none" strike="noStrike" cap="none" dirty="0" smtClean="0">
                <a:solidFill>
                  <a:srgbClr val="475569"/>
                </a:solidFill>
                <a:latin typeface="Inter"/>
                <a:ea typeface="Inter"/>
                <a:cs typeface="Inter"/>
                <a:sym typeface="Inter"/>
              </a:rPr>
              <a:t> e </a:t>
            </a:r>
            <a:r>
              <a:rPr lang="en-US" sz="2400" b="0" i="0" u="none" strike="noStrike" cap="none" dirty="0" err="1" smtClean="0">
                <a:solidFill>
                  <a:srgbClr val="475569"/>
                </a:solidFill>
                <a:latin typeface="Inter"/>
                <a:ea typeface="Inter"/>
                <a:cs typeface="Inter"/>
                <a:sym typeface="Inter"/>
              </a:rPr>
              <a:t>industriales</a:t>
            </a:r>
            <a:r>
              <a:rPr lang="en-US" sz="2400" b="0" i="0" u="none" strike="noStrike" cap="none" dirty="0" smtClean="0">
                <a:solidFill>
                  <a:srgbClr val="475569"/>
                </a:solidFill>
                <a:latin typeface="Inter"/>
                <a:ea typeface="Inter"/>
                <a:cs typeface="Inter"/>
                <a:sym typeface="Inter"/>
              </a:rPr>
              <a:t> </a:t>
            </a:r>
            <a:r>
              <a:rPr lang="en-US" sz="2400" b="0" i="0" u="none" strike="noStrike" cap="none" dirty="0" err="1" smtClean="0">
                <a:solidFill>
                  <a:srgbClr val="475569"/>
                </a:solidFill>
                <a:latin typeface="Inter"/>
                <a:ea typeface="Inter"/>
                <a:cs typeface="Inter"/>
                <a:sym typeface="Inter"/>
              </a:rPr>
              <a:t>mediante</a:t>
            </a:r>
            <a:r>
              <a:rPr lang="en-US" sz="2400" b="0" i="0" u="none" strike="noStrike" cap="none" dirty="0" smtClean="0">
                <a:solidFill>
                  <a:srgbClr val="475569"/>
                </a:solidFill>
                <a:latin typeface="Inter"/>
                <a:ea typeface="Inter"/>
                <a:cs typeface="Inter"/>
                <a:sym typeface="Inter"/>
              </a:rPr>
              <a:t> el </a:t>
            </a:r>
            <a:r>
              <a:rPr lang="en-US" sz="2400" b="0" i="0" u="none" strike="noStrike" cap="none" dirty="0" err="1" smtClean="0">
                <a:solidFill>
                  <a:srgbClr val="475569"/>
                </a:solidFill>
                <a:latin typeface="Inter"/>
                <a:ea typeface="Inter"/>
                <a:cs typeface="Inter"/>
                <a:sym typeface="Inter"/>
              </a:rPr>
              <a:t>uso</a:t>
            </a:r>
            <a:r>
              <a:rPr lang="en-US" sz="2400" b="0" i="0" u="none" strike="noStrike" cap="none" dirty="0" smtClean="0">
                <a:solidFill>
                  <a:srgbClr val="475569"/>
                </a:solidFill>
                <a:latin typeface="Inter"/>
                <a:ea typeface="Inter"/>
                <a:cs typeface="Inter"/>
                <a:sym typeface="Inter"/>
              </a:rPr>
              <a:t> de software </a:t>
            </a:r>
            <a:r>
              <a:rPr lang="en-US" sz="2400" b="0" i="0" u="none" strike="noStrike" cap="none" dirty="0" err="1" smtClean="0">
                <a:solidFill>
                  <a:srgbClr val="475569"/>
                </a:solidFill>
                <a:latin typeface="Inter"/>
                <a:ea typeface="Inter"/>
                <a:cs typeface="Inter"/>
                <a:sym typeface="Inter"/>
              </a:rPr>
              <a:t>centralizado</a:t>
            </a:r>
            <a:r>
              <a:rPr lang="en-US" sz="2400" b="0" i="0" u="none" strike="noStrike" cap="none" dirty="0" smtClean="0">
                <a:solidFill>
                  <a:srgbClr val="475569"/>
                </a:solidFill>
                <a:latin typeface="Inter"/>
                <a:ea typeface="Inter"/>
                <a:cs typeface="Inter"/>
                <a:sym typeface="Inter"/>
              </a:rPr>
              <a:t> de </a:t>
            </a:r>
            <a:r>
              <a:rPr lang="en-US" sz="2400" b="0" i="0" u="none" strike="noStrike" cap="none" dirty="0" err="1" smtClean="0">
                <a:solidFill>
                  <a:srgbClr val="475569"/>
                </a:solidFill>
                <a:latin typeface="Inter"/>
                <a:ea typeface="Inter"/>
                <a:cs typeface="Inter"/>
                <a:sym typeface="Inter"/>
              </a:rPr>
              <a:t>tecnología</a:t>
            </a:r>
            <a:r>
              <a:rPr lang="en-US" sz="2400" b="0" i="0" u="none" strike="noStrike" cap="none" dirty="0" smtClean="0">
                <a:solidFill>
                  <a:srgbClr val="475569"/>
                </a:solidFill>
                <a:latin typeface="Inter"/>
                <a:ea typeface="Inter"/>
                <a:cs typeface="Inter"/>
                <a:sym typeface="Inter"/>
              </a:rPr>
              <a:t> </a:t>
            </a:r>
            <a:r>
              <a:rPr lang="en-US" sz="2400" b="0" i="0" u="none" strike="noStrike" cap="none" dirty="0" err="1" smtClean="0">
                <a:solidFill>
                  <a:srgbClr val="475569"/>
                </a:solidFill>
                <a:latin typeface="Inter"/>
                <a:ea typeface="Inter"/>
                <a:cs typeface="Inter"/>
                <a:sym typeface="Inter"/>
              </a:rPr>
              <a:t>libre</a:t>
            </a:r>
            <a:r>
              <a:rPr lang="en-US" sz="2400" b="0" i="0" u="none" strike="noStrike" cap="none" dirty="0" smtClean="0">
                <a:solidFill>
                  <a:srgbClr val="475569"/>
                </a:solidFill>
                <a:latin typeface="Inter"/>
                <a:ea typeface="Inter"/>
                <a:cs typeface="Inter"/>
                <a:sym typeface="Inter"/>
              </a:rPr>
              <a:t>.</a:t>
            </a:r>
            <a:endParaRPr sz="2400" dirty="0"/>
          </a:p>
        </p:txBody>
      </p:sp>
      <p:pic>
        <p:nvPicPr>
          <p:cNvPr id="13" name="Imagen 12"/>
          <p:cNvPicPr>
            <a:picLocks noChangeAspect="1"/>
          </p:cNvPicPr>
          <p:nvPr/>
        </p:nvPicPr>
        <p:blipFill>
          <a:blip r:embed="rId5"/>
          <a:stretch>
            <a:fillRect/>
          </a:stretch>
        </p:blipFill>
        <p:spPr>
          <a:xfrm>
            <a:off x="930708" y="4124419"/>
            <a:ext cx="4317377" cy="935705"/>
          </a:xfrm>
          <a:prstGeom prst="rect">
            <a:avLst/>
          </a:prstGeom>
        </p:spPr>
      </p:pic>
      <p:pic>
        <p:nvPicPr>
          <p:cNvPr id="14" name="Imagen 13"/>
          <p:cNvPicPr>
            <a:picLocks noChangeAspect="1"/>
          </p:cNvPicPr>
          <p:nvPr/>
        </p:nvPicPr>
        <p:blipFill>
          <a:blip r:embed="rId6"/>
          <a:stretch>
            <a:fillRect/>
          </a:stretch>
        </p:blipFill>
        <p:spPr>
          <a:xfrm>
            <a:off x="1100259" y="3586791"/>
            <a:ext cx="2158728" cy="346738"/>
          </a:xfrm>
          <a:prstGeom prst="rect">
            <a:avLst/>
          </a:prstGeom>
        </p:spPr>
      </p:pic>
      <p:sp>
        <p:nvSpPr>
          <p:cNvPr id="15" name="Google Shape;120;p15"/>
          <p:cNvSpPr txBox="1"/>
          <p:nvPr/>
        </p:nvSpPr>
        <p:spPr>
          <a:xfrm>
            <a:off x="1066615" y="5025497"/>
            <a:ext cx="4679355" cy="2954655"/>
          </a:xfrm>
          <a:prstGeom prst="rect">
            <a:avLst/>
          </a:prstGeom>
          <a:noFill/>
          <a:ln>
            <a:noFill/>
          </a:ln>
        </p:spPr>
        <p:txBody>
          <a:bodyPr spcFirstLastPara="1" wrap="square" lIns="0" tIns="0" rIns="0" bIns="0" anchor="t" anchorCtr="0">
            <a:spAutoFit/>
          </a:bodyPr>
          <a:lstStyle/>
          <a:p>
            <a:pPr>
              <a:lnSpc>
                <a:spcPct val="159904"/>
              </a:lnSpc>
              <a:buClr>
                <a:srgbClr val="000000"/>
              </a:buClr>
              <a:buFont typeface="Arial"/>
              <a:buNone/>
            </a:pPr>
            <a:r>
              <a:rPr lang="en-US" sz="2400" kern="0" dirty="0" err="1">
                <a:solidFill>
                  <a:srgbClr val="475569"/>
                </a:solidFill>
                <a:latin typeface="Inter"/>
                <a:ea typeface="Inter"/>
                <a:cs typeface="Inter"/>
                <a:sym typeface="Inter"/>
              </a:rPr>
              <a:t>Tendencia</a:t>
            </a:r>
            <a:r>
              <a:rPr lang="en-US" sz="2400" kern="0" dirty="0">
                <a:solidFill>
                  <a:srgbClr val="475569"/>
                </a:solidFill>
                <a:latin typeface="Inter"/>
                <a:ea typeface="Inter"/>
                <a:cs typeface="Inter"/>
                <a:sym typeface="Inter"/>
              </a:rPr>
              <a:t> global </a:t>
            </a:r>
            <a:r>
              <a:rPr lang="en-US" sz="2400" kern="0" dirty="0" err="1">
                <a:solidFill>
                  <a:srgbClr val="475569"/>
                </a:solidFill>
                <a:latin typeface="Inter"/>
                <a:ea typeface="Inter"/>
                <a:cs typeface="Inter"/>
                <a:sym typeface="Inter"/>
              </a:rPr>
              <a:t>en</a:t>
            </a:r>
            <a:r>
              <a:rPr lang="en-US" sz="2400" kern="0" dirty="0">
                <a:solidFill>
                  <a:srgbClr val="475569"/>
                </a:solidFill>
                <a:latin typeface="Inter"/>
                <a:ea typeface="Inter"/>
                <a:cs typeface="Inter"/>
                <a:sym typeface="Inter"/>
              </a:rPr>
              <a:t> las </a:t>
            </a:r>
            <a:r>
              <a:rPr lang="en-US" sz="2400" kern="0" dirty="0" err="1">
                <a:solidFill>
                  <a:srgbClr val="475569"/>
                </a:solidFill>
                <a:latin typeface="Inter"/>
                <a:ea typeface="Inter"/>
                <a:cs typeface="Inter"/>
                <a:sym typeface="Inter"/>
              </a:rPr>
              <a:t>cadenas</a:t>
            </a:r>
            <a:r>
              <a:rPr lang="en-US" sz="2400" kern="0" dirty="0">
                <a:solidFill>
                  <a:srgbClr val="475569"/>
                </a:solidFill>
                <a:latin typeface="Inter"/>
                <a:ea typeface="Inter"/>
                <a:cs typeface="Inter"/>
                <a:sym typeface="Inter"/>
              </a:rPr>
              <a:t> de </a:t>
            </a:r>
            <a:r>
              <a:rPr lang="en-US" sz="2400" kern="0" dirty="0" err="1">
                <a:solidFill>
                  <a:srgbClr val="475569"/>
                </a:solidFill>
                <a:latin typeface="Inter"/>
                <a:ea typeface="Inter"/>
                <a:cs typeface="Inter"/>
                <a:sym typeface="Inter"/>
              </a:rPr>
              <a:t>suministro</a:t>
            </a:r>
            <a:r>
              <a:rPr lang="en-US" sz="2400" kern="0" dirty="0">
                <a:solidFill>
                  <a:srgbClr val="475569"/>
                </a:solidFill>
                <a:latin typeface="Inter"/>
                <a:ea typeface="Inter"/>
                <a:cs typeface="Inter"/>
                <a:sym typeface="Inter"/>
              </a:rPr>
              <a:t> </a:t>
            </a:r>
            <a:r>
              <a:rPr lang="en-US" sz="2400" kern="0" dirty="0" err="1">
                <a:solidFill>
                  <a:srgbClr val="475569"/>
                </a:solidFill>
                <a:latin typeface="Inter"/>
                <a:ea typeface="Inter"/>
                <a:cs typeface="Inter"/>
                <a:sym typeface="Inter"/>
              </a:rPr>
              <a:t>hacia</a:t>
            </a:r>
            <a:r>
              <a:rPr lang="en-US" sz="2400" kern="0" dirty="0">
                <a:solidFill>
                  <a:srgbClr val="475569"/>
                </a:solidFill>
                <a:latin typeface="Inter"/>
                <a:ea typeface="Inter"/>
                <a:cs typeface="Inter"/>
                <a:sym typeface="Inter"/>
              </a:rPr>
              <a:t> la </a:t>
            </a:r>
            <a:r>
              <a:rPr lang="en-US" sz="2400" kern="0" dirty="0" err="1">
                <a:solidFill>
                  <a:srgbClr val="475569"/>
                </a:solidFill>
                <a:latin typeface="Inter"/>
                <a:ea typeface="Inter"/>
                <a:cs typeface="Inter"/>
                <a:sym typeface="Inter"/>
              </a:rPr>
              <a:t>digitalización</a:t>
            </a:r>
            <a:r>
              <a:rPr lang="en-US" sz="2400" kern="0" dirty="0">
                <a:solidFill>
                  <a:srgbClr val="475569"/>
                </a:solidFill>
                <a:latin typeface="Inter"/>
                <a:ea typeface="Inter"/>
                <a:cs typeface="Inter"/>
                <a:sym typeface="Inter"/>
              </a:rPr>
              <a:t> y la </a:t>
            </a:r>
            <a:r>
              <a:rPr lang="en-US" sz="2400" kern="0" dirty="0" err="1">
                <a:solidFill>
                  <a:srgbClr val="475569"/>
                </a:solidFill>
                <a:latin typeface="Inter"/>
                <a:ea typeface="Inter"/>
                <a:cs typeface="Inter"/>
                <a:sym typeface="Inter"/>
              </a:rPr>
              <a:t>automatización</a:t>
            </a:r>
            <a:r>
              <a:rPr lang="en-US" sz="2400" kern="0" dirty="0">
                <a:solidFill>
                  <a:srgbClr val="475569"/>
                </a:solidFill>
                <a:latin typeface="Inter"/>
                <a:ea typeface="Inter"/>
                <a:cs typeface="Inter"/>
                <a:sym typeface="Inter"/>
              </a:rPr>
              <a:t> </a:t>
            </a:r>
            <a:r>
              <a:rPr lang="en-US" sz="2400" kern="0" dirty="0" err="1">
                <a:solidFill>
                  <a:srgbClr val="475569"/>
                </a:solidFill>
                <a:latin typeface="Inter"/>
                <a:ea typeface="Inter"/>
                <a:cs typeface="Inter"/>
                <a:sym typeface="Inter"/>
              </a:rPr>
              <a:t>integrada</a:t>
            </a:r>
            <a:r>
              <a:rPr lang="en-US" sz="2400" kern="0" dirty="0">
                <a:solidFill>
                  <a:srgbClr val="475569"/>
                </a:solidFill>
                <a:latin typeface="Inter"/>
                <a:ea typeface="Inter"/>
                <a:cs typeface="Inter"/>
                <a:sym typeface="Inter"/>
              </a:rPr>
              <a:t> de </a:t>
            </a:r>
            <a:r>
              <a:rPr lang="en-US" sz="2400" kern="0" dirty="0" err="1">
                <a:solidFill>
                  <a:srgbClr val="475569"/>
                </a:solidFill>
                <a:latin typeface="Inter"/>
                <a:ea typeface="Inter"/>
                <a:cs typeface="Inter"/>
                <a:sym typeface="Inter"/>
              </a:rPr>
              <a:t>procesos</a:t>
            </a:r>
            <a:r>
              <a:rPr lang="en-US" sz="2400" kern="0" dirty="0">
                <a:solidFill>
                  <a:srgbClr val="475569"/>
                </a:solidFill>
                <a:latin typeface="Inter"/>
                <a:ea typeface="Inter"/>
                <a:cs typeface="Inter"/>
                <a:sym typeface="Inter"/>
              </a:rPr>
              <a:t> B2B/B2C para </a:t>
            </a:r>
            <a:r>
              <a:rPr lang="en-US" sz="2400" kern="0" dirty="0" err="1">
                <a:solidFill>
                  <a:srgbClr val="475569"/>
                </a:solidFill>
                <a:latin typeface="Inter"/>
                <a:ea typeface="Inter"/>
                <a:cs typeface="Inter"/>
                <a:sym typeface="Inter"/>
              </a:rPr>
              <a:t>máxima</a:t>
            </a:r>
            <a:r>
              <a:rPr lang="en-US" sz="2400" kern="0" dirty="0">
                <a:solidFill>
                  <a:srgbClr val="475569"/>
                </a:solidFill>
                <a:latin typeface="Inter"/>
                <a:ea typeface="Inter"/>
                <a:cs typeface="Inter"/>
                <a:sym typeface="Inter"/>
              </a:rPr>
              <a:t> </a:t>
            </a:r>
            <a:r>
              <a:rPr lang="en-US" sz="2400" kern="0" dirty="0" err="1">
                <a:solidFill>
                  <a:srgbClr val="475569"/>
                </a:solidFill>
                <a:latin typeface="Inter"/>
                <a:ea typeface="Inter"/>
                <a:cs typeface="Inter"/>
                <a:sym typeface="Inter"/>
              </a:rPr>
              <a:t>competitividad</a:t>
            </a:r>
            <a:r>
              <a:rPr lang="en-US" sz="2400" kern="0" dirty="0">
                <a:solidFill>
                  <a:srgbClr val="475569"/>
                </a:solidFill>
                <a:latin typeface="Inter"/>
                <a:ea typeface="Inter"/>
                <a:cs typeface="Inter"/>
                <a:sym typeface="Inter"/>
              </a:rPr>
              <a:t>.</a:t>
            </a:r>
            <a:endParaRPr sz="2400" kern="0" dirty="0">
              <a:solidFill>
                <a:srgbClr val="000000"/>
              </a:solidFill>
              <a:cs typeface="Arial"/>
              <a:sym typeface="Arial"/>
            </a:endParaRPr>
          </a:p>
        </p:txBody>
      </p:sp>
      <p:pic>
        <p:nvPicPr>
          <p:cNvPr id="16" name="Imagen 15"/>
          <p:cNvPicPr>
            <a:picLocks noChangeAspect="1"/>
          </p:cNvPicPr>
          <p:nvPr/>
        </p:nvPicPr>
        <p:blipFill>
          <a:blip r:embed="rId7"/>
          <a:stretch>
            <a:fillRect/>
          </a:stretch>
        </p:blipFill>
        <p:spPr>
          <a:xfrm>
            <a:off x="6969790" y="3584625"/>
            <a:ext cx="2275168" cy="352650"/>
          </a:xfrm>
          <a:prstGeom prst="rect">
            <a:avLst/>
          </a:prstGeom>
        </p:spPr>
      </p:pic>
      <p:pic>
        <p:nvPicPr>
          <p:cNvPr id="17" name="Imagen 16"/>
          <p:cNvPicPr>
            <a:picLocks noChangeAspect="1"/>
          </p:cNvPicPr>
          <p:nvPr/>
        </p:nvPicPr>
        <p:blipFill>
          <a:blip r:embed="rId8"/>
          <a:stretch>
            <a:fillRect/>
          </a:stretch>
        </p:blipFill>
        <p:spPr>
          <a:xfrm>
            <a:off x="6818445" y="4148198"/>
            <a:ext cx="4587231" cy="634275"/>
          </a:xfrm>
          <a:prstGeom prst="rect">
            <a:avLst/>
          </a:prstGeom>
        </p:spPr>
      </p:pic>
      <p:pic>
        <p:nvPicPr>
          <p:cNvPr id="18" name="Imagen 17"/>
          <p:cNvPicPr>
            <a:picLocks noChangeAspect="1"/>
          </p:cNvPicPr>
          <p:nvPr/>
        </p:nvPicPr>
        <p:blipFill>
          <a:blip r:embed="rId9"/>
          <a:stretch>
            <a:fillRect/>
          </a:stretch>
        </p:blipFill>
        <p:spPr>
          <a:xfrm>
            <a:off x="12570309" y="3579261"/>
            <a:ext cx="2427265" cy="376225"/>
          </a:xfrm>
          <a:prstGeom prst="rect">
            <a:avLst/>
          </a:prstGeom>
        </p:spPr>
      </p:pic>
      <p:pic>
        <p:nvPicPr>
          <p:cNvPr id="19" name="Imagen 18"/>
          <p:cNvPicPr>
            <a:picLocks noChangeAspect="1"/>
          </p:cNvPicPr>
          <p:nvPr/>
        </p:nvPicPr>
        <p:blipFill>
          <a:blip r:embed="rId10"/>
          <a:stretch>
            <a:fillRect/>
          </a:stretch>
        </p:blipFill>
        <p:spPr>
          <a:xfrm>
            <a:off x="12322528" y="4014872"/>
            <a:ext cx="4808787" cy="953227"/>
          </a:xfrm>
          <a:prstGeom prst="rect">
            <a:avLst/>
          </a:prstGeom>
        </p:spPr>
      </p:pic>
      <p:sp>
        <p:nvSpPr>
          <p:cNvPr id="20" name="Google Shape;126;p15"/>
          <p:cNvSpPr txBox="1"/>
          <p:nvPr/>
        </p:nvSpPr>
        <p:spPr>
          <a:xfrm>
            <a:off x="12570308" y="4834483"/>
            <a:ext cx="4525993" cy="3545586"/>
          </a:xfrm>
          <a:prstGeom prst="rect">
            <a:avLst/>
          </a:prstGeom>
          <a:noFill/>
          <a:ln>
            <a:noFill/>
          </a:ln>
        </p:spPr>
        <p:txBody>
          <a:bodyPr spcFirstLastPara="1" wrap="square" lIns="0" tIns="0" rIns="0" bIns="0" anchor="t" anchorCtr="0">
            <a:spAutoFit/>
          </a:bodyPr>
          <a:lstStyle/>
          <a:p>
            <a:pPr>
              <a:lnSpc>
                <a:spcPct val="159904"/>
              </a:lnSpc>
              <a:buClr>
                <a:srgbClr val="000000"/>
              </a:buClr>
              <a:buFont typeface="Arial"/>
              <a:buNone/>
            </a:pPr>
            <a:r>
              <a:rPr lang="en-US" sz="2400" kern="0" dirty="0" err="1">
                <a:solidFill>
                  <a:srgbClr val="475569"/>
                </a:solidFill>
                <a:latin typeface="Inter"/>
                <a:ea typeface="Inter"/>
                <a:cs typeface="Inter"/>
                <a:sym typeface="Inter"/>
              </a:rPr>
              <a:t>Gestión</a:t>
            </a:r>
            <a:r>
              <a:rPr lang="en-US" sz="2400" kern="0" dirty="0">
                <a:solidFill>
                  <a:srgbClr val="475569"/>
                </a:solidFill>
                <a:latin typeface="Inter"/>
                <a:ea typeface="Inter"/>
                <a:cs typeface="Inter"/>
                <a:sym typeface="Inter"/>
              </a:rPr>
              <a:t> manual y </a:t>
            </a:r>
            <a:r>
              <a:rPr lang="en-US" sz="2400" kern="0" dirty="0" err="1">
                <a:solidFill>
                  <a:srgbClr val="475569"/>
                </a:solidFill>
                <a:latin typeface="Inter"/>
                <a:ea typeface="Inter"/>
                <a:cs typeface="Inter"/>
                <a:sym typeface="Inter"/>
              </a:rPr>
              <a:t>descentralizada</a:t>
            </a:r>
            <a:r>
              <a:rPr lang="en-US" sz="2400" kern="0" dirty="0">
                <a:solidFill>
                  <a:srgbClr val="475569"/>
                </a:solidFill>
                <a:latin typeface="Inter"/>
                <a:ea typeface="Inter"/>
                <a:cs typeface="Inter"/>
                <a:sym typeface="Inter"/>
              </a:rPr>
              <a:t> de las solicitudes de </a:t>
            </a:r>
            <a:r>
              <a:rPr lang="en-US" sz="2400" kern="0" dirty="0" err="1">
                <a:solidFill>
                  <a:srgbClr val="475569"/>
                </a:solidFill>
                <a:latin typeface="Inter"/>
                <a:ea typeface="Inter"/>
                <a:cs typeface="Inter"/>
                <a:sym typeface="Inter"/>
              </a:rPr>
              <a:t>compra</a:t>
            </a:r>
            <a:r>
              <a:rPr lang="en-US" sz="2400" kern="0" dirty="0">
                <a:solidFill>
                  <a:srgbClr val="475569"/>
                </a:solidFill>
                <a:latin typeface="Inter"/>
                <a:ea typeface="Inter"/>
                <a:cs typeface="Inter"/>
                <a:sym typeface="Inter"/>
              </a:rPr>
              <a:t> y </a:t>
            </a:r>
            <a:r>
              <a:rPr lang="en-US" sz="2400" kern="0" dirty="0" err="1">
                <a:solidFill>
                  <a:srgbClr val="475569"/>
                </a:solidFill>
                <a:latin typeface="Inter"/>
                <a:ea typeface="Inter"/>
                <a:cs typeface="Inter"/>
                <a:sym typeface="Inter"/>
              </a:rPr>
              <a:t>venta</a:t>
            </a:r>
            <a:r>
              <a:rPr lang="en-US" sz="2400" kern="0" dirty="0">
                <a:solidFill>
                  <a:srgbClr val="475569"/>
                </a:solidFill>
                <a:latin typeface="Inter"/>
                <a:ea typeface="Inter"/>
                <a:cs typeface="Inter"/>
                <a:sym typeface="Inter"/>
              </a:rPr>
              <a:t> </a:t>
            </a:r>
            <a:r>
              <a:rPr lang="en-US" sz="2400" kern="0" dirty="0" err="1">
                <a:solidFill>
                  <a:srgbClr val="475569"/>
                </a:solidFill>
                <a:latin typeface="Inter"/>
                <a:ea typeface="Inter"/>
                <a:cs typeface="Inter"/>
                <a:sym typeface="Inter"/>
              </a:rPr>
              <a:t>en</a:t>
            </a:r>
            <a:r>
              <a:rPr lang="en-US" sz="2400" kern="0" dirty="0">
                <a:solidFill>
                  <a:srgbClr val="475569"/>
                </a:solidFill>
                <a:latin typeface="Inter"/>
                <a:ea typeface="Inter"/>
                <a:cs typeface="Inter"/>
                <a:sym typeface="Inter"/>
              </a:rPr>
              <a:t> el </a:t>
            </a:r>
            <a:r>
              <a:rPr lang="en-US" sz="2400" kern="0" dirty="0" err="1">
                <a:solidFill>
                  <a:srgbClr val="475569"/>
                </a:solidFill>
                <a:latin typeface="Inter"/>
                <a:ea typeface="Inter"/>
                <a:cs typeface="Inter"/>
                <a:sym typeface="Inter"/>
              </a:rPr>
              <a:t>departamento</a:t>
            </a:r>
            <a:r>
              <a:rPr lang="en-US" sz="2400" kern="0" dirty="0">
                <a:solidFill>
                  <a:srgbClr val="475569"/>
                </a:solidFill>
                <a:latin typeface="Inter"/>
                <a:ea typeface="Inter"/>
                <a:cs typeface="Inter"/>
                <a:sym typeface="Inter"/>
              </a:rPr>
              <a:t> de </a:t>
            </a:r>
            <a:r>
              <a:rPr lang="en-US" sz="2400" kern="0" dirty="0" err="1">
                <a:solidFill>
                  <a:srgbClr val="475569"/>
                </a:solidFill>
                <a:latin typeface="Inter"/>
                <a:ea typeface="Inter"/>
                <a:cs typeface="Inter"/>
                <a:sym typeface="Inter"/>
              </a:rPr>
              <a:t>logística</a:t>
            </a:r>
            <a:r>
              <a:rPr lang="en-US" sz="2400" kern="0" dirty="0">
                <a:solidFill>
                  <a:srgbClr val="475569"/>
                </a:solidFill>
                <a:latin typeface="Inter"/>
                <a:ea typeface="Inter"/>
                <a:cs typeface="Inter"/>
                <a:sym typeface="Inter"/>
              </a:rPr>
              <a:t> de CVG CABELUM, </a:t>
            </a:r>
            <a:r>
              <a:rPr lang="en-US" sz="2400" kern="0" dirty="0" err="1">
                <a:solidFill>
                  <a:srgbClr val="475569"/>
                </a:solidFill>
                <a:latin typeface="Inter"/>
                <a:ea typeface="Inter"/>
                <a:cs typeface="Inter"/>
                <a:sym typeface="Inter"/>
              </a:rPr>
              <a:t>soportada</a:t>
            </a:r>
            <a:r>
              <a:rPr lang="en-US" sz="2400" kern="0" dirty="0">
                <a:solidFill>
                  <a:srgbClr val="475569"/>
                </a:solidFill>
                <a:latin typeface="Inter"/>
                <a:ea typeface="Inter"/>
                <a:cs typeface="Inter"/>
                <a:sym typeface="Inter"/>
              </a:rPr>
              <a:t> </a:t>
            </a:r>
            <a:r>
              <a:rPr lang="en-US" sz="2400" kern="0" dirty="0" err="1">
                <a:solidFill>
                  <a:srgbClr val="475569"/>
                </a:solidFill>
                <a:latin typeface="Inter"/>
                <a:ea typeface="Inter"/>
                <a:cs typeface="Inter"/>
                <a:sym typeface="Inter"/>
              </a:rPr>
              <a:t>en</a:t>
            </a:r>
            <a:r>
              <a:rPr lang="en-US" sz="2400" kern="0" dirty="0">
                <a:solidFill>
                  <a:srgbClr val="475569"/>
                </a:solidFill>
                <a:latin typeface="Inter"/>
                <a:ea typeface="Inter"/>
                <a:cs typeface="Inter"/>
                <a:sym typeface="Inter"/>
              </a:rPr>
              <a:t> </a:t>
            </a:r>
            <a:r>
              <a:rPr lang="en-US" sz="2400" kern="0" dirty="0" err="1">
                <a:solidFill>
                  <a:srgbClr val="475569"/>
                </a:solidFill>
                <a:latin typeface="Inter"/>
                <a:ea typeface="Inter"/>
                <a:cs typeface="Inter"/>
                <a:sym typeface="Inter"/>
              </a:rPr>
              <a:t>hojas</a:t>
            </a:r>
            <a:r>
              <a:rPr lang="en-US" sz="2400" kern="0" dirty="0">
                <a:solidFill>
                  <a:srgbClr val="475569"/>
                </a:solidFill>
                <a:latin typeface="Inter"/>
                <a:ea typeface="Inter"/>
                <a:cs typeface="Inter"/>
                <a:sym typeface="Inter"/>
              </a:rPr>
              <a:t> de </a:t>
            </a:r>
            <a:r>
              <a:rPr lang="en-US" sz="2400" kern="0" dirty="0" err="1">
                <a:solidFill>
                  <a:srgbClr val="475569"/>
                </a:solidFill>
                <a:latin typeface="Inter"/>
                <a:ea typeface="Inter"/>
                <a:cs typeface="Inter"/>
                <a:sym typeface="Inter"/>
              </a:rPr>
              <a:t>cálculo</a:t>
            </a:r>
            <a:r>
              <a:rPr lang="en-US" sz="2400" kern="0" dirty="0">
                <a:solidFill>
                  <a:srgbClr val="475569"/>
                </a:solidFill>
                <a:latin typeface="Inter"/>
                <a:ea typeface="Inter"/>
                <a:cs typeface="Inter"/>
                <a:sym typeface="Inter"/>
              </a:rPr>
              <a:t> </a:t>
            </a:r>
            <a:r>
              <a:rPr lang="en-US" sz="2400" kern="0" dirty="0" err="1">
                <a:solidFill>
                  <a:srgbClr val="475569"/>
                </a:solidFill>
                <a:latin typeface="Inter"/>
                <a:ea typeface="Inter"/>
                <a:cs typeface="Inter"/>
                <a:sym typeface="Inter"/>
              </a:rPr>
              <a:t>frágiles</a:t>
            </a:r>
            <a:r>
              <a:rPr lang="en-US" sz="2400" kern="0" dirty="0">
                <a:solidFill>
                  <a:srgbClr val="475569"/>
                </a:solidFill>
                <a:latin typeface="Inter"/>
                <a:ea typeface="Inter"/>
                <a:cs typeface="Inter"/>
                <a:sym typeface="Inter"/>
              </a:rPr>
              <a:t>.</a:t>
            </a:r>
            <a:endParaRPr sz="2400" kern="0" dirty="0">
              <a:solidFill>
                <a:srgbClr val="000000"/>
              </a:solidFil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79" name="TextBox 6"/>
          <p:cNvSpPr/>
          <p:nvPr/>
        </p:nvSpPr>
        <p:spPr>
          <a:xfrm>
            <a:off x="5977800" y="600120"/>
            <a:ext cx="6332040" cy="1600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trike="noStrike" spc="-1" dirty="0">
                <a:solidFill>
                  <a:srgbClr val="000000"/>
                </a:solidFill>
                <a:latin typeface="Arial Bold"/>
                <a:ea typeface="Arial Bold"/>
              </a:rPr>
              <a:t>CAPÍTULO I.</a:t>
            </a:r>
            <a:endParaRPr lang="es-VE" sz="4500" b="0" strike="noStrike" spc="-1" dirty="0">
              <a:solidFill>
                <a:srgbClr val="000000"/>
              </a:solidFill>
              <a:latin typeface="Arial"/>
            </a:endParaRPr>
          </a:p>
          <a:p>
            <a:pPr algn="ctr">
              <a:lnSpc>
                <a:spcPts val="6299"/>
              </a:lnSpc>
            </a:pPr>
            <a:r>
              <a:rPr lang="en-US" sz="3200" b="0" strike="noStrike" spc="-1" dirty="0" smtClean="0">
                <a:solidFill>
                  <a:schemeClr val="accent1"/>
                </a:solidFill>
                <a:latin typeface="Arial"/>
                <a:ea typeface="Arial"/>
              </a:rPr>
              <a:t>El </a:t>
            </a:r>
            <a:r>
              <a:rPr lang="en-US" sz="3200" b="0" strike="noStrike" spc="-1" dirty="0" err="1" smtClean="0">
                <a:solidFill>
                  <a:schemeClr val="accent1"/>
                </a:solidFill>
                <a:latin typeface="Arial"/>
                <a:ea typeface="Arial"/>
              </a:rPr>
              <a:t>problema</a:t>
            </a:r>
            <a:endParaRPr lang="es-VE" sz="3200" b="0" strike="noStrike" spc="-1" dirty="0">
              <a:solidFill>
                <a:schemeClr val="accent1"/>
              </a:solidFill>
              <a:latin typeface="Arial"/>
            </a:endParaRPr>
          </a:p>
        </p:txBody>
      </p:sp>
      <p:sp>
        <p:nvSpPr>
          <p:cNvPr id="2" name="CuadroTexto 1"/>
          <p:cNvSpPr txBox="1"/>
          <p:nvPr/>
        </p:nvSpPr>
        <p:spPr>
          <a:xfrm>
            <a:off x="1369550" y="2462874"/>
            <a:ext cx="4703532" cy="769441"/>
          </a:xfrm>
          <a:prstGeom prst="rect">
            <a:avLst/>
          </a:prstGeom>
          <a:noFill/>
        </p:spPr>
        <p:txBody>
          <a:bodyPr wrap="none" rtlCol="0">
            <a:spAutoFit/>
          </a:bodyPr>
          <a:lstStyle/>
          <a:p>
            <a:r>
              <a:rPr lang="es-ES" sz="4400" b="1" dirty="0" smtClean="0"/>
              <a:t>Objetivo General</a:t>
            </a:r>
            <a:endParaRPr lang="es-ES" sz="3600" b="1" dirty="0"/>
          </a:p>
        </p:txBody>
      </p:sp>
      <p:sp>
        <p:nvSpPr>
          <p:cNvPr id="3" name="CuadroTexto 2"/>
          <p:cNvSpPr txBox="1"/>
          <p:nvPr/>
        </p:nvSpPr>
        <p:spPr>
          <a:xfrm>
            <a:off x="1369550" y="3749780"/>
            <a:ext cx="15548540" cy="2062103"/>
          </a:xfrm>
          <a:prstGeom prst="rect">
            <a:avLst/>
          </a:prstGeom>
          <a:noFill/>
        </p:spPr>
        <p:txBody>
          <a:bodyPr wrap="square" rtlCol="0">
            <a:spAutoFit/>
          </a:bodyPr>
          <a:lstStyle/>
          <a:p>
            <a:r>
              <a:rPr lang="es-ES" sz="3200" dirty="0" smtClean="0"/>
              <a:t>Desarrollo </a:t>
            </a:r>
            <a:r>
              <a:rPr lang="es-ES" sz="3200" dirty="0"/>
              <a:t>de un Sistema Web para la Gestión </a:t>
            </a:r>
            <a:r>
              <a:rPr lang="es-ES" sz="3200" dirty="0" smtClean="0"/>
              <a:t>de </a:t>
            </a:r>
            <a:r>
              <a:rPr lang="es-ES" sz="3200" dirty="0"/>
              <a:t>Solicitudes de Compra y Venta en C.V.G. CABELUM, Ubicada en la Nueva Zona industrial, Av. Perimetral, Municipio Angostura del Orinoco, Ciudad Bolívar, Estado Bolívar.</a:t>
            </a:r>
          </a:p>
          <a:p>
            <a:endParaRPr lang="es-ES" sz="3200" dirty="0"/>
          </a:p>
        </p:txBody>
      </p:sp>
      <p:pic>
        <p:nvPicPr>
          <p:cNvPr id="9" name="Imagen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00" y="5787526"/>
            <a:ext cx="5909040" cy="3688226"/>
          </a:xfrm>
          <a:prstGeom prst="rect">
            <a:avLst/>
          </a:prstGeom>
        </p:spPr>
      </p:pic>
    </p:spTree>
    <p:extLst>
      <p:ext uri="{BB962C8B-B14F-4D97-AF65-F5344CB8AC3E}">
        <p14:creationId xmlns:p14="http://schemas.microsoft.com/office/powerpoint/2010/main" val="3272712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85" name="TextBox 6"/>
          <p:cNvSpPr/>
          <p:nvPr/>
        </p:nvSpPr>
        <p:spPr>
          <a:xfrm>
            <a:off x="5977800" y="600120"/>
            <a:ext cx="6332040" cy="16158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trike="noStrike" spc="-1" dirty="0">
                <a:solidFill>
                  <a:srgbClr val="000000"/>
                </a:solidFill>
                <a:latin typeface="Arial Bold"/>
                <a:ea typeface="Arial Bold"/>
              </a:rPr>
              <a:t>CAPÍTULO I.</a:t>
            </a:r>
            <a:endParaRPr lang="es-VE" sz="4500" b="0" strike="noStrike" spc="-1" dirty="0">
              <a:solidFill>
                <a:srgbClr val="000000"/>
              </a:solidFill>
              <a:latin typeface="Arial"/>
            </a:endParaRPr>
          </a:p>
          <a:p>
            <a:pPr algn="ctr">
              <a:lnSpc>
                <a:spcPts val="6299"/>
              </a:lnSpc>
            </a:pPr>
            <a:r>
              <a:rPr lang="en-US" sz="3200" b="0" strike="noStrike" spc="-1" dirty="0" smtClean="0">
                <a:solidFill>
                  <a:schemeClr val="accent1"/>
                </a:solidFill>
                <a:latin typeface="Arial"/>
                <a:ea typeface="Arial"/>
              </a:rPr>
              <a:t>El </a:t>
            </a:r>
            <a:r>
              <a:rPr lang="en-US" sz="3200" b="0" strike="noStrike" spc="-1" dirty="0" err="1" smtClean="0">
                <a:solidFill>
                  <a:schemeClr val="accent1"/>
                </a:solidFill>
                <a:latin typeface="Arial"/>
                <a:ea typeface="Arial"/>
              </a:rPr>
              <a:t>problema</a:t>
            </a:r>
            <a:endParaRPr lang="es-VE" sz="3200" b="0" strike="noStrike" spc="-1" dirty="0">
              <a:solidFill>
                <a:schemeClr val="accent1"/>
              </a:solidFill>
              <a:latin typeface="Arial"/>
            </a:endParaRPr>
          </a:p>
        </p:txBody>
      </p:sp>
      <p:sp>
        <p:nvSpPr>
          <p:cNvPr id="86" name="CuadroTexto 7"/>
          <p:cNvSpPr/>
          <p:nvPr/>
        </p:nvSpPr>
        <p:spPr>
          <a:xfrm>
            <a:off x="1485900" y="2372040"/>
            <a:ext cx="15315840" cy="109115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s-ES" sz="4500" b="1" strike="noStrike" spc="-1" dirty="0" smtClean="0">
                <a:solidFill>
                  <a:srgbClr val="000000"/>
                </a:solidFill>
                <a:latin typeface="Arial"/>
              </a:rPr>
              <a:t>Objetivos </a:t>
            </a:r>
            <a:r>
              <a:rPr lang="es-ES" sz="4400" b="1" strike="noStrike" spc="-1" dirty="0">
                <a:solidFill>
                  <a:srgbClr val="000000"/>
                </a:solidFill>
                <a:latin typeface="Arial"/>
              </a:rPr>
              <a:t>específicos</a:t>
            </a:r>
            <a:endParaRPr lang="es-VE" sz="4500" b="0" strike="noStrike" spc="-1" dirty="0">
              <a:solidFill>
                <a:srgbClr val="000000"/>
              </a:solidFill>
              <a:latin typeface="Arial"/>
            </a:endParaRPr>
          </a:p>
          <a:p>
            <a:pPr algn="just">
              <a:lnSpc>
                <a:spcPct val="100000"/>
              </a:lnSpc>
            </a:pPr>
            <a:endParaRPr lang="es-VE" sz="1000" b="0" strike="noStrike" spc="-1" dirty="0">
              <a:solidFill>
                <a:srgbClr val="000000"/>
              </a:solidFill>
              <a:latin typeface="Arial"/>
            </a:endParaRPr>
          </a:p>
          <a:p>
            <a:pPr algn="just">
              <a:lnSpc>
                <a:spcPct val="100000"/>
              </a:lnSpc>
            </a:pPr>
            <a:endParaRPr lang="es-VE" sz="1000" b="0" strike="noStrike" spc="-1" dirty="0">
              <a:solidFill>
                <a:srgbClr val="000000"/>
              </a:solidFill>
              <a:latin typeface="Arial"/>
            </a:endParaRPr>
          </a:p>
        </p:txBody>
      </p:sp>
      <p:sp>
        <p:nvSpPr>
          <p:cNvPr id="2" name="CuadroTexto 1"/>
          <p:cNvSpPr txBox="1"/>
          <p:nvPr/>
        </p:nvSpPr>
        <p:spPr>
          <a:xfrm>
            <a:off x="955040" y="3225393"/>
            <a:ext cx="16885920" cy="6186309"/>
          </a:xfrm>
          <a:prstGeom prst="rect">
            <a:avLst/>
          </a:prstGeom>
          <a:noFill/>
        </p:spPr>
        <p:txBody>
          <a:bodyPr wrap="square" rtlCol="0">
            <a:spAutoFit/>
          </a:bodyPr>
          <a:lstStyle/>
          <a:p>
            <a:r>
              <a:rPr lang="es-ES" sz="2800" b="1" dirty="0"/>
              <a:t>Diagnosticar</a:t>
            </a:r>
            <a:r>
              <a:rPr lang="es-ES" sz="2800" dirty="0"/>
              <a:t> la situación actual de los procesos de recepción, registro y seguimiento de solicitudes de compra y </a:t>
            </a:r>
            <a:r>
              <a:rPr lang="es-ES" sz="3200" dirty="0"/>
              <a:t>venta</a:t>
            </a:r>
            <a:r>
              <a:rPr lang="es-ES" sz="2800" dirty="0"/>
              <a:t> en C.V.G. CABELUM para identificar los </a:t>
            </a:r>
            <a:r>
              <a:rPr lang="es-ES" sz="2800" dirty="0" smtClean="0"/>
              <a:t>requerimientos</a:t>
            </a:r>
            <a:r>
              <a:rPr lang="es-ES" sz="2400" dirty="0" smtClean="0"/>
              <a:t> </a:t>
            </a:r>
            <a:r>
              <a:rPr lang="es-ES" sz="2800" dirty="0" smtClean="0"/>
              <a:t>funcionales</a:t>
            </a:r>
            <a:r>
              <a:rPr lang="es-ES" sz="2400" dirty="0" smtClean="0"/>
              <a:t> </a:t>
            </a:r>
            <a:r>
              <a:rPr lang="es-ES" sz="2800" dirty="0" smtClean="0"/>
              <a:t>del </a:t>
            </a:r>
            <a:r>
              <a:rPr lang="es-ES" sz="2800" dirty="0"/>
              <a:t>sistema</a:t>
            </a:r>
            <a:r>
              <a:rPr lang="es-ES" sz="2800" dirty="0" smtClean="0"/>
              <a:t>.</a:t>
            </a:r>
          </a:p>
          <a:p>
            <a:endParaRPr lang="es-ES" sz="2800" dirty="0"/>
          </a:p>
          <a:p>
            <a:r>
              <a:rPr lang="es-ES" sz="2800" b="1" dirty="0"/>
              <a:t>Determinar</a:t>
            </a:r>
            <a:r>
              <a:rPr lang="es-ES" sz="2800" dirty="0"/>
              <a:t> el nuevo flujo de procesos de las solicitudes de compra y venta y las herramientas tecnológicas más adecuadas para el desarrollo de la aplicación web</a:t>
            </a:r>
            <a:r>
              <a:rPr lang="es-ES" sz="2800" dirty="0" smtClean="0"/>
              <a:t>.</a:t>
            </a:r>
          </a:p>
          <a:p>
            <a:endParaRPr lang="es-ES" sz="2800" dirty="0"/>
          </a:p>
          <a:p>
            <a:r>
              <a:rPr lang="es-ES" sz="2800" b="1" dirty="0"/>
              <a:t>Diseñar</a:t>
            </a:r>
            <a:r>
              <a:rPr lang="es-ES" sz="2800" dirty="0"/>
              <a:t> la arquitectura de software, el modelado de la base de datos y la interfaz de usuario (UI/UX) de la aplicación, enfocándose en la usabilidad para el personal administrativo</a:t>
            </a:r>
            <a:r>
              <a:rPr lang="es-ES" sz="2800" dirty="0" smtClean="0"/>
              <a:t>.</a:t>
            </a:r>
          </a:p>
          <a:p>
            <a:endParaRPr lang="es-ES" sz="2800" dirty="0"/>
          </a:p>
          <a:p>
            <a:r>
              <a:rPr lang="es-ES" sz="2800" b="1" dirty="0"/>
              <a:t>Codificar</a:t>
            </a:r>
            <a:r>
              <a:rPr lang="es-ES" sz="2800" dirty="0"/>
              <a:t> los módulos de la aplicación web (Módulo de Compras, Módulo de Ventas y Panel de Reportes) siguiendo estándares de seguridad y buenas prácticas de programación</a:t>
            </a:r>
            <a:r>
              <a:rPr lang="es-ES" sz="2800" dirty="0" smtClean="0"/>
              <a:t>.</a:t>
            </a:r>
          </a:p>
          <a:p>
            <a:endParaRPr lang="es-ES" sz="2800" dirty="0"/>
          </a:p>
          <a:p>
            <a:r>
              <a:rPr lang="es-ES" sz="2800" b="1" dirty="0"/>
              <a:t>Evaluar</a:t>
            </a:r>
            <a:r>
              <a:rPr lang="es-ES" sz="2800" dirty="0"/>
              <a:t> la funcionalidad y la carga del sistema mediante pruebas controladas para la verificación de la integridad de los datos y el correcto flujo de las solicitudes.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Freeform 4"/>
          <p:cNvSpPr/>
          <p:nvPr/>
        </p:nvSpPr>
        <p:spPr>
          <a:xfrm flipV="1">
            <a:off x="0" y="9671511"/>
            <a:ext cx="4114440" cy="4114440"/>
          </a:xfrm>
          <a:custGeom>
            <a:avLst/>
            <a:gdLst>
              <a:gd name="textAreaLeft" fmla="*/ 0 w 4114440"/>
              <a:gd name="textAreaRight" fmla="*/ 4114800 w 4114440"/>
              <a:gd name="textAreaTop" fmla="*/ -360 h 4114440"/>
              <a:gd name="textAreaBottom" fmla="*/ 4114440 h 4114440"/>
            </a:gdLst>
            <a:ahLst/>
            <a:cxnLst/>
            <a:rect l="textAreaLeft" t="textAreaTop" r="textAreaRight" b="textAreaBottom"/>
            <a:pathLst>
              <a:path w="4114800" h="4114800">
                <a:moveTo>
                  <a:pt x="0" y="4114800"/>
                </a:moveTo>
                <a:lnTo>
                  <a:pt x="4114800" y="4114800"/>
                </a:lnTo>
                <a:lnTo>
                  <a:pt x="4114800" y="0"/>
                </a:lnTo>
                <a:lnTo>
                  <a:pt x="0" y="0"/>
                </a:lnTo>
                <a:lnTo>
                  <a:pt x="0" y="411480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6"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11" name="TextBox 6"/>
          <p:cNvSpPr/>
          <p:nvPr/>
        </p:nvSpPr>
        <p:spPr>
          <a:xfrm>
            <a:off x="5977800" y="600120"/>
            <a:ext cx="6332040" cy="16158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trike="noStrike" spc="-1" dirty="0">
                <a:solidFill>
                  <a:srgbClr val="000000"/>
                </a:solidFill>
                <a:latin typeface="Arial Bold"/>
                <a:ea typeface="Arial Bold"/>
              </a:rPr>
              <a:t>CAPÍTULO I.</a:t>
            </a:r>
            <a:endParaRPr lang="es-VE" sz="4500" b="0" strike="noStrike" spc="-1" dirty="0">
              <a:solidFill>
                <a:srgbClr val="000000"/>
              </a:solidFill>
              <a:latin typeface="Arial"/>
            </a:endParaRPr>
          </a:p>
          <a:p>
            <a:pPr algn="ctr">
              <a:lnSpc>
                <a:spcPts val="6299"/>
              </a:lnSpc>
            </a:pPr>
            <a:r>
              <a:rPr lang="en-US" sz="3200" b="0" strike="noStrike" spc="-1" dirty="0" smtClean="0">
                <a:solidFill>
                  <a:schemeClr val="accent1"/>
                </a:solidFill>
                <a:latin typeface="Arial"/>
                <a:ea typeface="Arial"/>
              </a:rPr>
              <a:t>El </a:t>
            </a:r>
            <a:r>
              <a:rPr lang="en-US" sz="3200" b="0" strike="noStrike" spc="-1" dirty="0" err="1" smtClean="0">
                <a:solidFill>
                  <a:schemeClr val="accent1"/>
                </a:solidFill>
                <a:latin typeface="Arial"/>
                <a:ea typeface="Arial"/>
              </a:rPr>
              <a:t>problema</a:t>
            </a:r>
            <a:endParaRPr lang="es-VE" sz="3200" b="0" strike="noStrike" spc="-1" dirty="0">
              <a:solidFill>
                <a:schemeClr val="accent1"/>
              </a:solidFill>
              <a:latin typeface="Arial"/>
            </a:endParaRPr>
          </a:p>
        </p:txBody>
      </p:sp>
      <p:sp>
        <p:nvSpPr>
          <p:cNvPr id="12" name="TextBox 6"/>
          <p:cNvSpPr/>
          <p:nvPr/>
        </p:nvSpPr>
        <p:spPr>
          <a:xfrm>
            <a:off x="751367" y="1681049"/>
            <a:ext cx="6332040" cy="73725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pc="-1" dirty="0" err="1" smtClean="0">
                <a:solidFill>
                  <a:srgbClr val="000000"/>
                </a:solidFill>
                <a:latin typeface="Arial Bold"/>
              </a:rPr>
              <a:t>Justificación</a:t>
            </a:r>
            <a:endParaRPr lang="es-VE" sz="4500" b="0" strike="noStrike" spc="-1" dirty="0">
              <a:solidFill>
                <a:srgbClr val="000000"/>
              </a:solidFill>
              <a:latin typeface="Arial"/>
            </a:endParaRPr>
          </a:p>
        </p:txBody>
      </p:sp>
      <p:pic>
        <p:nvPicPr>
          <p:cNvPr id="1026" name="Picture 2" descr="Servidor de datos - Iconos gratis de computador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8437" y="2418302"/>
            <a:ext cx="2299884" cy="2106884"/>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p:cNvSpPr txBox="1"/>
          <p:nvPr/>
        </p:nvSpPr>
        <p:spPr>
          <a:xfrm>
            <a:off x="3719803" y="2760249"/>
            <a:ext cx="10668030" cy="1200329"/>
          </a:xfrm>
          <a:prstGeom prst="rect">
            <a:avLst/>
          </a:prstGeom>
          <a:noFill/>
        </p:spPr>
        <p:txBody>
          <a:bodyPr wrap="square" rtlCol="0">
            <a:spAutoFit/>
          </a:bodyPr>
          <a:lstStyle/>
          <a:p>
            <a:pPr algn="just"/>
            <a:r>
              <a:rPr lang="es-ES" sz="2400" b="1" dirty="0" smtClean="0"/>
              <a:t>Técnica: </a:t>
            </a:r>
            <a:r>
              <a:rPr lang="es-ES" sz="2400" dirty="0" smtClean="0"/>
              <a:t>Centraliza </a:t>
            </a:r>
            <a:r>
              <a:rPr lang="es-ES" sz="2400" dirty="0"/>
              <a:t>la información mediante herramientas modernas, garantizando integridad, seguridad y accesibilidad de datos en tiempo real, eliminando procesos manuales propensos a errores.</a:t>
            </a:r>
            <a:endParaRPr lang="es-ES" sz="2400" b="1" dirty="0"/>
          </a:p>
        </p:txBody>
      </p:sp>
      <p:sp>
        <p:nvSpPr>
          <p:cNvPr id="3" name="AutoShape 4" descr="data:image/png;base64,iVBORw0KGgoAAAANSUhEUgAAAZMAAAGTCAYAAADtHP9hAAAQAElEQVR4AexdBYAdRdL+qmfmyfomuxt3I0ISSEIcgruT4O56HH7AQTjhkAPucNfDgnvQYAmBhBB337iuPp2Z/r+etxuC/kgSSHi9U1Pd1dXV3dU9VS27iUI2ZDWQ1UBWA1kNZDXwKzWQdSa/UoHZ4lkNZDWQ1UBWA0DWmWRnQVYDm1sDWflZDfwBNJB1Jn+AQc52MauBrAayGtjcGsg6k82t4az8rAayGshq4A+ggd/YmfwBNJztYlYDWQ1kNfAH0EDWmfwBBjnbxawGshrIamBzayDrTDa3hrPysxr4jTWQrT6rgS2hgawz2RJaztaR1UBWA1kNbOMayDqTbXyAs93LaiCrgawGtoQG/tjOZEtoOFtHVgNZDWQ18AfQQNaZ/AEGOdvFrAayGshqYHNrIOtMNreGs/KzGvhjayDb+z+IBrLO5A8y0NluZjWQ1UBWA5tTA1lnsjm1m5Wd1UBWA1kN/EE0kHUmv+FAZ6vOaiCrgawGthUNZJ3JtjKS2X5kNZDVQFYDv6EGss7kN1R+tuqsBrIa2NwayMrfUhrIOpMtpelsPVkNZDWQ1cA2rIGsM9mGBzfbtawGshrIamBLaSDrTLaUpn9/9WRblNVAVgNZDWwyDWSdySZTZVZQVgNZDWQ18MfVQNaZ/HHHPtvzrAayGtjcGvgDyc86kz/QYGe7mtVAVgNZDWwuDWSdyebSbFbub6aB4cOH2yNGjLB+swZkK85q4A+ogawz+QMO+u+jy5uuFXQe6owzzijZa6+9dmvduvUNd9999+cnnXTSrObNWz7eu3ffo0479rTmhmfT1ZiVlNVAVgPf1kDWmXxbI9n0VqWB++67z3n77Q96fPTRp/+dNGnSIzU11ZfYtr1jfm5Bu3TCPXZZ+fI73/3og5tefublftythLaqzmUbm9XAVqSBrDPZigYr29RvakBrLf/5z13bL1w4/5p169cMtWzVsl2HNtaAgX0xaOcBYFxZjmqYTKWOWLZq+U1XXHH1TqbMN6VkU1kNbLsa2JI9yzqTLantbF2bVAMHH3xw3rp1q4+A8vdMJOPOkF13xqWXXYxzzjsTf/rz+bjub9fi4kv+jKZNGzmhSKhfrKZy+KnHH9+RDiU77zfpSGSFZTUAZD+q7CzYajUwY8bcdr7290ulUrldu3fDkccehVbtWiO/OB92RKGkUQMcMexwnHLayXD9tKUFO7/+zjt39+nT5xI6or6DBg0qHrEVX9QPHz5cGcf4c8D0tx5+TjlTlwGWEQNb7aTJNnyzaSDrTDabarOCN7cGGjQo2l5rv1koEsKxxx6Nxo0bQ8NHyk0hmpODpJtGVXUFmjZvity8XPi+51iWDFmyZMl1o0Z9/NLy5aufvP76Ww7Yf//9izd3WzexfOnbt2+jN954Y9edduq/f89evfbr1qPX/t169Dmg+w69D+rZs9fBG8EhPXbsc1i3Hjse1r1778P/9s8bDv8n4frrbwzSO/boc5gBw2OwAVO2W7ceBxD2Z3y/7Xfove+IF17Y++WXX959x+477rxD16496JCy90+beFC3dnFZZ7K1j+AfoP2adyMENX78eKe8vDw6derUvHfffbdw5coVO0BZBQWFhejcpQtECZ0JIJYF1/NgEa9cvRoj3x6JtJtEi5bN0GenXqpvv96Rpk1Lm8Tj1XstX7r4hunTZx43dOjQQmwlgYZcrVixevcFCxbdvmDhwrvLF5XfvXTpkruXLlt896LFi+9evLj8rkUGysvvWmBg8aI7y5csuXPxsvI7y5cuvXMB4/MXL75z0dLFd85bvOguwp2LFi++a8ES0gh0tnctW7Hi7qUrV929aNnyu1nmnpWr196zdNnKe1euXnXf0mUr/vvqq6+23ErUlW3mFtJA1plsIUVnq/n5GjDHKjfffHNZ376D92/aqOlpu+222+VdunT7z8ABgx864rBhj65fX3mE1r7Tpk0bRKIRJFIpOg0P3JCgujYROBRT66BBA3HllX/BVVf/BRdedAEuvvhPuOjSC9G5W0cLltdxfcXaP9FBDTK8WwM899xzSKcTfijkNHRdrzmgWvhaN/d93UwDTXylmvgiTTwCPWpjz9eNXJFGKe2XJT2vNK390jR0mQFXoYzQCCJlKc9tlPL9Rgnfb5LUulkaaJ70vRbxdIqQbkX+tlqpTvTtnVctWWVvDbrKtnHLaUB9t6osJauB31YDmtbq7LPPLn7qqWeH3XD9Tc8sXLDgCVjqjuLi4uui0fDpobAzLJobPSQSDbdwHEfSdCIfffQRPv3kE7z99rsYOfJtfPThx3jv3Q+wZMlStGvXFn369Eb7Dm2RlxtFfkEuunfvgnPOOQudu3ZSkUio7apVq864/fbbw79tz39a7XQmXqNGLSanUuk57L+O5OagcdOmaN66FZq3aommLVsE8RZ16ZZt29BxdsX2O+6A7r12/Ab0YLonwdB37LsT+u8yGLvusRf22m9/7HPggdjjgP1xwGGHo0v3HvDoqWKJpGuFwq/cd+19C39aa7NcfxQNZJ3JH2Wkt5J+jho1yj700EN78Bjrv2vWrro/mhfdtWFpYVGjJqWh0tKGqk2bltKmLY1mi+aBk9h1yBAcetih2GGHnujZszt677gjBvYbgF49d0DXrl1QVlYK27Fh2QqpZAI2cTqdRChso0WLpthrr92Rl58rnucOmj59epetRE0499zTV+Tk5E4POY4bj8dR3KABGjVqjJLSUjQsKUNpGeOEBoyXkN6qXTt03K4LofM3oP1226EDoW2Q3xndd9gRO+7UFzsNHIi+gwahX/+BGLDzYPTo3QuwLR4j6vguu+76aZtd2yS2Fl1l27llNKC2TDXZWrIa+P81YHYk11xzTfdJkyb9PRaLHZmfl5s/cHB/nHHWqbjqqivwl6suwyWXXYzLCJdfcTEuv+ISnHX2aejbtzcaFBeitKQYTRqXoYS4UaNStODFe3FRIRRNoOel6UgsXsL7UHQonusz7aBlq9bIz8sHDXPe559/Ptgcrf3/Lf31HL9WQkFBQby6OrZaQ3wtAnNP5GkNRgCl4AMwOwkecSEAZmVoGq6vkSavwQbSTLvaD3RDNnhifo1BEMjjvVOK908QBRYBcYK6XIpsyGrgWxrIOpNvKSSb/O00MHDgwNI5c+acnkwmd/d8L7TXPnvitDNOQf/+fdCqdTO0btMCbdu1JOaupH1rNG1WhtzciLk/gFLGDNJcag8CF0o8Gsc048ZpCLEGdx9ghHRNfhuplIuc3Hw4oQii0ag1a9asxrvssstW8U3U1pbqcDTEqxIf9JXsr7BvdcBOBoafKhHJOAHP84N+awh4n0Je0ul06ByCuFJ1/5QZ+X1NOYaPmHckYFHKp1qY9n3fE9dPIhuyGviWBjhDvkXJJrMa+A00MGLECIu7kQGe5+3Ne4Bov779cMqpp6CwOA9aeRBH06ilaDddQPlwXWPPPCjGI2EFxzL5hpaGTccidCiODZpEXsiTl6tprqw1Qk4IjhNmec1rmBCSCQ/JZJqG1qdjyvWGDBmisVWEhfBdj30JwbJtOlT2waOeRGBxN6HoKOrBZr6hiQhMEM23zxeBu8FAL+A2xvdJJ1mTzhiobOYB4XAYtbUx4ggssZA2v+EQMGRfWQ18rYHfnzP5um3Z2B9IAzfe+ES4oqJqiGPbzVKpBI4//hiEQjY81yUOwRg2YxDNCtskbEdB6DRcN0VHoGlMXTj8USJMe9SccThpCHcoNs/6RYSORyGRTMJNe0HcCTlYUr4Y1VVVqKioiOfl5U0C4BO2iieFlPZ8OhHqwLIEijpJ8jiPuzrQKSODqQc6GeM0INRZHUApGNDKAiAwgeoMdiDaKFsE3IgwR5BKpJCXm4cUdef7WkQcU8gUyUJWAxs0wBm1IZ6NZDXwm2lgxewJ0dqa2t6pVCrUu8+OaNaiMbTvwlE2tKsDE2+ObmzLgmiBm0pD0dRZNIYmrWADOgOa+ZpFhDbSh4bHoy8yE/tcyTsQUTChYv16fDVhPHcmcWN8lxxzzDGfiQhLmtzfNzRq1EinfNecWGnxPdjsK80/xOLbdM9SEKVAVRBb7IxARIipJiIdxMjLODOgqBNRAlFBBjQEJqGIhcqk12JBDd/3DIneHdmQ1cA3NKC+kcomshr4jTRQ3Kq4KJ1y20eiUXTo2AHhiMMtggvaMmI6BJ7B+ADtGw0kANuxA+dgjJ7HIxoIDaaQZhyPtiBMK+NoiDUtqlmZh3k3kky6NIgadFx4882R+PTT0XQmqXhhYeFzPXr0WEHRW8Uzl62krxVLQhLSYagUjX9Sw9YK9Iw0/B6BGtMeFDweT2koxoWF4Luox8pzg7hv6NS0T8ektOHVsJgWXszbFmUbOhH9k2WFVA6rzz5ZDXxDA5x530hnE1kN/CYaKC4uKwxFwoWRnCjatWvHOw0XoPHyaQjBzYKyFEQEvHHmqlnTmTg0lgqW5SAvvwC0cKANRCSSB9uOMs+GmyY/F9JKQrCtKC/cNUKhKJYtXYFHHnkc99//IOvxeZLmje3UqdNzw4YN87CVhOS0NXZuQUkkHvd4d6KQTvnsr2bcJ6QBOgnjPGw6BMdoLJmATiWheCxm8+jQ5nFYBlIBzTgNIR+FQJjnG34ea1Ew0rFapOK1cGw6ct+1586dlb+VqCnbzC2oAbUF68pWldXAD2ogFAqFA6fBGZmTG4FPRyJcBvtcGftmRU26prdwef4vloWqmhiWLFuGESOex7+uvxF33nE37rnrPtx95314+IFHMeLpF/Hay2/hpRdexf8efxoP3PcQ7iLPFZf+BX86/yK8/uobOi8nPxavTb7TtUuPa84444zpP9i43zjjwAMPzOm6XdcTS4vLxjTMK1naKFq26F9/v2xcvKLqTJr3kK98zF00D1NmTsakqV9h1pRpmDlhEmZ8OZHwFSaN/Ryj33sf7736Gt55+ZWN4GXGM/AW6a8//wKefvhRPH7vvbj31ltx54034b/X/wt33XQL3n/jTWg6l4jjFCwtX/Kfovz8dYUF+csbFBW+07Zt25N/YxVlq/8daICf6O+gFb+jJmyrTTG/LTV+/HjH/FGgARpmmuvfT29FXMuno7DoKEQsOJbNnYYPi+f4Srhm5jGXsLmWUvB5rLV44WL857bb8eQTT+Pdd97Xr77ymv/WGyP9l1981R/x7PP+Y48+4T9w/8P64Qcf00/971n/xedfdt98/Z30hC8nVaWSqcXRaO4Hruv+u0mTZlf96U/nfPF73pUsW7asZG3lumFOSPXND1lNyxzVsqGb7NxY+UV5iSop8uMoSNeiMFWLUjeF4nSa4KKI90oN0i4apDwUxBPI5w6jIBZHEXFRbQxFtbUb4oWJGArjceRUVSJKiKxbi+j6dcirqkIu087aNSjibqUBj8Ny4rUNGkXCxYWO3Tg35OxRU7H+zK3lXw/gFMo+m0kDWWeymRT7exJ7/KFHdrv8okuO3nePYgRGxQAAEABJREFUfc8+6vCjzj3p2JPO2rnfwMOuvuSSNr8XpyLiaECLaOExlQPf8yHcngipFm+FedfMbA1uUlC5vgp333UvZk6fheqqmspELP4hiz5qi/OQZdmPOLazAUKh0MPhUPghxwnfl5uX99/iBiVXlzUsO6NZsyZnn3XWGf+aNm3iRDqS1O9pvL7dlpyioqKkm2wGL6ma5UfQp3FD7Nq4FLuUFmJIo2LsTLxzWRF2Ly3BkOKGGNywIQaWEsoIpO3cuAy7NmmEPZs3w94tm2OvVs3qoCnTmfg+rZpin9aMt2yCfU28ZTPs16o59mnRBPuQf9/WmXK7NmuE/Tu0RZ+mjdG8oBARzSFLJspqa2tzvt3ubPqPpQH1x+ruH6e3ZvcxZMiQns2btrzh1Xfffiud9u4tLCy4qbS05MZIJPzveYsWPHzPw4+MbN68+T+GDh3a3uxcfkvtxOOJhMDyfB8AwbZ56gWh89AwjiTsRABerGstmDZtJqZOnoqQFUrD10/u2KXP8fvvv/+5B/c4+PwePbc/99Aeh9bBIecccugh5x586MHnH7L9IRe3atXiLz17bn/3xKkT3/n888/nDB8+PCG0hazxd/3khXKKrZTXxOZOomNuGEMaFGO/hsU4hHBAST72LyvCfg0a4mA6kkOLG+Bg0g4uK8BBpXk4mHBAcQQHl+XjyBalOKplozooq8OlOLJlQwxr0RBDmzfAUa1KMbSZwSU4iumjW5Xg6JYlOLZ1GY5pXYpj2pTiSOKD27dA+6JihHwNXv+HLSsR/ulKzHJuixrIOpNtcFT79+/f4PQzzzx6/ISvHnG1d3GDRo2aRwryc8P5eWE4obCKhMKhSKQgLz+vI43pFaNGffzk9dffcNSgQYOKf0t1aI20UhZSaS/4exCIBcsKQSREnyE89rK4a4lg9eq1cOhckikv5Wk1t2HzhiseffTRxB1v3ZF86623kgZvgDvuSN5hgHkffvih+9xzz3myFTiQjcdh8eKlEV/7OdGQIOIlUQIPZS5xohYNCA2TMZQka9EokUDTWBJl8Rga8cK8MY+tyhJxNErG0YR5jRlvQt4MjqMpaU14D9I0kURTg8nXjEdZzVIJNEvF0JTQOF6DRrEqyiSmzEY8JiurrUERZUc04HD3aHGEULtxi7PxP6IG1B+x09tyn2+88cb8FctWnbNqzbqbogWF3cPFxXbfPXbDeVdegVvvuwd3P/4obr3rLlx8+eUYNHhn5BcUKCWqd/niZdfPmTXvhOOPPz53S+rn2muvDbVq2mrH1atX7U7bFIonUliybAUWly/HvAXlmDt/MRYsKseSJSuwYGE55vOuZPXaCnjcoWgRKy8vrzGPsrZom7ekfkxdvp+yuQVzPCUw4FtAincXGtSYmLcGXS1E+wEoMiju4sRTUD6BcWV+ZZiGH54ArkAMMC6ugniAuIAiSJqy6gBMB+Upz6oDuw5blEkPTwfP+n2t8/PyfGTDH1oD6g/d+99f5392i8ydB49rFLF9/vnnlz77v2dPS6TSZ2kn1LikXVt1xl//ghOvuhQ7HrIfSnbcHiU9tkO3XQbh8JNPxrX/uhGXXnEV2rZrryxLNXc9fdrMmXP7UZb87Ib8ggKDBw8uffC+h0/1lLpnfWXNhb6oSEVNDE+PeB7X3/hv/OumW3DDTbfiXzfegr/fcDNuuPk23PTv/+D9Dz9G2tOAssMJ193/y4lT9geGb7NzuVmz5q5tOa5HZ5CWMGrtXFQ5eQHUqnzEVR4hFzEVRQ2PB6sdQXXYQk1YoSakUBuxgnQtabGog1iOg1riGkJtxEZNmOlICDUR4oBm4oRoCNWk1YRtVIcoL+SgNhxCPBJGkvGUCLRjg37JqxXJOpNf8A1sS0W22Q9wWxqk7+uLuRO5/PLLe7Rt2/bc+++//6ImTZr89fH/Pf3ovMVL/1EL1dTixWuPffbAQpXCiEmf456PR+L291/Hve+9jrdnT8FSN4GCZo2x/xFH4C9XXYVmzZopx7E7T5k85bIbbrih6Pvq3JS0oUOHWrNnz9sj6blX1SaSfWoTiSZx1xNfWVhYvgzT58zFrLkLMGvOAsyZuxBTps3C7HnzMW3WHHDXBScnB/F0mhZMOpcvWnTlkUfOaLMp2/d7kiUiNdBYDyuKFXEPX62pwlexFCYkfEyOa0yN+5gSdzEx5WKCmyZOYTKPrSamUpiUZjydxldMj6uNYWxlNT6rqsRnlVUYW1WFMVUmXc14Bj6rqsGY6uo6IE9NDcbSwY+tqsXYagLjX1THMWl9JZYzLwkfSa4+0ryU+z3pLNuWLa+BrDPZ8jr/1TXSEBeeeOKJZ99zz73PJFOpW3nKcANEXRXKie5rNyzKiUUtaTWgFxJNizFX0Zi41ZhppTBVYpgQX48RE8bg4fffwvvzZmEFz94H7LYLjj/hBBQWFlr5+fkD77z9nqHjx493fnVDf0TAwtWrS3lSMpQnLU2skCOt27aDgaYtmqNV+3bo1G374P/Z6Ni5Mzp06YLO23dHh85d0LZDJzRr1RpFvGzOycsDy6pwXk7nDz755Mq7RozI+5Eqt9qsZLJ2nROKLEtZIT2DRvy1BfPw7KKFeGzBfDzC+MPz5+LBBXNw9+LZuGvxHDw0vxyPzl+Gx+YtI16Ox+YuxyOzl+DeqfNx50TyTJyDuybNJczD3ZPn454pC3DvlIW4Z+piwiLcPXUR7pm2KMB3MP+/k+fhjqkLcBf57p40H3d8NRePTJiOeevXI24uuiypLigoSG81Cs42dLNoIOtMNotaN59QHmnZkydPG1Jbkzw7Jye/k+Z+Ir9RU8tuWGLVRGxZ68WQs117NOjSCbFoBCkeS6QsQZrHEUnbQrUtqMmNYE66Fi9MGoeRc6ZiNQ3CLvvshZat2yIvJzenuqpq2IsvvliyOXrBRawYsNJ6h1TS620pWzVv0ZKOpDXM/4TYtl1btKNjadmiBZq3aBVAkybNYNLNmjZH61at0KFdO2zfozu6d++OstJSQIvlptw9Xrr/kQ5GtoHN0fbfSmYkElmbm5v7RQq6qtZSWOtYqMiLoio/FxVFBYg3KkFtWSlxGWoalqCmpCHW5xdibX4e1uXmYm1eLtYX5JOWi8rCfEIBKlluQ7ywCJUFRagtboiqomLUFDVAdWExqhmPkZagzFhxCQzUMi/eoCGqw1FUe7wvsax0bl7+9NLS0vhvpZ9svb8PDWSdye9jHH5yK7744ouSmqraMy073B6hqBxy/Ik49fLLcNTFf0KPg/ZDcf9eaNSvJ6ymJagVH2LZsLkFsLkFUD7trnIQp1OpDNtYHgJGLZqLD+bMQA4NerdevaEcR5St2rzxxjuNf3KjfgJj9+575TYra9W/WeO2BzRu3PLAhfMXnuxrNFKWjdpYLeZxdT17zmzMmjUTs2fPxNzZczB/7lzMIyxcsIDxeVjIlfiC+fOwYP58pudi+bKliPHYxfyxo1J206nTp53cpk37g9u3br/rCSec0PAnNGurYDnttNPW7rhjz7sKCvLetELKU3lh9B7YD0ccPQyHH3UkDjv2WBxKfNARQzFkr71w8LAjcMCRh+KAoYfi4KMOx5EnHYNTzj4Vp517Bk4/70zCWYyfiVPPNXAGTjnnNJzH+XPFNVfhir9eCYMvv5r4qitx+dV/weVXXYFL/3IJLr3qsgDOv/gCFJY2AEJhpCBzW7Rs+dCwreifotkqBn0rbGTWmWxFgzZqxKi8+XMXn+IrNciN2s5+Jx+LfkcdDN22EWqaFaG4L4+G9hmCxtt3RDxsIRlSqNUp+LyQ9cSD+fHpYFzRSBLHlYdqwqcLZmDSqnI02347VLlJRAvzylasX3X2rnvssfcll1xSZu5nfq2acnNTTTykr7UcecjX/kPKtg/UokKxdBIr16zFspWrsGzF8gwsJ162DOVLl2LxknIsKi/HwsWLschAOTFhIWlLli5HTbwWdIAAvYkGTvU8/UAsmXz4rbfeO2pb2aEYQ33dddfNj+TkzFGW8j2OZMdOHTFo8M4YMGgQevXpg779+qMXFwNtuWvrvVMfDNltV+w8ZGcM3mVn7LzrEOyx5x7YZ799sfe+exP2rIO9YP4Dsr332RuHHHYojjnuWJx40kk47vjjcMKJJ2SAx590zDj5lJNxYh3N/D8zedwVuZ7nc1c4O512pvza+ZEtv/VrIOtMfudjaAyi+XXd3XbbbcdjLzzhX+tqKv+y3kvkF7RriTaDemPc8gUYs2QOplasQG2uA78gyiMthRhcaEdBuAuh8Ybmj4hAgXaXVpdnTRBuDcwV9mqdxIRl89Fou7awC/OQ8nVeIpk4nbugV2+/4+43TzjhpCuOOeaYtuaIjcV/0WPbXiiZdhvXxmOlvqCkJh6POJEIN1cRWI4DZduwCHY9WBYsghhQCmIpKPbF8Bj+MMtaIYd0G2SEMF6diOckUqmSdMptGY/Fj2RDFWGbeBKJhOaYpczv4jrUV5T9V0oQ/IhQBdSPUvA8z7AEWDENjns9TZtfHeZCQoSlCCZPTJpasqlbI9eyMnLqx0HEyLZggsk3oJQF2w7BdV3OIFS4blX2iMso6A8OnEZ/cA38jrtP4606tmiz0+hPPrl62ozZT9T47um1DvKS+REUdWmHiauXYFbVGlTawl2IjRpjLCIheBbNBGku17C0LIDvI0Q34vCYy+b9iEU+mmBYNDRagGpb8zJ1DWJ0Po1atEAoHEZxfjFKiktDDYqLd6yqrr78/fc/vO3551/e1fxdCH5B0Fq7YqkUmwDjEHbs0xtde2yPLt26Y/uePdB9h57o2WtH9OGqesCAARg0aAAGc9U9aNBgDCQMGsRV+MCB6D9oIAYY3L8/Bu1M2mDmE/djmX4DByGam09DFzZ+sgtX884vaOrvskivXr1ovOnmYTQIpN0U2+nD126APc+F56cROAc6ABFhXDj8XEZwvEMhnmma8eb4a6a19oJy4C7HgM+0ofmcMwbrgEcHMkQEpnw6beoSljOAwIGVNmyYYts0idnnJ2pgW2VT22rHtoV+LZw9u3t1LPafytrEhTELXWpyQmHdvBHyuneE07EV1uU4WMcjrBrHQiJkI0VnEKOxidMw8CgMvij4EIjQbXA7AC00LkLVCOmA4fG48k/aCutpiFYkarHzgftj6Ekn49BjjsW+hx6Kbjv2kpzC4rw0sO/Kdauufe2tt/pSwM9+kkm4tDhJs7wORSPIyc1FUXEx6KyQl5+HvLw8FOTlo7CgAMWFBWjAy98GRUUo4eVvaUkJSkoawODSBg1Q0qAYheQp5KWywcUNG6C4YUNCA4ToTMHVtmNboYqKisjPbuj3FNDatHoDmL/pMSCG/j3sm4X05ZdfgjsyT9M3mP5lKhHQzteBiQsUdyMiCoogkqGtWLEM8XgtLI6zcTYQH98AOhRtnAdnhbIEFueESKaskZdOp8F6AzpMMPOIIuhctBMOpRs1asShNRlZ+CNrIE8SrwEAABAASURBVOtMfqejz3uKyHvvfHAsQuHedBSRwg5tsAcvUnc+8SjscOj+sJs1QhV3H0keT8T5pScgcC3uN3gEopUNDQ6tUjzu0HBsh6tWnzQhgKaDQGPhKlNG4DFudjVz165B+3590PuAvdHvQJ6vH3s0TrvkYpx0zrkI5+U5vkifBQsXHPVLVKZU2hLft22xJBGPY/26dVi2ZAkW8x5kGe9HlvJ+ZAnjixcuxMJ58zB3zhzMnT0bc3khP2/2LMznhfwC0uYbmDsbS8i3nOXLFy9C+cLFmM9L+SWLy1FRuR5aPGi4xuCHf0lb58x5Mzx94cgmE+Y93ft/L156wBOvXnTkEy9fcOITr/7pzCde+dPZj79ywelPvX7h8Y+/8ufDX3l/+M6jpz/YatKkt3M5DPJL6vspZczq37JEW5biDiUNDhkNvA4wYLBAcbx97kKVsjju1AEbpCwLk6dMxjzqx/yiAugwjEMx5TMgEE4VETDoADTLaToXEQnqMLuS4HokyBb4PNyyONcU62OBoCTx7+7RWsuIESOir7zySr4BEze0311Dt5EGcRptIz3Zxroxd+7ckrVeekAsN2RHWjXG9vvtgSjvNOJF+Ujl5sBzQhCtEIbDIywbEWLLFwhPIsw/nWHyLF/BVja4UYEldsDPjwmBTeDI+4z5ND6O8K6Fq83lsWpMXb8Ci1Uaq3NtrM9zgLIG6DtkCAYO3Jl1hEJuberwGy6/oRA/M/i+tBKgNQGpeBJTp0zF9OkzMXfufMyYNhNzZs7ErJmzMHPGDEz86ivMmDQZ0ydPwZRJX2HSxAnkn4QJX47H1MmTMJn5X44fh7GfjcFXXLFPGP8Fpk6ayLzJSCZ4fK98QOkUz/SpDfxooD7kvvH3OW+OHV7w2kdXd3j1k+uO/nL+O/+dMP2ll6bMePtVlb/mSTt37cN2/vp7iW8n/MfJW3uHRJffr/KWPVrjznp+7qJRr0xZ/vzDL3942bmvffLXHi++d33DN9+8PWyOKX+08p+RyZ2JiLaMgxSLDsIUFQGMQfdp3E2cfTFkaDoCQxcRaN/HkvIlWLVyJYSLBw0z+obNYM4ATg7NqObLlDHY5IqwLGkiX2Mlis5LmK0RCo7NwDml1fr16/F7CWy/7HX88bl77rlfzx49drj4jLPPGXHCiae8evIpZ7x09jnnPdWlS48L9ttvv54DBw7MN7y/l3ZvC+1Q20IntsU+PP7MMw3S2m/JexI07Nge4ealWKs81EQtxB2FFEfOBz9sfvDGiVg+YHkE0hSNA7MZo+mgMaFFoQnRXJNytWpiZKDvgAHh6tJ3XQh3OFXKxeS1y/DOnMl4c84kfLBwJmbWrEWlpdFp++2RF8lFRJzSueUz2v9cnceqquO+6y0QIGnbNizLQTSaAxOPRKMIhyOIRqLm71xQkJuL3Jwc5OdGUcxjryKmG+TnozgvF/mRMPKjYRTRoRbm56KUR14GmpaVoYjHXhk765u63uvevXvVj7Vz1NS78l7/7Lo+RRXTz15XVf7E2tryT2pSix737TVnWrlVfUMFsSa+U1Hg2xVR36kMa7va8UPVtu/UOJ5dG1ZOba7KiZWGcuM9VHj9sJi3+PbKePkHsdTCFysw58qOO9YMeXvSPWU0WgqbIigOKeVwyMEhZuyHHtmQwbq5K/WQ5DmjptPZkBGIMnwGACMTG2j4RjAyDCGok+wiAsu2YFmWzFuwMDxy5EiF30HgzsMyTmTOp2P/NWHc+JErlq+6KRrOOaCwsGhIJBLd3XEih6xcveqWz8Z+8fqC+Ytu7d+7/w5nnHGG8zto+jbRhN/FJNgmNLmJO3H4gQcmI06kFmkPaTeNmJdGOqwQ46o7xemfsgCvzikI3YQKQEPxItbiJaoY4ApVQA/D1acilvqzcvIG25UA++CeBR7zkpSbyLFRzV3JCtvDvFQVPl8yDzNWlsMNkYsGxKd8+F7+z+1ul+5dJrRu3eYGgSwyliuHDmS33XbDoYcfjoMPOSSAw444HEcfewxOOPHE4NdQjz/+OBzHo7aTTzoe559/Fi668DxceME5+POfzsefzj8Hf+ER3D+vuxb/vulG3Hzjjdh158Gw6Rx5Gb2wVftWN5955pnpb7eThlGmlY9o8Nw7l+2+dPGkv9fEyu911ZrhsCsPsKPVjeBU2b5VBbpt+GJ2ObzophMH9aOpe02d+wTh/YNWEhhqH6zGSkHbcYFd1UDC1YMQqroY4aq7Vi+ZfNtjL5975Duf3tiUdW+a782sAgLLbnpnRIqJfAOCbHoI1skjL593JnGq3QdM2cBpGHZTjmBopkCABSLCTANEdY+Rw8JMaXCDQkcilKfFtq0od4AWM37Th+2z/va3f+4+Ydqkm6qTiZOd3Jyylm3byW577o19DzgYhxw+FLvuuRfatO9gRXLzmyVd97jyVStvf+qpZ04/5phjin/Txm/ZyjdbbWYmbjbhWcG/XAPt27dfFU77MxuqsK5asBh6fQ0ivMKOKguKYjWNm0/j5nNL4nNLomnwhCbQpgNxuBsJEQx2uBo1NJsOxSEtxHS4DiLEITodG3QoStMQA7TFtDcefMp36Vyq/STmrV6GGeXzUOHGkXS06xfnL2YTftbz3HPPxTt27jpNRNaEeEQS4g6jQ6eO6NS5M7p07YrtunZB1+27oUfPHui5444Z3LM7ehL69N4RuwwagF2H7IwhuwwOYLchg7H/vnvhgP32wT577o599tod7dq2op/zaAytWN8d+y79dgO1Hq7eHn1jl+kzx/7VVevv0U7VOdqu3EGseDGstBJbB33XQk1SN55nJNikhagPAw4NKJWiiX0CQhAJE0LkoT1VArFcaKtWSag213fWbyeR6iOd/PhNS9ZP/8ero67sT6MnRuovAQlWA+akS7O4EcOZoOsx48HMMGmTz76QyzysM+NMTAIm30QM/hpMCQR5GTmsCxsHEcNBmZxfJq44DylXHNvhxjJqCm3MvkXjbIfaffe9+85dtuTfftjZVRfk5A08+AA5+bKLcPCpJ+GAk47DfscehaGnnoyzuQDZn4uW3AYNIrXx+AA7FL7y0zHjhnJXE92ijd4GK/tNJ8E2qM9N1qX999+/qlPTlq9E0l4qtmg5prz5AWTBChSsrUWD6iSKa9MojNdBwkVBPMV0EkXEBgqJC5lfVAeFcReFsRSKCIU15KtNorgmEUA0FkNuLIkC0gor4yiuTKFBTRo5VUnkeRrJikq89/bbSKYT2oqERrVs1GjhL+loOKwTvu+lEskEaJYglgVl2TArfJ8UX2jcAtDgdQ+MnRQ6TE1H6NcB6DCVaKTTSTbBQyTkwLFp/N0UNJ2l0CCG7KgqLCwUMgQPF+gybdqIBi+8h5Oq4iteSurK81N+ZQcVSoU0dxQuUtxh+NBk1KzUtkMIOVE4Nu2LtpFpjAI0gfJBoK8hv0DEgk+670mQ9iHM1gCdu3JSLFpjwaluHs1PnVQRW/bK/14+99rRE+5sxboEPyOYC3ifLcgU2bjoxnGTa9KabWEbmBRhu9jYRII7LLaTJEox/QhidS8F7ZMvU6SOZtIaIkZehrRRFIoixARepESj0a+ZMqyb/W3uo4YOHRo655xz8nr16tdtzPgv/pZbWNBNR0PWwaediH1OPx4F27dHuqwAaxwfsfwQrMYN0aB1Sxx09FG48IorUNK0mdjhSJMVK1ecc/nlV/f+uWOy2Tu5lVXAKbGVtfgP0lx+p95BBx7+Yk11xcg8HzWVU2bpqc+8hqW0iCtGvIt1L36ItYTVL4/CKsLqV0ZhJWHxKx9gwSvvY/5L72LO829hxrOvY9rTr2EGy85+7i3Me34kFr70HsrJt/TVj7D0zU+w8r0xWDbyYyx//SOsef1TrH31U6x8+UMseel9fPXEy3jvwf9Bra3wrNr4HK5BH+KHTLv28wfCZxBLuU6IK3pLwQhJ8fjOY0wL7REfzdW9LzSGIBhHYrD4dCEeK/Qg3EFppmwnM3VdUz7YQmjmaxo/C6lUSly3mtKA114bnjNyzN96z1417r8pf+m/Xaxpr+yYFYoIXJ81+xZCNu9uVAi24m6DztN3fbg8XjTOCQzBSpxtVHChJE1IQdEJQVJI6yRcnYYvAi02RIUB7lbS3EVq2CAzHRXrgStOJNnQjsYumbt40m3PvnXZnqNG3ZWHnxFEa6My9tH0naDlW6Xr0/UY0OTQfCfpwDMpEsyjTfk6MGnyBOhbL62NBLBOCaA+rUSglALTUlNTI9hCoVevA3N69x7Q7dVXR546aeKU+156/uUXFi1e9KAVCfePeSlp3bUzCjq0xpcVy/DBghn4pHw2JleswOT1K7AgXonKsCAZCaENd8LHnXwKcvMLVWlJo66pVPLoYcOGZY+7fsU4cjb9itLZoptVA1fceEXlTn36XhVVzsPhlFdeO7/cXTZ2AlaNGY9lH4/F0o8/Q/mHhFFjArz0o7FYMXocVjJ/9WcTsPaLSaj8cgqqv5qGqi+noWLc5IBm8lZ8Oh5LP/kcS1l+yXufYjllLGP5xZS5iLDk0y+w+rMvUTN1FvSadamIVmNLGpZdv99+B478pZ22kzxs42W/RUME7iKMmRLbghZFQ6WQ5upZaMxpffm4EBorgHZKDIB8Gj7tqaYzoV+CCOlQUNwdKBpyw+u5HsJRW4UKwtaor4YXpQuqjqiILf1vwl09TDuxYjhp8ekEfDoF26axh+Iuxw3k+lpDLMpUAhE6B2iKJGCjYAx4AGwzhKUBi+1X5Kexh08HBQYR4RvkEIiiLOMgbR88q8y185IHuNb6fy+smnzc65/86ycbMPY50xhtAdwxaeMQTBupD4gHEvkoYtbHvjDCtIamrl3edWnqToRUtgV1YNIGAB8mn7l1j0BEGNfEREE9Jm5kMy0KxrEbHebk5JCw+Z/zzz8/XF09/4jFq5bfM2XxvH/Pr1h3Qk3Y2cuNRPsgFM1JaKCkS0csjFVi5tpVmFu1DlMr1+DLNcsxevlCfLxsPsavXYZFXgyJnBC69++L/Q87FEk3ZSeSqf3XrFnfZ/P3YtutQW27Xds2etZ/l/4zeuzQ7e8tm7c4rkVpo7NbFDV4xk6kv1C1scmqJjZdqmtmSFXtDKmOzVDVien+uurpfkX1VFTVTlZVsQl2bXI8YRzB4AzESCOoWHKcqk2Os6pj48g7TlXHxlPuBBWPT1Sx2CQrHv+yCPJcq9JG5zUra3zmUccMfe7hhx+u/sWazQUNrwh8DUVjZOT4YJKGipe4WLNyFbx4EjYzNHmIgscYeZpEcmXeoAgBDSrM9BUm6ZDIL0w7jgPb8qNOZFW7RUsXXZ1Ir7nOt2p28uwEj7SS8IPfnUZgOI3xFMoRsSA0+D6NLRgMHaquLqYzjxBZdWDTFteBKU+q6YWID2WMNNgrEdahARZjFKwRHvN924Vn1zgSremqIjV/rahaMnzUFzc11tp4KLL9wGN+NdjVKUuEAo1Q40gMUCYnKzr+AAAQAElEQVQMsE4qiKWFuRlgIiCZvrnmDw8NT9A+tivIMdhwCV8m7hMbMGlG+QTVkVdrl28fIsI+2tSxg0zwv2bOEDbbu2pdVe/1FRUXJyzp37hHt4JWuw9SDnch8fwo4iEb4eZNYbdsggpHIeHYSIZDiEUcVEZsrIvaWOglgh3K+OWLMHP9KviFOeg/ZAgv5dsjFHIaT5o0ad//bxw2W+e2AcHqJ/Uhy/SbacAcKb322mtrJk/44pPZMyY/OHPG5GP+ffP1u9x5+62D77/3zsE33/DPnW++iUB84w1/3+XOO27d+fbb/j34+n8MH3jNX68YdO/dtw984bmnB6xdvbzvBeed/Q1Yv3pF3wvPO7vfheed2+/+u+/qf+M//zHgumseG3DDP/8+8L677xz05GOPDly6eNGRM6dMfGDSpHHT2JbYr1FEDnKglCWBDK0DwwSmRAQudxQrlq80R1SwlKLBYoYOOOte30hAhPnMEclgRvlQjp+GhHTzlq1Lb8uJ2n+CpFp7OmkZQx8YXWNM64HmEcbABpjFN+fDOjW427J89g3QvqtCYd3Uk4qzFi6fdcWro29q8mPVmzsTFmJnabwpK9OXut1I0H5mIQOagkQYp44VcTgc5u4rzXp/5HMne1CcZfF1BPUhcK2UZ9KK42MFuzqTAjdkm//OhEbe+uDjDw+vFbdzXptmVp/D90OPg/bEkFOOxqCTjkTDAT1hd2iB2sIoakKCpCNIWQou2+qx2z6b6rGPdERYnqzGrIoVWMIdjCrOg/n/cmzbCcVqa/a/47o7zG8qkjNQgsEsmX1+igao5p/CluX5HWlAn3zyyYnjjjuuime8684888w1G8OJJ564lvkV5557bs1FF10UJ09q1113dYXWlM7A3xhI0/Vp8nmUk77ggv2SxDGma/bbb78k+21sE9GvfxIqQdsmwQe6QSgjPo2UUoKqqiraS/PZb1QX802KxsSgHwXDo7ijiEbtqOXo7mkvaZtf5RUaX+H9CwLHYeQboGDZGP+o6E2QqWGxPi9V74/pWnQKoVwvFM5zT6mqWnD1S6OGt/6xisxdjtYehHJQD0GfqFJtPmUDQh1q8jBOVSulkJubmxFLtkzkp785NF8zM2F0rEkRCN+b/+H8tO+77z7nvPPOa7567bqjQ0WFdtl27ZFqkIfVvP9Yk2PBat8MXfbbDZ33HgK3IAfGYaQUkCaYtipu+gwIm+taCtWcD8s4DtPXLEMyZKFN5+1ghcLIyytoe8O9Nz/QoUOnG9u163Bdtx47nLfbbnvtNnjw4FK2g9IoIPv8oAayCvpB1WQzNrUGcszZutRZIQE0jV19HS4v0auqKpFI8iiKRktEeBrmQ/OnnofkIGoMWhAxL2MtDCawCMt4NK8peDTUojwoi0bcYl3mCCswwCxAYwJywcgO4iy8pR52QoJ6fQiPvLSVgGdV54tTe2RVbMWFb4++uexHmqJZnB3gU9d+Qwj6saEQpZOpTssw+caZhCNhaB4FbmD7iRFT3oAIB8yAKUf5hmaiQD0RmyxQttx3w32FfXr2H3DvvQ+ded31N1z41uvv/smxI2We40g6GkaV0tyBKNTmOFjjaMS4I3GLclHNeeRZNuhyqSGjJ8Cio3UINsHlPEjTgcQjFhZVr8PqVAz5ZWWw6XB9y1Zx1xu6uqLqkvW1sSuXrlh585Rp0+6fN2/hNS+++OLAfffdN7zJOrkNCso6k21wUH+vXUokEma+fcN889AGwtWzsa8+L4p9GgMRQJmLeWMLZOPeGEImTYMD2jQWM7Q6JhYUI51Ow/ddQDzyEGhaPM006oI2/Abq0lsEsT4fsK0QzO7Jp7Pz2SZtdkw8+vLsWLEK1Z60tmrRn3/oUp6bEkpQbC1lsedgv2D6a1RAKjvLt6Z5N/kmSldMJeXl5aFhg4ZAHRk/M4hkCtahDaVFxFQpkYgZxQ3kXx3ZY/AeHW7+743DF5QvfCApuD6h9bXVsdjZdiSq0tSAHY0ixc64BpTicZaFpChoy+aQC2wPoEqhOM5C4HoCNstZbGbYCcFnu2PUX0wJltVUATlR2EWFKGreAj13HixDDj5IBuy9l9WyU6dwUknbWDp96qo1625kx3oTss8PaMDMzB/IypKzGti0GlAMgIjGxkEHf2ioLAWzglY0Dub+JOCQ4P29L00jCRoEk0nbQKkZZtoOGjifaR/KVtyp+ACzLMvC14GEIEHM1SoMBOnN9xINKHDFzLsh13NhOw5EWUim2X/2Q2wtVjhVGHfXnVtVvfLE8vIRUXwr+H6IntEm1Xy2FMhyCICk4KmnBQlAhI8gj6vuktISWN/QAX5SEJENfIHKmRKlYMaJUWLz3nTwzyuvbLJw4cJL48o/M50f7lJhewXr4eauhR8xv9Lrhth/JwyxHYTsMNLJNBQsNoDt5KWIw7F0OAkcH/SzpCGjIRMzkIybf9WAMc4N17GxnM4kr3kTnHLJRbj+wftw7nXX4ISLLsRpl16Kv9x4A04+/3zJKy2LJjyvz/gJX53/7rvvFlJk9vkeDZhZ+T3k3xcp25ptQwO2bRtrFxg4EX7Q7JYxUMYwiQi6dO6CnPw8KH7kntmhIMNDNohIACZuQMSsijVIpfOgwaAgkkwWHYiGWaX6PnPFGBpFHiETpzuNDVgKNEEI4tiiQYkNJQ4dqAXtO7DM36UYYygarp9ANN/P9/x153469dN9zD8WuXHjXNfXthVhOUBE+NIwwbyNczUY8GngFeV7AY/R4059+2L33XaH8Mfwfx+Y8t+mf5smIhmWQNd1cUB8o2j8+mD+naz/Pf38HtXJ+P5rvETUbtMMvY4+FH15wb7dAbvBblGGhs0bIa9pGUBn4NMxO2JxBwKCQDieNizuSoRvppWG+eNXc3eSpn59aIS4M+EEYUwQ81KoQBqrJI2yHl2QbFCAeFEeYrx3qc4Nw2lcht0PPwz7Hn4EogXFtuvKAVdccdVeyIbv1YD6XmqWmNXA5tAAF4Wa5/bfNlI+jVMoFELzli2QzyMZ13VBxwMR+cmtEPmaV5tSlBlgkE4jA65WNRR0kK6jmThphn1zg6Yx0zx2A1sAONA6xKhDMM6OiMdyilGXDiWUK63TXtXZMWdOF3aDjc20js4Evm/iilibCAvWZbP/wZ5PyMC6gkwWtrgbiUajCIVYVx1rkPc7fK2YNi2S4g4gZaEs3LQUPQ7YHSU7dUNOj45ouedA7HTykWh7wF5QDQp5rAVwI0LXqalRDZ93IXzDC1IIRhYMLnWR5lFiytJw6Vw88lH5gFCHvDupgovp65Zh0qpylKdqsZZ8FSFBbdRBtWMh4Tjot+sQNG/bFuGc3Nyl5cuONL8QgGz4jgbUdyh/IML48eOd4cOHl5xwwgkdTzrppA7nnntuQ0P7A6lgi3aVTkK+YbvrjJtt2fA8HzY/XGVZUCIQEbg8DsIPBBEJbIKm8fgGC+kmbUytyctgMSRyZnCQCF716XocEDfby9yP+Apst3nZjFgQmkPQBCqSzA4NxsiJa1sRb0BKx078cNpdufUNMjzcBbC8B6Xq22ywAQowKGDWEBEaWKMBwLFtiFIsp4Pc73/99tQ11dVRbibbprRWDVu1QKRZGdbRB66m360oCCNWkgvdqBAxh47BovoU20wwTtSApi49OgOfToM5mYfORDPtEXzGqRgEavLpdhiJ0/mW167HxPL5GDd/JsbNm4F561ahmnKSIYUk68lpUIRmrVrDCjmorK5qwXkczgjPvjfWAIdi4+QfJ37JJZe0OfjgQy/77133jnz97ffGvPjK65//78ln3z986NBL6Vya/XE0seV6mrLML2yabQLrNMZQBHzg8WYZViaeMZaazsULjCA5/9+nfqcjQhl0GaCB0AQT5eIc3JSARiqQE8RpWAwPwFV8ADrI2/wvgWmHcSimbgWfxzM+LGgIG5qIpxAORwJ9WGGdm9KJExdNn3ak1qNs07ZUKkG/oKFo4MzxFUxnoFjWgum54TFg9CFCOhParMSpF2iTIGz6x6cTNNJ/teQq32ezee4nIum0C8/XEGXTiIeR4rFWLecJ3Sy0CHsNgH2zDHAhYnE3q7i7M3PJJx/oLCwelTquDwOW77OAD2Xo1LXlaSgtsLiA0baDuHaxNl6F+auWYNz0SRg9cRzmLl8CRBxY4TDBgSjqVCkH2fC9GlDfS92GiWaLuu++++7w0EOPPpp23b9GI+FekWikYVFxcXE4GukRq41fMXr0mOFnnXVW2Tasht9V1/htQ9H4AZJ5+NF6ZlciTOP/CXrj/I35TYbPzHpg1KxMiTIP843DqYcMcTO+ha7DqpOfBlQSkATBA61i8IRCNlLpOLRyeX+Shh1ShTqUuvTZ197rPXfuW1Yox7U9PyW+TsMyokRDRAAxCfMpG6AojSCICPMVwWAB+OB3HBo3bpzQrrcopJVfUb4SqVUVyKGqQnEXPh2tYzmwoWAcQYhqi2iFMD1zlLRcWDBpnlDBZr9tOooIz8GiLmAgTOywDDccLCMwv4DmuBoqTaJxWnRW2qLueLTlEa+rqsDchXMxYfIElC8vx4IF85FKpxCJhObbtp38HavxN2ua+s1q/o0qvu++h7uP+3LiTbbjDM7LLwjv2Ls39j1gfwzZfXc05Zm9E4nmV1bXHvPRR58cM2LECE4r/EYt3RarjYBnL9DGe9CyCcHYPcWPP52m1aBx1NAQYQ7B54oTNApGE2JehHrMKPmCt3kFwCIAGYwMVsJHgxUSiCl7QxxMB+Bn8vjeIg+NnzYNFFo2oSNRKaZ87iwUsQVlCVuVhi8egb0QSG6+1TGZWnvO7MXTG4cdLtN5YQyuvM2xDsgdyGPjyR28RQQg+PAzuUwafftcwVMh+P6gv0Vmmg+LbqALZEPc1LtRYpNFBxYPjDsqNNHyUOmuqcTMdz6CXrgKhZUuCmo95NamEa6sRR5xtCqBcDWhJo5IVQyRSoOZroojVJNAqDaJaG0CuTXJDNSloywbrk0xL4XcWBpRAwkX4VQaKs5yxGHucmw6jtq1azBt4ld46tGHsXDOLNRUV1T16dfnkTPPPDO9yTq9DQlS21Bf/t+umH+uevGKpUdqpQZECgvkkCOH4djTTsHBRw3DYccdi3MuuhC9Bw5AKDc3Z8XqNSePHDXqZ/+Pgv9vI/7ADHQlNEk2RAgQricBc0whdC4WZyIXpPC5U9DwoWj8aRMB8oEOhctxHkv4NLwaygeMYRRD54rU5CttZGnKE/Lw4Ih55IKRYUy0gqGDeQYEYBpQQICxRULQDrZTAmDd9c6FfdBsi8eVskV/wRy202ObkkjpWrHz9K4r1s7ZIxLR+Y5tifKpP01gmcBJsPM+711gHAZLGTfiUae+UE3wSeFDB6WDOCuHAZNHII9PuibNtM+AYllF/W0M4iu2SVGQKcPyphPkAdsQEDfBa/iI4enixqUfwHHGR5Xt106bjalPPYcpjzyFWY88jZkP/Q8zEe7KFgAAEABJREFUHn0KMx99FjMffg6zHxlB/DSmPTYCU554EdMffQFzyTeX+bMefx4zHiMYTJjJ+KzHX8CsJ57H7CdewKwnX8LcZ17F/OfewPznX8eil95B+avvYzHx/BFvYvqTL2Pi4yMw/tkXMfvTsXCSqVhRXt4Tp5544qeboKvbpIjM7Ngmu/bNTmmtpbx8bedIJGeIr6ycfQ84CPscdBAaNG4CJy8PEnbQsm077L3/fsgvLgIse7u33xw5bMyYMd/5fX9kwy/SgGvbQtttgKYLjGoo2iVzdyCMGKPmGyPFXGPQ6FegxUxRoQUz/BkIbBi9hCbABGJKojwQhEaPQOOnjKGjfBAEYJ4BCfJNDFs4COvLgMWYXQd0fIyBrRMeV2mtIMEPGw0XLk9UfKe2McLpk5u1LuyfSiboZxW4OQHnNDd6vikKBM5Es2+MUh98U4qpR+p0bKQiyDcqFk1egDzaqIfgQ0ugZmijN4B5pi0GhHUhCDp4Gz4TYwHDpTh4dfRfjFhQRPS++/5tdoOSsk9sT6ci1dUIL1oEe/p0RCZPI0xCeOoUOJMmIzx5OmTaNMjM2UhOnIKq8dNRNZHxyfOQmDQLsYkzECOOT56FxJTZhDkBBPSvpiP25TTUfDEZVZ99hYpPx2P1qM+x6v2xwX/HsPajL1Azfiq8eUuRWxHToViixk8lnmvfqcMtw4YNq2RTs8/3aEB9D22bIp1xxhnOcccd136HHfoe/elnH926ft26ns2aNcc+e++DivUVqK6sQuXa9UjF4qipqkbj0jL07N4debm5oXTKPfm88/505JAh+7Q2//z1NqWY36AzvhMTz06KZ6XgSRo+txgefP5otkbRLFlQvsXdhQPLt2GZQ2waNl8EnrlHoWNxTZzYM8CLA9eAoVmCNHlcximMDw0d4yLETGkaT6Kt52GztaJeHJ8OhdfPET0wr2FksKeSloR86o87F+MV2CPDJr5A0Rso6sxi3KJTslg8iPuARedqB7oVWOQLgDRFsMjnUc8uQLkKriImuErgU68udW0wa2S+0MURWIYPBObBJgvDhw/xVixfVptK1OhCs8DLtbB9voueeSn0zE1jh0gKvaIJ7JBTi86hWnSMxtCh0EIJL0sKQjnQSVWrPGeB7euFtvYX2RrlBhygPETItewlkQCsJSFLLQkrVR5WUh6xrMUF0cji4oKChfk5eQt4LzOrpqLizVUrVtxRWFB45FGHH37Bx++8s2CTdXQbFMQpsw32qq5Lw4cPV9MmTev7wfsf3lG+ePGdjrIGhGzHqa2sxG233ILbb70Vt9x4YwD/uenf+O/N/8athJnTpqOKjga+33LpkmX/mD9/5pNvvDHymFtvvTVaJzqLfoEGbM8TY+QUrZDQ2CkDvkXjZnPFbGWARz4gXWgUhXZKcQmeAZ/5PhTrFWiAdIHHFE2gEAujBkweo6AT4WNiWzUo34fDfhkQOkTbsqA9DeEP6BRAx6EJoGa00Z1YjAq4yGe/NTR8+OJDiybU40wcgd6oOxh5HvVrsAHyBTTyaR8Bn3YhdCMW9W5AfPKTR5ktJTZdGD78OnHg5+ZHwoJULQ4d0hMXHLITLjq4Fy4+aEdcfHDPDByyA4afsgv+ecGhuOTU/dCxaRS2W42IhY+HHXLY0f/62z8Oufn6fxxMfNDfrxl+8N/+eu3Bf7v62oOvvPKKg/525V8D+PuV1xz096uuOfjvV1178FVXXHnw+RdcdPBZZ51xyPkXnHvItddcd/id991zyksjnrls3qzpb91xxx1Vm66X26Yk821umz1jr7p06SILl5Q38T2vI7Sfn4wnxONF7+pVKzH+i88x7rOxGDdmDL78bKye8MUX+nPGx3/2ORbMnYuw4/Cj9S3fc5slYvE+q1evPlwpVUCxW/jZhqpLhqE8C7YXguU7UNx9CGx20KGhMtgCaAy1CHwC4MMYLosGTdGQMhcBNmkaM4uG1qJxM4ZN0bAJAfWB/HzqU1slpv2HcgHLEyiCEDQBdLSKjkMICJwIey6A0ZsmpjLh02Nr5cMTTQDM31lsiAc0Q/dZhs7C6NnX1LWmfqlzxo0+QTo/AjoZOg4qU1HvFmkO9a48DyCNL/F939SKTRGuvfZa1ueGHe6PImx/WSiJNpEKtA2vQ3vi9tFKtCW0zqlAxwYxdG0O9OpYgPZNI8i1YtpBbMlJJx05+ayzTp106qmnTjrjjJMnnn32aV/VwwVnn70hXk8z+M/nnjHxqj+fO/Gaiy+edNWFF06+6Lwzpp1+zDErzb+cLUKFbYrObeMytmlnwvNNr0OHtm81b9n6iC6dux6y/fbdLuy8Xadrunbu/Lcu2233t+07d756x+7dL+rRufM5vXv2PKN7167n7bD99ldt36XbXW1at3quS+dO/2vTps11rdq0PK5Xr56XNG3adM02Ph82a/c82xZXHEkri8YtAz7jPGmhwdNwaQDTykPachlPBzSaNpovm+AQQtBwoLVNe2nDEifAYtJaBXRNQwtSsSHoICayyexdIG9LvETYZh7d+WJn9GUppEnybUX9gA7Dh7Y8uASPXsezXfi2z6YJlHHUNK2BbnwL0DZA3Qn1E9CY/gZmHshveDQs+IE+DWZZpsE2QIdo6KlzyuZGhfqmSFLUJrozMdKee+45kXTSd2M1bI1GDudD2IvBgOMluRBJwfLTZE0jzM2L9uNQKg0lPDZ1U3CUcps0aZIZdHJlny2nAbXlqvptavrwww9rxo//7KtPxox649MxH93++eej//75Z59c++Xno68d/8WYf34x+pPbvvpi7L2ffPDug+M/+/SusWM/uX706A/P+/yLMcM++uTD478YP3b4uHHjRlDOTOOcfptebBu1erYnvqXFVX5gCH3xoWkENFxAPIi4AQAeNI2jJs2Hhg9VBwLNnQto3BSdUAA0eipYjtNeMk4GmKD5Mvck2kSEia308agDjwbVo67oXuFZGmn+GN2ANFAzNvWnjO6IhUAWKKMLXyAGU3+gzjRxPYBOBSYvADoMgyFAoEti6suojihwLMI8EWFS4DHD833ApDkk2MTBtpUX4rmeGXXPTbAaF2Z+mJngi4ZrgLukpKYDoQVzqYdwbgTGZ4YiYTLjZ4dsgV+vAQ7FrxeSlZDVwE/RQDweF9Aw+n6SRi7FtXCaRzhJqHQCIe1y1WnAI43g+jSIPle/LkDH4tJweDScmo4GBC9NGV6aUZbXHk9jfMr0oARB4NELjVAmIRDK0QF963pphGyBz5U5lQTXjXEV7sMSn4eDBBr0CL2lk/Yyf4hn4p4Poxsl1Al1ZvTlUrcG+8z3CGkeEXqkkZMaJR9cmHxt9FgXZ63UpU/NMY/jBdbpG5nkTPspJNMptkXB87XmuOpNpdfp06frZJoTQsSnvwDoOHxTt1mAcAfmc/5oywd4q64c1s+4S54Y54KKhJDQ2nNdd5O1B9nwkzWgfjJnljGrgV+pgXAY8FNpCdHg5SobtuvCGEKHaYd3ARbPu7Rr0TE4cL0wXC41fVoUz4CvkfZ80gk0ouDMdXmskaLdSaTiSKaSSJOPbBnHQaNpdia/ssm/fXE3jTCPuixuBxzlQKc1FI+ZkjEXqbgHN6npPBSSMR/xGh/weJxFPWlj7HmvoYxOGHfTLnymDXCrAfoE2mkJsHn5dDCJZAzJZAJp8icSccQTtYgn40iQFovXojZWixideC3vHWtICyy2NhrfdGrinYm2xEpxiDmClKstKB54Weyzzflh7msc868Fc7FhBU7UgmPu39I2tOvAVhEqgeWyzxbXgNriNWYr3Lo0sAlbq9IR5YgtPJHB2mXLMerNkXjv1dfw9kuv4I3nX8BLzzyPEU8+g6f+9wyefOJZPPXEM3jmf0/if488joceeBD333Mv7r3nPtxHfNftd+K//7kV1//jH7jyqr/gyr9ejVEff1LnUAIztwlb/tuI4oKbzkFg0ZgKDanQsHpcdKfpUD4b8wUee/h/ePzhJ/HEo0/hyceexnNPv4B33nwHzz/9DJ5+4n94+n//ow6fwIP3PYC777gLRmd3Et9919246857cddd9+BuA3ffg1tuuQXD//pX/PXKK3HVFVfgL5ddjiuJr7riSlx99VW46uqrcfU11+DSKy7Hddf/E4uWLIFxQnTYvlJqkylchL1Ujp8wzk8JfBWGRg60RLlLChEcOhcLlk/H4YW5i41A0ZEoOlHLU9yw8OII2fBbaED9FpVm6/xjaqA6meTVulJ2KESjoDFr6mRM/fJzzJn4BWEcZoz7BJPHfowpY4m/+BTTPh+LaZ99iYmfjMVn74zCR2+9R3gXH418D5+N+hivPvcynn7sf3jjldfx+suvYfrU6bB4l8KtCWiUAiXT2AGCrTJoMcbUQRIWXBVCmh3xLBsp7lZmz5qJaZO/wvRJEzBtwheYMWEsZk0ci/I50zBlwnhM+OJzfDl+HCaM/xJjx4zFqA8/JHyEj+hwPxj1Id5//328+66BD/DeOx/gg5Fv480XX8abL7yEt158hQ7+Vbz3ypt464WXMfLl1zHylTfw2kuv4bWX38ALz7+EWCwOEZoPDZtHiptMwxwvcfJy4UHBikSRtMKosXNQbeeiyooSR1Hj5KLWYtqP8FgrilhKzHEbPN6vaK/Gbd++/SZzblvlxPmNGs3Z8BvVnK32D6cBY3RCSsTy03DStSjgXUCpjqMpobVfizZeDdq5lejgV6GzrkEHptv4cbT2EmjpxtHSYJ7ft9QptJQk2kd9tIsCze00itNVKHSrkIs0FE2b8EW0Qcc0UhviW1PEZz88Hvho5bPZHsyvy+bwLqSYOmiMFFohjnZ+DTpSfx3canT0qtE6VYmWqRq0SFSjaaISzVLVaJmOoVm6Bk1TtWiejqO5l6Q+k2jF+4821FkLP4Gm1HULuq4WOoYWlNvMq0Vbx0NT4jJCSboaDVJVKHFrEI5XQfFozIcP6nZjVbOdv/wRoWNg8RSP6uI8xpqxrBLjV7r4fBVhjcZnazXGrhZ8vlrhsyVpfLawBl8urMByHvGllIOU5hkdsLU5E5j/+uKMM84ovPzyywunTp0aok63Otu81TWY8yz7bKUasG1fLHHFoSErtjR2774djhrUGyft0gen7rIjzhq8A84ZuCPOHbAjzu7fA6cP6InTBvfCmbv3w7n7DsYF+++KPx28B/50yB4498AhOP+g3XH+YXvi3EN2x3mH74md2zdFOFnLdbymQ1EADZPIJrNz+C2C5p2Hsmgd6YBtOpEInWk+DfugDi1w4i59cerOfXDGIOqM+rtglx44b+fuOJs6PGfnXjhzYE+cQT2eu0tvXLz3zrhsv11xOeGKA3bHFQfujsvr4NKDdsdFh34Nfz50D1xy6J64mPj8A3bBn6nziw/ZExcaPR+wM04c0gutcy1YvMSnn/NFZNMabw8Ad2DVyRQ+nDALD74xDve9ORH3vDUF97w5HXePnIp7R07Crc99imeJDvwAABAASURBVOvuexW3Pf46vpy9FIjkw0WIhbeexziRY4ce22XYsKOPe+21N6575pkR/zjwwIPP7Nev3+5XXnllo+HDh6utpTdbTUO3FoVm2/nDGnByai1Pxy3FO9viSASdmjVB91bNsV2jEnQqa4D2ZUVoS9yqrBStyhqhVaNGaF7WEC2Z36FFc3Rq3RIdWzZHh1Yt0KZlCzRr2gRNGpehcaMytGzRDAU8HslMaDGrZQjqgq7DWxvS7IGv6Bhttpw9EwXNS/SQ+GhZ0gCdGjeh3hqiS+OGaFtSRFohWpUWok2jAnRs2gBdm5cG0KttM+zQpgw7tG6E7i3L0K1FCbo1L0EX5nduVkJeQpNSdGxWhvaktWxUhNZNG6Jt0xJ0aF6GDs1K0al5I2zXtBF27NgWg3p0RYOoDceyAK0kFsMmC5reiQsOreBClI3Kmjhqa1KorfYQq/LBjRbiJk5abF0cyepqVFdUwk3GELYVfFepadOmySZr0GYUdOuttzYYdtiwcz8d/emDtTW1Nwiss9Kud2ZNIvm38vJld/3vf0/+46OPPtoBW0lQW0k7s83cyjUwYsS1oUi+1U6F7KI0HJSvrMB7Y8bj9Q8/w5ufjserY77Ei2PG4dlPv8DTn3yB/338BZ78eCye/WgMnv3gUzz++nt49LV38Bjxw6++jceC+Dt4/I33cf9zb+CO/72ET6fORYxmiL4qoy0R8MnEt9K3LRbE0xA6FtcFXN6duMrCjMVLuWqfgve/nIKRE6biPfb9oznl+HBuOcYsWIKPZ83DJ7PnY/Ss+fhg0nS8M34y3v9qKj6cPB2jJs/AqKkz8OF04mmz8NG0GfiAeR98RXlfTcOoidPx7oTJePPzr/DG6PEYOXYCPp40DRPmLsKYKbPx6qgxKF9didp4wvwuV7ygoMjfVOoVEah0UudzsRGNRrHvLgNwwTF74cJjdsPFx+2Gy4/fFVecsCsuP3k3XH/hMNxx3UW48ZqL0Ld7RyQq1prffIuGw2HB7zzccMMNhXfffe951Ynk8Jj2+/uOUxYuLgoXNWnqRAoLiuJad4i7/klTps74z5NPPtnqd96doHlZZxKoIfvaXBrgSlONePfalm6BnNOwpOByhEJNUuFcVEYLMW5tHCPLK/DsvHV4ev56PLO4Cs8trcbzy2rw8opavLGiBu+uqMa7y6vw6vwVeHlmOV6ZuQQvT12MV6YvwYsTF+K1yYvwwfzV+GJ5LZboPKRzisFzl6A7GYvCN5+AsJW9hEf/Ap758HhLRAf9SlshrJMwRi9ahWcmzsITUxfi4RlLcc/kctw6bgFu/WI+bh9H+GwO7mT83gkLcftns3DrJ1Nx0wcT8K93vsD173yOf44ci3++8Rn+8eYY/OP10bjt7bG49U3CW2NxO3n+S7jz/fG4Z9RXuOvdcbjxpQ9x/Ysf4JbXP8Yjo6dgVagQEo74ot1KravTm0q1PNYRrb2w+L643PK0KdLoXVKNnUrWoVfRWvQsXItuBeuwXV4FujX00Kkh0K4kjNI8QchKUWOpfNu2f9cjPnToUOvRJ57aeV08dmLMkYJm3bvi1L9ciqvvuAWX3PB3/OuO23H2hReiVZu2digU6X/llX+98/DDD2+7qXS8ueSozSU4Kzergal6ROjZ9y7fKZla/E+o1deWFKNPOJQKpZCAHw0hv01rRNp2QH6X7ZHTuTtyCQXdeqCoazcUd+mMhl27olH37mi2Y090GDAQnQYNxHYDB6Db4MHownTfvfdGv732wU677YHeO++CYh77JHkMJDwOwsZBb5zYeuLcjMDVLkQZ26hh8djHh+J1uY1wcSlCZc2gSxrDa9gEurQF7EZt4BY1hdugGVSztpDGreCXNIc0aolQkzYINW2NaPO2yGvRBvkt2yK/VXsUtG6Hwjbtkct4UYfOKGjTkePSAXmt2qGoXUcUtu+E0s7dUEYo6dgZDcnTbPseSEeiSLiuLiwuSAwZMoQeb9PotUuXLuKl3BwbSuWEInB4VxT2ahBxq5HjVyHHM2DitVDJdci107y7icHXBElIVbyyhDuT37Vda9asWb4l1r6uRvNuO+4gJ51zFgbuvScKmzZGUZPGiBQXYtCuQ3DUsceiYWmplU57e44d88XRw4cPj2waLX9byqZJ/66Vvmm6mJXyW2hg/Pj7cqa89clBaay+OZznDtW6okjpSoScNJSVQoMmDbDvYQdj/6OHYd8jj8R+hEOPOxbHnnwSTjn9VJx2+sk46fSTcNQpJ+K400/BuRefjz9d9mece9F5+NOlf8KfL70I1/39Otz07xvwn9v+jdtuuQm7DB7A4yCaWyUQVT+19W/R/U1SpxbAEwXfIvDsTiCwfCBKIzuIDvXUs87EmX86D6eecwbOPv9c6uwU7LTTTtjn4INx2DHH4fBjjsGw447DWRdcgCuvuxZXXftX/OWaK3HVX6/G1df8FdcMvxrXkvbX4dfgxttuxV0PPoi7H34Qdz70EG5/4AHccf/9+O+9d+P2++7BPQ89gHsffgB3P3Af/v2f29C5axcwaBpuv2FDbg+Y2BTP+vXrleU4jse+elRA3HcQsxogbjcklCBJnLaL4dqFSFv5SOgIXCtMB6ugQw58R+W99umnzqZoy+aQocePd5Lrkv3XrFq9Z5OyRs5Rw45E29Zt4Hs+HO46DbYU5y7HveN2ndGnb18kkslwMp0+5t13P9jr7rvvLh4xYoS1Odr2a2Wy1b9WRLZ8VgPf1EB5+ZjonHXTTnBDFTfY4diAWKoy7IQsWI5FIy9wfQ9wHDQobYTc/CLkFRUhv7AIRfkFKCkoQGl+HhrmRtCAF+qFRYUoLCxEcYNilBQXo4HhKyhEPvMaMt20rBGalJagaWkpSvPyaWx9miG2R2vwiI3AOB8R4XsrfGwLad+HMgaGBsf8C8qOrdGUF+ltOrdEy07N0KJDI7Tq2BidurZEo2YFaNCsDA1bNkNxs8YoalaK0pZN0Ga7NmjXpT06dG6Ldp3aoE2HFmjVrjmhKVq3bo527duiR48e2KFnL/Tu1Rs79dkJffr0Qf++/dGnd1903357dKVx23H7bujXpxdyc3JpAD2YX/deu3btJlGsMZLvv//xTnZO7hBXKadWA6NmrMajn63HI+Ni+N+EOEZMTOHFySm8PjmB18atw33Pf46HnvsUMxfV8sq+CJ6Otn3s3nv73nfffc4madQmEjJ8+PAGgwcO/ku3o09644XXXrpb+7rt6iXL5b5b/osrzjwPV55xLv550aW478ZbcPdNt+HWf92Aa666Cu+9+y5SqRQc2+k0c8bMuy677C8v/ec/dxzPua02UdM2mZjfXYM2Wc+ygra4BowxePvzv7cZM++FG11Z+2+xY+1cL64iOWGYvxvwXAXPU7DsHB7ZhJB2fViWzXYqCFfejMBimgtTOE4YIhbgC4zv0TSkIA856SA0LMtieRe0srDtMFd1NjL+Qhsx3wER+Q7tJxB+cxbhLYDvubDYfqV98OoErusiTVoinUKcx0CuY6PWS6PW0Nl9agU+d2ceQdMJ+aDRN84VPnXnA8qjrnxwNCCkQXwIdwEKFvWtwSqpVsZJM7pPJ7mbFBvmlwHMGHhJD2wEy4osW7bcGjNmjGwKRd14443FX4wfd3FNyh1Y4/uqmkI/XbQcj09cgAe/XIh7x8zDvaMX4v5Pl+DBT3hPNHImnh41HW+OnonFq2KIJ21E7YL2MybO/PPNN9/REr+TQMMvjzzySM/ypeXH1bixXa1oqIXWHiK27VevXOVXLFrirZo5x5vz+Zfup2+8lR7zznupMaNGpcsXzHOTiYQbDoc8BoRC4cZNmzTpN3HihAs//HBh6HfSvQ3NUBti2UhWA79CA3Pm3B7WhZ8PXFu1+J+uv/JU5aRyaf8gyoZr7jGUAy1m/tvwae0UDZeiowiARsumE/GJXVFIagsp2PDEgaIRCwydD8YzICLQoCnUBls0kDAmkXbOB60iNgTyiUhA5we9gbz1RDT75sGx+Jma3QmEvZa6twOxoty1OFyRhwGVC5+wnnfhvk+dUL8+9QvqSFGXSisEYEpTTeYfQBGA6tIE1AXGhVQN1mNIApN0bNZvxlAA49RE+7DppCwmlJKc2tpa23D/WojHeS3iq05JDUkoBadBQ5RxR1Q6oC9KeVdWNngX9DvxJAz9y19wLOH04dfi1Mv/ijMuvgKHHXU8mjVrATeZpAtF45yccCF+J0FEEA6HZ8VisTtrE7V3pHX6AWWrR6C9x7SXfshPxO+WROp2y/VuyxF1i+3pmx3g334yeWsyEb9du96d3Mnc6bnu7RWVFTc1aFB8xZAhrVO/k+5taIbaEMtGshr4hRrgFl5NW7Z897i3+u9aVR8GK56D4F+YNQI5xWjIJIh60FwVQ1IQugsVnHSnYek00z5Bk8tw0gHAApg0q3FLuzRubsCn6sooyhfFlTblaeUCYmSkgcCtEG30CCVvlNyqosLWilGE+KBnoeHXGadAR2F5grC2EXIthDwbdkrBYhw0Xj4NvhYqkAIMNoA63RgyjExkgpGv6JJUvW6DuAchzoBH/RM4TopjYVHXFvWvlCjbVoX5+fm0fRlZv/ptiW+FHHgUVMjjy5ad2qNRu5Zo0rEtGhO60rH03nN39BgyBNv13Qnd6WR6DR7EO6IjsUOfnlC2hu+niyzLz6eI38ujZ8+evXSXXXa5/7AzD7766COOuHzfffe6ZMjuu1x8wCEHXHrcAXv+5di9j7nqgIP3ueaY44YNv/DCs/52wnFHXXfccUdfs+fuu1x9xLBDrzz08AOvPPb4o64+8sih/ywvL39bxEyI30v3Mu1QGfTz39kSWQ0YDYzX452dD4wekkivuieUmxokjhsGTQEXxKA1QiZY8BnxaPh9OgBPudAGLJoMfhOSsXn42r6ZaSnQYkBTjAFKMLyUTYtKeR6BhgMEGk5Do5UFi7CmbeMRLUG3RLM/jBtEHwJhzxWJNo+uLPbd4hGg+adNbAGaNW6MSCgHijtCS7hhoCMHCwn1ZB6yUJhQrgoAJp+yQccBo9sATE11IIY9Ezf2SzOfGoeIwHFERaJWQWFhKESuX/2UleWnfO2ujMdqobkTWr1iJWZNmoQ5EyZg3qSJmD5+HF588kncecvNuO+eO3Hf3XfgnrvvxG3/vQX/+e+tmDRlEpJuEik3TedmE351kzapgOeee867f/j9sTvuuKPq0UcfrXjqqafW33///ZX/fuKJ2tueuy1OWoJ5yeuuuy5lsAGWiZMnZuC2226LG5qImAHZpG3bFMLUphCSlfHH04DWWl4adWHRwg+ePLV8xaTbYNe08P240jwL1lI/regAjAUj+EojbWmkaN/SliBlWXDFQVpCSKsQTVQI2hg/mLLmW9Ewb5+yXKXgEXsiyMQFaRpBl7uXNOxAjk8ZUA7LCAF1wUioi26lSLGfQjA98agaj8bdbD78wCmn4SuCk0JCxZB0YlwFHcIYAAAQAElEQVTFN+bZegiWZ9WBQHmAbXYuPP6yfBsGFOMZcOiDbXjUo0d9emLB4zi4BIN96tTEA9AOXO6EXGIPHAPPRWFRqO2AwV13/d+bwwvMnMCvCLwLSjqWtaQgHPGi7KdXUYmqOQuRmjEfleOnIjl9FlaM/gzT33gTX736CiaMfBOj33gVn733Dj59fxQWzV/IvufoaDRnpef5635FU7JFf4EG1C8oky2S1QBe/+DqprGYf2HKq73GCfstfUmLsVpaXADGiRAFjsFgHxadjKN9OMyyaByFRg28GwmAfJpsGffhApKCkiRE0jB08G1chGih4aOVAYFyTDoAX2BTpk26YgHmwgTNuMFbL4C7h0zvffbNgMcbAQNUBXzqU0gXOlpy8lLeQyQ3CioDLtJ0Cga8DLY0fPEJHlx6Fy9wRqQF2GcllGSEGgCCeut1Kxwn5kKCehTHxoLNhT+bAieiW5Y0cv7uxyouGzn6Hx21/uX/llSXLl1qlJ9+Rdz0lHxl+dG0i+0Ko+hXGsaAhjb6NxD0L1MY0NhB7xJB70Yh9G6eh+2bFaJpgYVc4dxJ1NSIxnuOg8XIhi2qAbVFa8tWtk1oYPzUx1pWpdZepkK15/iINRZLQfOHFgkZK+QDECbN9BLGPDoBP3AkIQ9wXEGIDsDyFdkFmWAsvwdFgyDBfUoSCmmCRx6wvCb4BGJfw2Ih24AGLJP2DUaQTzKCQvg6iEhdwmBCndGsI/5uUdDMoLmajgDUMhPUCqgBxd0EPQW4XWDMYd+pFeqBWfDMjsWm87A9eBax5cIleAGQFjiUDNZ0MjCOibo0zph+J6jBxAUM1K+JK1It6tGmF+EOgm3xIcpV0QLd3IkmzquoWvqP1z5M7zRq1CibpX72w6OcdLt27d5p1qjJczqWSjbk3clePdrj9N274dx9uuLMPTvjjD22w6m7d8RZ+26PS47ZBVeeth8uP/Vg9GhTghyVRI6j57Rs3ODJAw88MLsz+dkj8OsKqF9XPFv6j6aBrxY8UjR76egbVaT2VB2KlUooJb5KwYfmD20IV7HgLkEH2wJNY0O6COg7oC2bPIqGzwK8NJ2MD76Y58GncQONlSajsDx4zCK0ioppZZh4/OJTjkfQBBGB7/v0GRp8QQsow4IHBtFgNiM+QROATHtUEN/wMvVsSPw+Iz77JeAPu0HtQrFvvFCACGnKYr/ZJ8ZN6xU0bAEUlSHU3QZd8kiLWWAOFaEgdOKKfTd8CuYnI4fFAAGDT+QDpi6mDd2jAB9+8Ba+TZ7Pen06qrQkRIdqCyUcOzDmrh2ezP2kE35heOedd2obljWb42s7bf4HzmY5PrbLT6Bzfi0hju1yifNiaJ9Xjc6NfbRv5KFDEwuFuTaccBRKqXi7Fi2WDx8+nB34hY3IFvtFGlC/qNRvXyjbgi2sgeF6uHp3/A3bT5s55j6Ea4b5KpHr8yhKKxfBypbmBzRMoBFDgDUgPuqDz3xjfIj4COrsFMsKYPgMgeWERg7EPhxoIyugA76Aab5gQj1mHfANAcbg1UNAMPR6tgwh8zZMbAECwFYSMn0U6kJpH0JHbZwjUV37jXn3YbG/IWVDgp2EYprAtFLMYL8lAEXtmmKCTNrEM8DsTGTD22dME4zuA1T3MjRTp0UtW9wYefDNTsiqDXtW1R5r1y+/75k3r9l3/Phf9oeDIlYFBJ7N+RXRMeR41cgl5PiVyHFrkOPXIMp0mPdEEYnxdLUKSjyk2W/PU15uOJyua2gWbUENZJ3JFlT21loVDZfq85nquqZy4V+0Sh0IbSnSvtEdERonQj1RRILot/kMsS7LRDcjZOrfjBVscdFCC/vtSkUUjD4DB8J4KMQLdgEdhQft0dET4HsAnRC+EYxD+AbhexNfOyyK2CghUIABXsiDF/KAAFxYwKq1fKuiv6tW3jZ75cxDXxo1vAg/M3B2pUSltFhJLhKSdFg+oa697KywLhEJdqbGAYoIbNsO0p7n+iuTSeMFf2atWfZfqwEzI36tjGz5bVwDn066tf26ykV/df2qA0IRHfV5l6HN572RcTEqEBGDvgM/5FC+n/s7xX82wTQjABqdn134d1rA9OfbTdPQyNAzmlRMmH89IC8aRtSxEFICy/BwnAyHMA6OGwKM/z8EHDp41782jKUYugEj2aZIJ8MiKYhTrVS0ooOr1vwtHl9z/Ouf3F2cyfxpb088DXHZas0CLsH0lIiPocBUSRAROhANSyn45DbHnoygAX/Imn22sAayzmQLK3xrqo6GQ8ZOe7jL8rXzbxGn9mA7lM73JQ6LF7tc+n6nK+SHCL/y7+R8H+Gn8n1f2R+mZaRm3hkuxvlk4lvzWwLdisiGTphYRueGJEG+owQF+bkoIhQX5KOwIBc5kTCdCjhkPn5pEJFvFOUmiGkXQsckPJrUsKG1BVYCsVJQTkyF8tId4MSviMcW/2mOfjOMnxiEzkQHTo8FTLUGGP32Yzk2uBOh/9AQERhH6nIH1qxJM/1t3mx682sg60w2k47POOMMZ8CA3VoddNDhvYcdffQhw4Ydde7hQ4+87rBhR115+OFHnTt06LHHHHHoEQcccuARexH2PeSQYYcfccSRpx1xxNGXDT386OuOOOKovx9xxLDLDz982OG777NPn4EDB3babrvtGvJicYuMmfl3tj6ZfkvnuUtG31ITX7KvE/ZCnp/mh5tGyk0EH6/ID3zl36dTrhy/Q/4Zxb9T9g9G+D5VaerUgNkkmEkhIhDqxTiUMC9QcsMOzC4lZCswi7sHDcV8w2+A0Z/9BPVRmBhjzzsNcCcC8SmbknUIGmHWZaMmVsU7jGrFO5SmcVl96dSPP71i1NS7GrO8aeKP1ivC1vH4TEPooLjjMWdZ3yqhmU6n03BCIQgdaMpNw6QLCgtwyimnMDf7bGkNcAZs6Sq3hfp+vA/8YOwpU6bsvWDB7JGffjb6rZFvvfP42x988O9RH330l/c+eH/426Pe//cb7468/50PP3ryg9EfjXj/kw+fee/D9x8lz+3vjfrw7x98/NGVH33yyRWfjB79tzfffuvRr7786q2ZM2e/X1lZ83h5eXmLH6/91+eavxVo2HZOj1Wr5/3TDtXuGs4Ty/WTUBZtBk2BUj88bdj3H2mAMQGUEXCYOIUxLhnEGJ9vJJg2bETffDJEka8LblzvRuSgmNAoBZGt+SXUm4GgDxL0SESCFC04wLjRgQgNMA2ruScR7cFgizRSUceNnxKMrHo+ka9LilASnRgRxGA6lUzccJsJYnYLNqJRXpVwnojtQluVOTF3yaXLl8/857NvXL7dCP3j/4S654klZqfjK7bZggjr5wMEr6C7YBBhW3yfuxMf4XAYmk6lqrJSo4SZ2WeLa0Bt8Rr/ABU+8sgjxfPmLzzFF9XJdpySUCSSL5YV4S2h4yvLsUKhiB0J5yLsFGjHKVSRcIGKRPOsSDQqjhPyLd4mOiHbcsKhvPz8vFA41FAsq5mv/SGffz6+Hz/0zFe1GXRpZH86Kb/96qqFF6X8ij1dJMK+1tyR0C7RcJgqRX5e9SLk52PKwhgE4wsMoD5syISIidNIsE6Tq+tMh0gdjdkmi+1EvVNjFkzaiDQACETIX1cWW3nI9AlBn9hRmMAeIgBm8mEc0DSsxsBbVJAlmjQ/MPiO+ZVsX5tiCPQk5CUEhB95BbwsJpJhFslgQxdREAK41zFIm7nBOjWM3kPwPHNbY8P8pp9yUtBWda6v1g9NS+Vfrbcn9vixHbaf8ukWlJgmi1hsocD88GUepjOPiKkLEBEE9yUAPzHzy9GMZJ8trgG1xWv8A1T46quvFvCr7ZBKpyTEFVOzFi3Qpn37ALp02x59+vdH/0GD0Y8wYOedMXj33bHHfvthzwMOwO777Rvgg4cOxennnoULLvwTDjroIK70ogiFQuGFCxc0ogqFsFmeSbOfa7pg6dR/pL2KQ6ESufxSaXl4wQpz3MDpIhoQDyQSNv3zyzr2zVLG2AUtY1M3VzsD+VvopWE6kumjiNBBZCqWDPo6bdgCXk2aZq4mJuKzgZflAZMyoPFLgohAhHPCD1G9xthTipkTkmakfm4I8zhfIBBzDGaOw1R1vhWuOiyWWvmPfrsV9uQ4CQt850lr3/F8VxCU89mjTDsz72+yZ3QD1lEnSswERTb8Bhowo/0bVLttVzlnzqKwwx2GzQ1GNJqLogYlyMvLRygaQZ75z58aNUJJk8YoadwIDYkbNmqMRk2bolGTJkw3RQlx05Yt0b59B3TYrhMakc/I4pmwRCIRWnXUfTmbTo/mw/7oi1taTF806gYrkjzMCnk5vrisgJ8w14mAxbipmmgTP6w7kCgiAa5PB4mf+TJl6w2MKcpFukFbLYgIjWmm+ZmdmHw9+ByaTA4CmgBQG9GghRQDRAHHr//cRTLyxGxHQIfCnYmRjuDPRTlfAqfiZ0jmHbTBgohA2T58pzYcKvD2WlM97+EXP/xn31H6e/5a3nNtOhIRVqU5B02XAjGgfyKNKNM1E9kAmQwtpgEbiNnIFtTAr59dW7CxW0tVkYKIlXY9ZbbenueBTgCKRw1KcdsfdEK4cRG4nobHvbzmZYQvKvgcYTC/Hi3Cj8+Gm/JhWSEo8oBBMTz33HOMbbqHBlje/uyGdkur5l7j6YrDle2ZkxJWwOkRWKf61SaNgk/QmQ+XDJvo0YEcgRAbIPp/HhGBiGzgEtkoDoEotl0y2SJG35k6MpSt7E2PyC5ARALgeIET6P/phDDfABEf03szbD6oF6a/fjRFmfH9mrJxjFVunAziIvVydZBmY4iNA/Eh5rjLADcIZuooVio+69QO6yHmwiTl11hWTm2Pqti821aOev2gVz69MZ8CNjxaW46lFDKbDNZBWRsyN4qIZNphkIFAL74fS2b/zmQjLW25qNpyVf1xagrxSMjTnmgfEH48Fh2JmegGwG/D3EHwS4GigxBR8En0+V34wpfFz5FIk05W+BRiWVaAhSFeG7eG8ggMmzC8/eX1jStiS84C0ofbYSvq+mm2SEPYdrAtUB6EK0QBV57GGPk2azcZRJvgoa3MSNlIZKCrDPWnv+sEiQiUKLZ5I4HYOsPXPZCgP+xa0BEJ3j/2MhzCcVTQQSGT/n7+H7DV389MqohAKQ2YYy3xADAOI18xrhgTiBbG6x9hWjFR99teliCNKoTzY72T6ZXXVlTMP/6Tjf4WRSk7pGEprsMoi8V+4BGRupwMNnPGg07VEbNoC2vAjPAWrnLbr666eh3v0W0ItevzO/PZZTPRLRK4rucHIgRAmPZF6ExAyGCyc7fCT4IfqMvCluMg5br8tCxo34NZsGETBnPMULG+/ERt1ZzoI1GkRUMJ62L92hgEA4yDzgTGmZgGwgIC+s9piHyDWbPfGaAoIw8KhkP4zsQ2ZmebTL1sGwzeOIv8IJgsMZl0vsKEUFHYKBj9Q0sd5TtC6ui/Q0Q9Ba1mnxTjMPCdZgYcAdUPoiqIidu6vQAAEABJREFUm5fpKYua6PeC0csGtXwvxw8Tfc5aBMDdDUzFrFerwHF8p04l5FDwubN1fR+hCJDWlbYKx7spJ3Hliqo5585b926hqU1shEWUmPmnmABlGrqBYIyhWQcgIgAMaIA0vqA1PxoTycIW14Da4jX+ASoM8V7S95JaeIEolgqmudYavscLyrq5r32jCOHHxc/AfBT82DzDIxoWyxij4DshJMHyNIwudwugPHjJTTZmWo93YqM/GuZZNZd5qC2BnWQNCWi+hXUi+FAV33QeoINhOzXbp81qlBgmaHYoAMWOsK3muyZdgnwNkUy++cYt9hFMBn0TB6624NFYeIz72oZiJqvmub9FUBAthgImYOQpylWQDB8NTCbfIh8A34VFpQohzAFQbL/Ppa0oH9Q8LB4xUhAZNWAqoRz8zoOZMx7njM2dLa0klKWgaYiNSmFeAnDK0Jyzh4xoQ9vQJ2GepurYX9KEyCIEGwpikwYEIgqgRk1djHznodjvoVEAyyAoK8w3QGSeQLDJNwm2j1ma+vbZSl9zMQQC705cN80blyiUKKVC6WZpZ/3Vn419/u8jx/+ziZUbC/uWJ8oTDpUFpYmNSDZGRChUQyhPc3FlsCimSQZpwtHO1Pyr31kBP1MD6mfyZ9l/ggYsy/IsS2mfhs3jR2NsqGXTEPBDMx+UmfSKHwY48c0vMip+Gpq8xmAG3wo/PjEG200hZOLcEVgWPxPDE4pYH374YfDp/ISm/CDLm3NuD7866uV919csuUarVJFWHmCAbYSBb5RUTBkQBHlBvm+aj0yoy8skgrcO+hdEMy8WNStS4zBNntBABHqhAbAINo2k0i5dlkd+yqYT8AkeFeKT16WufA1yasYAkgCxCNQrmEY9BswvKwgdFUgD22HqIyJX/UNBQVTxzbpQn2byd/ho9to0S4lpr5kHpr+6rtVisr4BX/emPqaNJr7BU58weqznqqf9FGx0CjNvZeP6jSQD+P4QzGWPpfwgX8wYsQFaubCi6bBWVSeUL559VUqv7Qcr7Vjm49hI3MY1gVLwPYE8zveQs6QtoAEzO7dANX+sKnzf9jxt+8JVt8WPTdNI+qJhDKNmmhOeNo4flOfSNvv80H0IjakVZHi0FKTRcTh+AhGkYPnmGJg026GhDKn8/HzD+YuVOmrUcDu+aMmAuLv2clipDtD+r5KXaYgm0mD3CBlxGYNDcvCo4BcOfG2MoIaiYbG0z765sLnCtHiKTg5oHqf5BI/gc8Wp6XF8AzSkvtlt1AOr8KlTHQDgcyb7rFyzLsu2+QbbQSLICOCbbSFhK3lMu02fRARcw0Ooi0CDhojNHySjvu9U5HPsvkP8SQTT8I3BZykf8WQNQlGnMCcn58SmTYsPtyyEPH4T/DAAjjHqgykaxE3DOL6aWBMH46z4VlHLCr6kgCv72nIaUFuuqj9OTRKJmH+wlUdYCpYd4reg4KU56T2bcYdgcdJbNKiKVk4gnobFj8IxRz2uguM5CPnkI13zqMasyFOuD7EcQNn4taEmarVJYO2lrlrf2wolFISyRX6y2P+f0d/AYoyhSSjuOZQn3PxoVicQ9lfTIHk8+vC58nYFSNFQppQiVkhz10F2AB55fVCD0GwnyCuGRgB3bEAaImnypaGVB818iqXuAWGdYBCWBlNgHrayIELF0AGbZgfOJOiHSW050KzfQH2NJm6gPv2zsGiy14EZzwA8RCIhpNNJjls6j5OkSMMVTgWIyd8wbtQF6oFivvEIRISU4EWcfba0BtSWrvCPUF8YIdDwa48Gkz6ABk7oLBQiKoSwcmgcBUoElmVDcRFlWxZsS8EhjoiFXDqgEFdbkXAOrHAEtpMDO5SLRNr30146XV1dbb5G/JKwbNn4nGRtzbmertlN7NqQL7XIGOlfIC0wDBuX+26zBEIGTjOTZbYPNEw+jYMx/OBRntApCOVo6sNn3z06AF8ccjgAL2vh6UBfogU89WIcyJyVa1AqQYOUAEwMlJFKe+CmDxABqzOIYNoBQHxk+Im2kqfecAv4wz791s027THw69phRsuAH8y/VCoBsTSdigOPKy+fiwxlA1/vgMy4mRqFLwNEfIyEzBhb1I5FCsSuqPiawVCysEU0YL7HLVLRH6mSqkQiJLAsJQpV1ZVYumwJyhfOx9IFCzBn+lRMGPcZvvj8E4z74hN8PvZjfPLJexj1/lt4/53X8eG7b+Cjd97Emy+/iAfuexD3P/A4XnvjHVRWx4JjorxInh4yZAh+SRg79vaCj6a8cF3cW3emHVJh5Wik/TgyBhZBEPmZ36GYz9l86AaDxlsHYISJGFkGSCfBo/NI0yN43EloScHiWXmYtDAvzyMUESY4dCYOz9JD3KU5fohHYHSmOgxb07EiCqUjUD5Bh8hpExwo5gsPBA0oFUYq6cEckQhzjaHJQKZ92MqCSEZ/QbProkKzGaR/w5c22+VfUj8XBQjaT0cPzgshENuODeFWJJZMIpXm3LAEPP0MOJld95gxNGCSNF1GlgGThKFz7gHM2Bb+ca6gU1vVi4rfqtr7u29sr469StYtXnZQ2PXLol4aVqwatSuWIr56NeJr1qB25SqsW7gYa+YuxOq587F27gKsnjcPy2bOwrLZs7F41swA5kydhCljP8HUz0ZjPuOKH1lUWSqZSPQ59NCjm2u94Sv6STqZNOnx3MWxRUd5svYUy0lGNHcELo/QbN7DiMgGGZS7If6zIxSjlGxwJub7NsfeFo/n3BSwurwCbi0gPO5L0+AvL1+CFYSVhFXl5UG8fN4CLJmzkLpYgPI587GQ6QULFmPGrDmYM2cB5s9fiHLyL1myFHPnzsPESZMwcfJEfD5+PJauXA3N5WxtLIGVK1bTEAlEFNvDOgVfB8kYngzBZBjIpH6P78BEsmGmlfUrdRGTAkQkAPzSYFTBsiLCd/1TR6xPEn97XgRpsvGhfjWU+gmmJJiyhs+AqY9jA84XRs0vZrAaCOWIKAgUfF9g5ic2CvW6IENA1TzTVJxzBjwuShzbVmvWrgnysq8tqwG1Zavbtmvbd999ubj2T7DS6TOltrogL1GDhrEqlNZUojRejZJ4LRol42jGs+E2NORteBzTKpVCSzqKZilDj6M0VYsG6WoUJStQHK9Cfs16lHi1iMYqEEnFRacSe0z5avx5w4ad2PSnanPEiBHWnMpJg1JYf46vKouheDbNYwTf/FUywlwa8mv+qcL+Hz7zcYsIxBgEgjEyruti3sxF+OCtz5GqsXjkl4M1S9firZdew6vPjMArzzyDl596Ci888RieefABPHP/vXj2vnvwFPETTD90z9245YZ/4fp//g3//Mff8K9//B233vQvXHn5JTjrjFNw5umn4pKLL8T7H35AAwRUVtTg1VfeR22Muy4eF5ommzbgG07EUA2Ief0uQaSubcZiBy2k4eWOQKSOTpqIQIR0TSYhoe4xRldkI0Id/buI5UgUyfBqyuFDSuYRydDNOGYombfv+1wrsKx5tP91GzLZP/AWDoEiWJxzBAj5MqA5V0y9ph7fNzQLZvdj2kOmDU8mbfLBnboHpSwei/kEl3FB2k2px994XG0okI1sMQ1klb6JVD1nzpxwvMI9qXzJkmtCvt+8EXfth+/QHRcM7o+rdxuAvwzphUt36YYrdu6OKwf1wNUDu+PqftvjusE74q4j9saDxx+Mu487EPeedhjuPO0g3H76wbjzvGG46YyDcMNZR+LkvfqhGV1VoSV5qVjizIkTv7r8/PPPL/0pzY82mdItHlt3BVC7fSjiiy9JFqMBgMOPOkIwHzZJm+ixzK90GlND62DbFowBqKhNYMmaGsRch8cYrJKONMbdWnr5UlirVwCryuEvXwx32Xykls9FeoWBBUiuXIzEinLElpejdtliVC9ZiMql87Bo8gQsmT4RFeVzsXbJXKxYMAu1a5YhRIeheLw1f34Fj0kE3MzBrFpDIfYVW2cQEYgYYPuFuqNuGdtij4gE9ZsKzVgabJyJwT8f6k1OPRb2JhPXrEdzR0ICxSoI3wje9Fj4brAsC5aloCxkQAEi2lq9erWNbNjiGqD6t3id21SF/LjkoIMOyj9q6AlnzZg+7bqScKigVFwZ1LIpBpQWoYcj6C4+Ous4OglBJdCBuI2OoZ0w7rjoxEOnHkUhdC0kb7GgWxGwfbFCu3AavctysX2+4PA+22HYwJ5oX+Agmo7l1axdd8J773126XHHndHEtOGHlPrm2OEF66uWXgg70c8Om2vvFHztwrIVBPzmzCU3Yz9U/ifTacSNmVMWYAyNx50XaBxSKReOHUbHTh3RrWc3RKIOwnBRSp30alCMPZs2wYFNm+GQZs1xUItm2K9NM+zdtjn2atcMe7ZpjD1bleCgLq1xVJ+uOKZvdxxNB3z0Ttvj7L0G4PRdd8Lxg3bEsf174ChC/2YNEY7XQHs++vVtg7D5M2stcF0vaFOmL8Yw1UOGsrW8NZ3zr2nrjxXfOE9EgmpEaOg3yjD1i2RobvAbDgHbL3z5QTkN8xNEMy8ODZ9MHELXovDDQXNhYhZGGmwW4wnk5kYt2+bZ7Q8XyuZsJg382Ehtpiq3LbGHHXZig3mLlpy2bNmiK3J1olGJXys7tyyjIWyC5skaNKytQWEijgY0rnm8WIzwiCvMs10bPjydRspLEbswZh5IQflJOF4SYTeJQvJEaByLeOxVmq7Avtu3xNkH74odmhWhgUoWVqxces6YsWP+fsSxx7bXuu48ZyP1vvf5nQ0rq9b9KRT1hynbjbisy+WRk/nwNI8mQOBx80YlfmFU9IaCHg25pgESURCRwIgbxxLNi6JBSR6POGoR4rFdszCwd6d2OHS7TjioVRsc3KotDmzbHvu37YC923XA7u3a06G0oSNpj6G9uuCY/j1x7IBedCg74Ki+PXBIz04YulN3HNGrK4b26YFhfXfAbh3boJBNMc1p1ao1HMcBk7AtCz77ChPEvLYyoB6NTn3qFQZ+RfONnI0BEIgIEGiKqO4RMTRSqUDDX0cOeE06nUrXk34mpkDOa83FBKWDEwLg/Z1Ja0MnBHRSMy1g5AceTjGOsc02aarFg212xOLlRiJuMdX0/xX/AalZcqCBX/BSv6BMtkidBoYPv71gwowvTlq+rPzPdrKqrEzXYkiLUuzapAGaJ6oRra1E1PL5qfiAqxBOh2H7UUDlImXnoIZQHYqiJpKLSnFQCwdphCjdAXx+JIwLy0V9jUIvhqLkGnQvDeGo3XbEDq0aotBK5sbWrTxywmdjr9155517Dh061GLh4CkvHxFdvnL6yWLFLkh5sRyYj5fgOBbMws33EXyAmruUIC8o9WtemoUzYNF4G4Pj04EqpSAiSMZ4Kb50JTyeh7vMX52KY8rKpZi4ejkmV67D5KpKTOZdxxTC9HW1mLW6FjNW1WDq0gqMn7MCn0xZiI8mLcCoSfMxauJ8vD9xLj6cPA8fTVmIUYT3SZu6vDZ1LW0AABAASURBVAZGh8oKIUljZ9k2dyUuHYmGCrxmpn1s6Fb2aPbBh9EnjWRd201f6qKbGYkIzG7TVCOSiSd5z2fSPx98FtHQYtpfB5yXgA9NMBgb8sgqhB94XDfNdnmcxyzLO0CzULJs1aR5y9JDn3v91p98p/gD4rPkn6kB9TP5s+x1GqCxlFdGPnN2zbp1l+Ui3aLUS6jeDQuwc5NStKCBbkjItxS33mm4YnHC2zRoEaRUBItq0xizdDXeXbCcsBJvTl+Md6YvwvjydSiv8RDTEWgVhesrWLYDTaMs3NEUKB9FXNV3K8nB0UN6o1tpLgq8mjy/umLo7Fkzb6iqquphmqf1KPvLOV/tauWkz7LDbonlgB8qP1U6JbNL8HjsQ0KwqtN0dabMzwczdb7vSxf2VdOBAMqyKNaH51MHyRQq1qyHl2KNVgSVThQjZ83G01On4ZGpE/HA5K/wyKRJeOKryXhywhQ8/eUMPE+H8dxXc/DwR+Nxz8iPcffIj3D/e6PxwPuf4+FRX+Lut0bj3rc/w4PvfY573voYH8xcglo7yvp8xGI1SKfTcKg/EbbJ2DAIFcF2b9jEBUS2cePH0L4NmgwG6uleXdogyiQKHh6pBXhTvyhXc+xcjpVPMC0xVUhdRIL+sI/snxb2zxjnrzPJKoGZBvPxA0Ej80MFfZOD3dOUxyaQI5Plc/6kU6lMgm+TR/T/P4Ec6pBtM/+ckOa4CNukNN/sC1vOOtgO7iKFMWZTphCYwzKo6wVYxoBiX5WyIMSWZSMajSCS45Q0apF3meuvuuG9j//dxXynyIYtogGO0hapZ5uq5M9//nODfoN2v3jurJl/zdPp0tJ4HLs2aoLdGrdAY1cjQluT4scf5wdh2SHYTHv8QOI2sCgRw7NfTcKzM+fj2blL8MLslXjwo8m47eWPcMPTb+GGJ17FuAXL6FDogJRZVVOK4qdFJ+TrEI+INBr4KXTNt3HBAYMxsGUR8r1YyPH93cZPGP/gESfste/Dz7+5W1Wi8i9apVon6Hxc4QqOH6MSi2fQ/PjYLoqks3KhM1/sJhsfU4f5+wCtJVg18junc3GRSFXSyNfAhoYjYSTTFpzSVqgsaoKVxQ2xvrQU64qKUVlQjIqCAlSWlGF1UREqShqiqmER0k3L4DdpCDQthabD9ho1RqhNWzgtWiFE3UfLGkEV5ILCaXJSSCSrIOKyDZr1C5RSANsEbRETwEDjxnfdQ2vGkjC0jUCgIZrAPKEhF6Qh3D8GNMqTABR56kEY3xjAdAbwC4IxtNrUYSnEUzEkdRISstkqsB0aFhcccMFxVeynhq9NWwVKA8I5SCL5AN/EKUMbPXDwKRJayMR5qdkvl0euvvYCvoDsgeNFYL4PQGisPcPnpWFbFhKxBERYJwAh9skHEZjgU4BvGmASG8BIYYIszIYYB8hGaGLhmChPICabL0VsirN1AGWbfDAotpsFEdBZzuJ8ZpOgfVPCRoo7FYn4oqLrC3Vu+VErEtOee33s1QeMKb+VxwEUkH02qwbMKGzWCrYx4XLGGWeUvPnOB+fMnD75slLHzm3i+jK4cRP0LWuCUk8j4vv8KPjZ0SBpxnwqQDj9+S3Cp3FTykfLhsVonV+A9rkFaJubi/Y0ml2bNUXn5s3QiRf3hTlhCHnFfCksz8+DZWkA+QGZj8zhR5PjxdG+OBfH7bc7+rZviWKkrZCf7Dn6k4/v/ejjL27Raaef5nmSoxyYj9CnLPORaxg5BMoF22XaFkR/7kvL95bQNGYmQySTb5Cpv7hBIbr37AonrEw2GvHCfb/Dh+GwE0/BoSefjINPOgnDTj0dx519Dk445xwce/YZhLOYPgtnXvxn/OmqK3DZddfismuvwZX/+Buuvv4fuPnOO3H7/Q/gjgcewIOPPYojjzkKmpbKcgQNS4oBjgEYBMJ3pl4EcabJh/oQ9MXkk07DBuo5AzagnQz4IcAPA9w1QhPTfDOBTB0+AILQAkMzvjEw+Ysftsccdeoo4rVArNKDA+684hqrV67BwvnzsGj+fMICLGa8fP4CGFg0fyFpC7F44SIsWrAYc2fPw9Qp0zFl4jRMmzwdUyfPwLQpMzCdMG3aTMyYyvTkqRj3xTh8NeErTJo4CZMnTcYU7hSnTZ6CL8d9iUmMT5o0BRMnkm/CRFTVskGBLjOd0xn0/7x1oB3zkqBARudC/QtLCml8YPKZrHuCHMY1/LrxZCJ46qYa+SmHBTULGvC5CNMqbYud6LK+auk/ls9eesSor24rCgplX5tNAxyFzSZ7mxN86ql/Lv5s9LizK1avOKuB7Zc05I6kX8My9C4qRUnaQ5Fjw6Kz0Jz0Gj4/NZ8T3YPmV6J57GXzuKdJbhh7bNcOR3bthFO6bocTOrfH6QN74k8HDsF5hwzB8Xv2ReemRQjpBFeX5gtRlGHAmP3Mh2XuGUNcRSJRg5aFOThi1/7YrWtblGpXrKRqOfajKV3HfjjV1rVckKXCEFdgjLrPdniM+GKciVA+aBKNAcQmDyLCOtlmfvFKKeTk5qBpi8awQqybjxMOoXnLFmhMB9q4eQs6l6Zo0aoVOmzXER07dwrwdl06oXWrlmjXri06d94OHTu2R6dOHdGKtBYtmqFbt27o06cXevXagbg3unbtDMsShEIhNGlSxvqpOqoQMO34oX4aBiGjIrBhgSMx2DgSCxo2tDZxOhPjRPwI+aKkU2bGaIGGqw7MWHsAxx7kYIQPZbN+BICfF7TA9yyOURgreAQ6f9ZyqFQEkrIw+oNP8cgDD+LhB+7DYw8SiJ+gY/3f/Q/hyQcexuMPPITHCI/f9xAeuP0e3HnzrfjPDTcTbiGYOOFGwg234Dbif137T1z+p4tw6QUX4s/nno+LzjsfF593AeF8XHnRRbjs/Atw0bkX4E+kXXbZFVi5ag2CLpnu4bcJZuQyixdNbTPFxyfo4DcUHZhfwLBst2vKr7h6+fK5J7377g2Fv01L/xi1qk3YzW1alPk7kjGfjzp7+YplF0bTiaYF1ZWyc+PG6FtcilY0QAXcLYTpSHjuQD24sLjtt7QXfG+0CXBoUMPMUckYCv0kWlguuuRa6MCTmbbFNlrzYr00X6PIceHwaCps+UFZ0JhBeJxgIKAItO8jpAAnHecRF3coBSEcPqAn9uzaDva6BBIrE/LOS59i/Jg5SFRHAD/KBbRiaX5pdHQ+DUC9dPAzZLM222M+dp/tZQOgQho+++2LhzTBpaOBOfO2HPiikHF0AE0yPOrOJcyaMwvTp0+F7VjQ1Knnu0FcUZ+WRb2QZtsKqVSC+SzJdIgOq4THY+wwRNhn+D/aP00eX3z4xFqRnxhsH4TnR5IGLTi0SgImbgC8LwiwB8DIrgemRUOLQMMA28fx03UAzhMW+BmPhuICxHeT0Ow3CDb7jbSLRMU6JNeuQmrdCqTWrkB6DeNr1iK1hvQVTC9bAW/lKnir18BdtRLJFQZWILl8OZLMSy5bicSyVYgvJSwhfelyrJ+7AGu5w1k2eyaWzZ6BNfNmY/WsmVg1k+kpU7F23jysWbAAS+bMQdiy2EMJ+sLuQiQTDwjsfQb/Bm/NEfEB2w4jxiNlreh5QzXtXbX6iuXJWRd9OvOh/N+gVX+IKtUfope/rpOy//77F/fesd+1KxcvuqxQ+Q2ai5bdW7ZE39IylNGJ2DWVyM8JI5zj8DPyoWkEbU5oh8bD0vzI+Pg0ChaNU0R5iCCNPEkhkq6CFV8HFa+AxKsQ9kizAIeG1eclJ1jeNF1TBh8YMGkD2nXpdFxEaWiK/Dhahn2ctOdgHDWoN0o8gYopvPjMe/jww+nwU8V0boU0TFxdgx+baJgz7UBeXR0kb5JHhJ3dSJLW/LpNmsY5Eg3BcjSdhQelBC4Nv8t8s5r0uf72IHQimtw+tHHMNNSrV6/C2rVraRyoGOYY8a6bgud5TGl4NLBgObMKVXQuEI0Q7xTCkVAwDkLnwN5CFGDyID4xARsFlkE9IFM/Aj7WYZwGxy2TdpHB5DG7FTgAHQXY9q9BSGO+kcf2g71FgE2dpDP3pz7Ctig633BUo7g0HzmFuRCdRETH0bVRAQa3LMEeTYuwd5NC7E28F2HPpsXYu0UD7NmiEHs2z8DuzYoYL8ZezRsSZ2CPZg1YlmBws4bYrVEhdqOc3ci7e4sC7NosD7s0zsFuTfMwpDSCvVoUYZdGeRhA2LV1KaLVq2Bzngt1jwDwmwUR0wrZUL/FxUUynUBeXg4U9QdJqEiu28jOiV02d9bH17459sbmnJdfF9hQMhv5NRpQv6bwtl7WTLj23fs2GzN+4iVhR85tYEt+aTKJvkUN0b+4BA0SSeToFMJRGxIGErwY940BoDF3uPx3eP6uaGg0J7tP4+R7SYDOxNNpmDtDj5M+HM5B2AoTogjZeUjzYtrlRbvmhbspZ8yPFmOOBL4oeAStFEQJIiEHkozDTtSiGC4aujEc038HHLLj9ii1HS6oQ3jlhdF4582vULnaguXm0aHYEBp2TWATA5mbehy11jTkmvUIFNuKDSENs8LW8EA1wVIWMftkdi4aYDeZNhHNcmDw6TRcxhV88hi5EjAxywggmKRPo2byhRIMtiwjV7MuH1QTNJ2WiLCQJtQ/Ju7XJerjBhsSeY2TrQcoEplXnw7uUTjgXhQwx14BMB3QWbfhFh8+j8F8lSZOBgCpr48MP+ExO6a0n0CKzsPOVQjlOvARQ8NcYHD7pjix3/Y4u1dnXLBjB1ywQzucRzh7x3Y4s097nL5ThwBO6d0Op/RqQ2iLU0k/jfRT+3bAaX07BnB6v+1wZl9Cv044u/92OJ30Mwd0xhkDOuL0fh1wZr+OGfpOxAO74Iz+nXB877ZoG0rDMY5cfkJHNiOLSF0D6hA4Jzx+h5zsSKZj0KS7bGfKS0JZqXAoN3Xq+op5V7w6+q8dhw8fbgZ2M7bujyU6q8wfGe9+/Q4uW7m8/LxUOn4adxMFpV5KBpWWok9xA5TyjiSHk1RoxC06E8+i8aIRNQtqKzA+Fo2YQNPAaRohC2alHKYZjaLWycMyK4q5iGAOL1QX+HmYHQ9jTjKCmekczCEs03nwQrnwaSg1GPhRpM1qnA4ozXpcyk37GrZjB+tjxdV6jp9EEyuJA3bshP136IYSXrbnpG18+u5kfPrBLFStd2BRruI5PMVRtg9tPkYDrGJTPJptExGIyLfEaThsuzHuiqt2TQOvyWuYlFjkt6g1gRgC6cL8IE5e00cjTpPmmzxmKEsCRwPmAxpKgf3xIEHaJ6YgxjkqQdyUrZch4A8TIgpE0J6GxTZY4Jh5gMAmMK45ftS/0PEqDqyyPAgdhEYahgaOprBuBAAoygPLgONtsJFpdlCmbggYfMLPexxl83TLR8gOI5obgquAhOfCcyy4lsC1gZQjSBBqHeaFLcSojDQXE0nLhsFeKEK+ENJWCClVB4yn7RBpDiGEpLIIdgBx9iNJfSRZd4I4TTmpIM58losVOyLDAAAQAElEQVRTT67YCOYlX0H/vtGtoLPfoPy/CaEmObYBH+MB5kuM4kjng6BC1kcyn434mdJkEDE0JkTDrCc8UE++xzgVAwUfELHcImXFjqutWXnl7vsXtmY5QTZsEg1wam4SOduckIdufCh/1qxxl/Hu44wCS5WW0qjsVFKKnYqL0JhGPEzjDRpvcRQULzAUBBYNie0rfmoWNCd2WglcYk2KnybNC8NX+ZizLo7nv5qOBz6bgNs/+QI3vvY+rn78JVz2wLO49IHncfUjL+DfT76McdNmwg47EB7VCGVZtgWPHw0sG775mAkudz9aWTCBuXBSlWgR9bE/HcqwgX2QW5WErvDx0TsT8eF705GuzYPt58PRYbZYwcjUm+lz4odqmgURVqABRSykCPtAe8eYeSRDJw2QjX5MSoN2AUpJ4DiUAuih4VP/jJmoQQHNRDR3LyLGoPiA+DCOpb4Nmo5Isw4RCya4PEb0PDpTdt62qU9XI5V0YUmYcmmEzbUILFjKge9ppFNpXlWkWLcxToBQvtYueX1wMKC5G/VdsJ0gjWPt08rzItjsPEVMWkND4eeEoO8QzitlWoIwnYLP9lVR9udzFmPEmAl44rNJePzzKXh03DQ8YoDxx8dOxqNjviJMxGPMf3T0V3iE6cfGTMRjoydsgEc/mYBHPvkSD38yHk+wjOF9bLTh+QqPjZmERxl/9NOvYOAJln34w3F4iPDUZ5OxlG1wFfsI01++zEP9GvRLQOoLabDHRiYjyIRMTFN/JmYA3+Vh3SJC3cMUJvbJ78GoPDNdbKYVNMfNldpCO5IcNnPxl3e88ObVvTgvhKWyz6/UwM+b3b+yss1bfNNINxNr76FDG/zl7uuvSevkWQXwipqmU7JzWWMMLCtDM1GI8GjLhzm+0HBCFsI07iEPvPNQsD1OWH76Li2fa4wgwUx/x4nQKFmIu4Kl1XHMqKzFAu40VtohrKDBWpLysRoO4tEw1qZ9zF1SgfmLFkNoUTzet/gErb3gL7qNPM0Px2Mdmu0xRioDgDGiYT+GZtyhHN6zIy44YDcU0kii2scHb43HqLcmIVUZBRIRKB6npWgk2Wds7iAiEH7ZoomDlbtiGgw0EqZDjNU/9J1sGyCkK0shHA7TSLOHNF5KWbDpVLEhCEDZoGxGYAIlwqdxMfFACAWJCA0MIDBBiBUsylJKwU2nGQePDSPw0rRFXO5HnCKOYgF0Ogqkc7hXKYAjxdBuLpLcArhJGieXjiZlw9LMV3nQHjEKAC4abMlhfTZSsSTTgM26xFT9M4CqgjbzRwGWxXnHOSR0UEk/ggkL12LUnNUYuaAKr8+vxRtzY3hvfhrvEr9bXomRnD/vEN5bxvjidXinfD3eXVYRwHvLTHwd4+vw/jLC8nUYWb4G7yxdh7cXr8F7ptySKuJKfLC8Bm8zPbJ8HT5eXYMxq2vxIePrnHy4ygIViU0VRAT18kQ2igMQYRpfBzPGX6e+jhk24VxQWvENAicRDLfi24YPQSjiwNW1kfxi2acyVX7bM+9cutOIEdeGkA2/SgPqV5XexgrTqMquu+7aavQHHwxPxarObRR1cpq6KRlS1giDShqjqDYGlYzRPtFz0OKZ3zAK8zjBodmxPIFFsojAGIE0NesJJzFBgU5AJ+BZCRrCNLZrWYY9tu+AAa2aYceSQvQozMGA5qUYwIvQXqV5GNy6EQ7q3xm9e3RDynVh0XjSpgQfRthhbawjqIQfjE+qz7SpUxODxlHTIoaTNShKVWHv7dvhxD0GolUkikhc4Z2XPsH7r49HoioMRxdAfAfKF2yJIGwr+DFngEYbmaCpIx00QQcEE9eGl/1RYsGisxaRjCOlk/A8P+ADeaQOUBeocRpxrkp9AjLyENQJWJYFz9BJtoxMjpvZdVh05h7Hz6cTcVQR3EQuVi/zsXBWAvOmJzB9Yg0mj6vCpC+qMGVcLaZPSDBdialfrsfk8evw1Rcr8dXnKzFragVWLfOQqI0ilXDoXGzk5OSBQwKzGKCy8XODpwAOM4Qr6pAtYBdAz4S8RmXIa94Kua3bItK6HULNWyKHYDdqAqu0OXJatA0g2rwNCtp0QMMOnVHctgOK2nVAg3ad0JBQ0r4TStpvh4aEku26oWXP3mjVsw/a9eyHdj36Brhlj53Qaoe+aLNjXzTvtiNadu6BDtv3gtiRwDDXqzjQe30Cmzhw7L9PoogEZE4JKimIZl5mAnFegLt2wPAQ+Jg2Kg5GPBGHsgColMop8Pu5WPffVG7FXm++eXuY1OzzCzWgfmG5bbLYwfsc3G72tNmXFtj2cQVeMtKUl3ZDmjRCn/wClMUTyKMhMgbB8z3YnKRRGvYQJ6fibBZqRCwFY5cNBLNbNLl8ggetknAidAxeJVo4HoY0aoBDmzbCSR1b4aRubXDegO64dM++uGzvATh39144akBXtGtaSgPKsjyS4dIcSvvwUgk2weOnoikXAdS/DfZZuW2FaG+ENzJJFOkYduvUAofvtANahaIIx22MGTUF77/9Fdav9hGSIhpf82XhO4HOlXk6gO9k/myCAMLpFoDAfO8aDMI4EWuBz5/AsUAzBoiyg12J2T051LVtOzBBKIOqYDSQQJx56lPmGMz3/YAo1BRMZQaDbQiYhMYdgWNRrMOWXCCdT0eQxofvTsOTj3yKxx4YhYfueQ+P3jMKTz08Bs888jmefngsnn10fADPPzEeIx7/AiMe+5zwBWlj8PiDo3DfHW/hiYc+xLjP5qGmQpBOWqzVgYiFTDvwk4NptsczGh9sNJ2JqDSU5UJx/uyy+2CccOaJOPqUE3DcGSfihLNOxJGnDMPu3IkOPe5onHzaGTjx1NMDOP2cc/Gniy/Gny+5BJdcehn+fOmluOjSSzJwiaFfjGv/8XfcdMttuPXW/+KWW/+Df99MuO2/uPm2/xDuwM3/If222/CfW2/FjX/7O9o2b2EUGPRFqFaBMG6A6Jc8Rsh3ylHe99K/zaipIeqoniwafKhvzjfu5KBVkB/80gmPJiPRKFzOD0+nmZW0LSfZy3Li11TL4qFT9dTsDqVejz8TU9s/s8Q2yn7XXSPyxk2bdqmrveOiqXRxo1hSBheXoG9hEZrwMNxK1sKsCs2vsooGomIhl6tb23xEJHg2DQfthac4sfnhK5pDxWMpm45HceLqtIblKoS5WsqJp9GwNoGW6TQapxMocmtQEkqhYSSFkjDz6HTyIh6PxZKw7BCUKJiBcpTAoiyLzivAjBsHY0BoXQ1E7CiSSR9pts/lhxPyE2gR0tinazsc1rcP8mEjHQNGfTgJn348HbWV7AzbpCkTPxL+v/z6oj/Mp6gpmx+1BZ8GwhhKA74C0zqAjCMR+OTUBHNUlU9HHgqFkEqlAqdm7jo0DSyYj42CiGRSmohg2qF9Q2OCJPN4dMpKKYgIAbAsG5oNqK6w8PnHS/D4Ax/g1ee+xJejF2P+jBqsXqJRuc5CrMpC1ToXa1bWENZj7eoKrOLxz4olMaxbpZnnoLYiB1Wrwlg8L4EpE1bghafH4tknPsXiuS50sgkkXQroiGnGTwahgoKR91hEAN/S3N36xIKy5s3Rok17NGnRBs1btUPztu3RqE1LhBsUoEHzxihr2RSNWhlogsatGqPVdm3RunM7tOrUhtAarTsaaIVWHVsSWqFtl/bYrmcXbNejM7p03x7bde+Cztt3Q4duXdB+++3QuQdp3Tqj6/ad0bt3T+TkROiQTcNAXUoG8MuD1BUVSF0sg76ZytB+9M0CIhxzgtCJiA4B5rfsTCFx4akUEulagN+SWfyJxWxJ2lzs9Up5Nf+Y/s7Th2YdilHWzwf184tscyXkoouuavHXv134gBuvOaXA9wua8BjlwC7dMKBRY+TV1iLspmEmqE8jROvOx0LEsWGMu1kC+Zy4rvhI0nmYuDGKQuOsOKdBbDRmWWF+fBZsbcP2hfcuglxbweLuJ2RWm5pn626Cc9ysPjXSXop1cqJTJk0tNH/MP1xosV7t+zD1gnWCpteAqRMMxmCGnDDEcpiyoF0XOW4cDbwE9qWxOGW/vVBM5+RWuXjn9bF4960J8JP5EI+rcy9EkTbBgtCQCes0simIjxDM4/NFENM5Rjc89flgl7+dV8e0gWVDpC6jHtVPx0y+Mfxt2rVFp06dYPOSXERgWRaUslAfSGI0wx+82W4PAuOIxOjHNIU0MkE4IIrg08GDBsby87B2hY+XRozG0//7CHNmViMZz+UmMBfm/kMhF7k5Jei8XU/sutteOHzoUBx/yok48bRTccqpZ+KM087HsGHHoROPiFxeSMOPIC/ckPdmBfBqczF+zGLc8e/n8dF7c1BbVQh4BVROiMCxoQMH25VRIxupqdO6scRGQYlwLJgPDRELQd+Y73oe9awA5nsAzG/2+Tyuk1AYwnkV/B0R1WTmYyKd4nxyYWg+DaovacZ9eJZxTGyOzaYJ61cCw6+VDwOGX7hIok2GFg2Lci3H1MmynJ9+MDc1axcoCNhQmMCYQXVg8uui5DEpdpsEHyJJlnMR8AeV2BShSNMEHybD8BoA9aXIo0EJga4Ay2Twe9LUC+CT3WhCYHiFOxIhP+ADcAH2G+JBRMMJ8bsgzfN9eL4LbfKsmIrku62S3pq7Jr35yNmjpt6Vh2z4WRpQP4t7G2MePny43WPgwC5PvvD0v3JEDitMxu32NNa7tmmDtjm5kEQKlhNCiivYFC8/E8pGkuBGwkhFHSTCTFuCBOdviuBaCnF+kObXKRPKIS/BDiHphFHDvFrKqVUWam0LFY7CWtqUGl4GxrhaTnqA5UTh6TCneQi+isIXBa0suIS05cANRZBg/cmQgySNaooy6yFNnlQAQBKaxoWDpWi4EILnKzii6VRi2L1LWxyzy2C0iBTASoXx/sjJvEeZjtpVuXC8IljpPDq4KI/UHH7YAosytWcB/Ji1mM8yxaj5OD0A5kM1wGjwKH6sVgBB0rxMIYPJq7lTEppDRQcrtAkUx3pQBwI2m5waQl5FBk2jYY4kHMehgTf16SDfMIqQi8YAxCTSsGoIfzQNiM/+ahoJEbZNA0rYJrZDlEvJKZgi4uVg3Qob7782E+PGLGH5Yoidh7Kmzbn67gInouCEfHTfvisuvewynHfBn3HS6WfhsKOPx8FHHYPDjzoOhw07GsedfCIOHnow8gpDUDx+2oH3XCcdcyw6tuyIBtEy3k1ZePmFT/DSi59gyaJa+DxOEy8P4kUYV2ybAregxD5Bsx3sJ/vuC6gppvlWliaPzzIKFo2kwzxD0p4L22afuBBRplM+YLqswB/2l0UZs1CxtgJzZ8yEcjUURRkQMwY+KJfCOL6OZ8PhGNuwYBYgFsmifShfIxTMAToYw0+JaepdOIdFBEG9AIfOg/DHxISyTR1gP/iQ6psouRT1bxGYttJMV7O2pOko56jNvkdYX5QzNsS+sl8WYOZ1WkL8JsI8mgqzrAXNeU8JlBliOgJPHKbLdgAAEABJREFUovD9NEJOmnVRrBcF3FzKVhBJwpcaKDpOj/oCFI+ONZECpwmE3xFEgYpFwluNUH5NA89ZdcHylbNOfmrU8BJKyz4/UQPU4k/k3DbYOM+10ImooUOHWmPGjOuxYvHSv6eTycP9tBsqKMhHs5YtYBXmYR2/hnJbYx6/3Flcycyk8Z8eUphhsO1gojj4kkdX45M+JqQFE/lBTuQHOcljHvFErlS/IkziCngiYRoimCERzPTDmEmHMYOfzHSEMYv0+X4O5qRCmBWzMScRwtxEBHOTYcxLhDHf4GSU6QjmJOuA+XNSUZbJ0OfW0+kc5rhhzOEOw8AsYgOzXQeL2abyhIvlsRTadOqGXn0GIhJuiHQ6F++9+yVeeelTLJhThcq1Uaxe4fAC2kLFmjCq14WhdEOAxhfsj60cCH5J4AdMk2OMTQZAYyA0IMSUKAQwSD0b4+YRMTw0qjRQII8I06ApIYYJhj+QC+YSxIAgyBbUBZYhn0/D6NNKaz+ENHX7wdtf4vPRsxGLWbCcXAwYuBsOPHAodt55dzhcAEAprFm7CgsWzsO8BfMwfdYczFu4lLAMMxctxuyl5Zi7hHj+XCR5l5VM1GJHHgcNGzoMl1/6F+y9x/5o1LAZ/KTC5x9PxtOPvIfpX66CG4vQpEVg0WKbXYLQM3jsn2mbbUeoHjbc92GJz/YTREHqfpS2GMukmck4c4zSxKQ0X5rlABGBgKI8HzU1NZg7Zx4TmjQDALORCYaLwPoDNRqcyQC1RgDHqQ5QF8guiq/65EZlWEkddSNkHBuTmuMG7mZAK64474UOVfkFsKWEdTSE9ovgpXNYZwQe++nRYVXwG1nvFKPCKUNlqAxV4QzUhEqxnmVr/ELU+Hk8FQgjkWYl/C79YK4Ww8hTaBDI99O5UCiE2T2CCw7te7D4jafdFJRY5AWURQeDpIgVb+P6FZcnq5ad/ebH15dSavb5CRpQP4Fnq2eh82hb1qDs2qKi4tcalJS9etNNt73w1rsfPDf688/vcZPuPo5YkZSvsY47kS8XL8YbU6dixNRJeHbWDDw1axaenG1gJp6cNTNIPzZ1Jh6YOAP3fzUDD0yahQcJ9381E/d+OS2gGfp9zAvwhBm4b8J03PflVNw/bioeGE8gfmjcNDz8BWHsNNw7ejJueWs0/vbsW7ju6Tcx/KnX8bcn38S1T74VwHVPkU4YTjBxg4cz/zrCtaSZdIb+Jq556k38lTKufvotXPX0SFz1jIG3cOX/XsM/R7yJfz/5Cv7zxIv4ZNxMVFb6UDzKiccFn4+difvvfRM3/PM53PWf13DHLSNx8z/fwe3/fhfvvjkR8PLpVCLk52qQzhN1BmJLTA5NY2Wg3gCa+Mb1bkiTQUTDUj6Exk7YWkAA6ABELNgqF5q7r6/Gz8NHH05HOhVCfkEpdt19b/TtPxhNmrREUXEZysqaIp32sHL1SsxfOB81sWrU1sZQVVmLtWursHJdJVZWVmD56jV0OOvhs42hUAhaWVhdUYGGTRrjmBNOwBWXXYUduu6AkBvCsnnVGPHEKB4vfsG7mBRbFULK1SzD4x3uWn1R8FwfFAaH7Vc0eGpDHwSAAX6yNIZBnN2SgCbIBMpiOzJxQNEZKsuis4xh5cqVEJEgS+Sb2BA157/B9SCS4QEEG/SLr4PFfmZSbEQm8iPvelma0nwuYmj8uXBSXhnvo/IxfeI6vPXqBDz0wGu4656nMXb8TMS4+KlNA+9NmINH3puEh0fNwGOfzMWTo+fjGcKzY+bjwdfG4fYn38Xtj7yKLyYv5m48j+MVw2uvfYInnxiJ114ej9EfLcDMKdVIVhdDeaUE7ry5kGOvAJ3ibsaC52nqKoRkwiNWsGyOhIo1zcnz/rS6csk/Xxr1r+wfN/7I6NZncWbWR7dN/K9/3V182223X29HIlc5oej+IvYBRSUND8nLLzg0pyCvT8pzo8mUy8WSgp+bj2W8pF2mbCzhsdYCK4L5BnO1uMiKYimPngwstnKwiBfdi0lbEs5FeSgHi8m7iMdUiwwmLOQdySLFnYUKYQFhjoQwy3IwkxBgsTFLHMyzQlhKGfN5UTg7JZidFMxJEAxOWZhNmJmwYGBW0sIsxg3MTCjMjCumVYAzcQvzUg7mJkKYk2R96RDL25iZtjGHMLtWYx7vSniPjHjKhm3lwqM828rn4BeiuipECGP5EkEFz+AS1RYWz1+P90ZOxMJ5q+HRiYjvcOUbIn+9gWB0Mz0imTrqjZmIQEQC42Zoxm5qmmRAYIJ5C1ebUH4dxUxvQ9XMJphdCXWydpWL99/+CvQPgOSjz06D0XPH3rxUNnoQ9OrVG4ccdCiUclBB5zF79gIkeQ7pcExFBIrSHa6coyoCmz9+2odP2b5tQ+dFMH3ZIpRXrYOVl4PtunbHlRdfhcP3PgIRnc9jLxvvvvUlnnvqY97X2AjbzZDiWLm+ghYfEA/B6p3I5pzRpDMDYJ0ZQBBM38GWZEACGgsS+2w305optgnEtbz3M/8zoudRKDm+8ZDVpDP6JDMTInVExr/9GD4RYR0KmZApk4n/+NtmuRCdZrzaRcRujPWrHIz436e447ZX8OorEzCWDmL6tBWorAbELkQt59rns1fh9Snr8PKU9Xhh4ho8M34Vnhy7HE+PXopH3p6B50bNxpuj52HxGoErDbhDzMPnn83CJx/OwHtvTw1+s+7e/77FXeHHWDS7lse9JfC5U7fEgsddiXC3ZLNN5v5E2RaPwFKwbA1lpyXprm8YzfNOWrd24dVvfnBLS/b9hxWDbKifEdukJszgP/PMg3vl5eftEU8mnYLiIhQ0KIYTjcKOhhHNy0XDslKUNm6EvAYN4PEuJKdxEziNmsAvKgMaNoZq0ARWg6YI10G0mPkNSwHDT1leURF5i6BLGsIqJZ0YBpjvN2wQ8Pnk02UN4TcqgS4rgU/QdXFdUoJ0QSFcynELDX8pdFED+IUNoZkOgGlDC+LFDYEASqAblECKCQYTFOPIpYw88uSxLQQvvxG8gjLKK4NwxW03KIOVVwAnN5ddKEGjksY0og2Ql9sEER4hFBU0RSEhN1pKp0FZbhEvjxWmTZnPj9BCYNxg/aL5wvEIytXjIPEjr3o+kcw3HKRpRUUyaRhLyfImKfI1zRgI1BlarYVcPrSmIeWK3nNtzJy2BKtWJOHYDdCieXv06NGb+QrhcIjxrtiuYxu4XpLGxg8c6Phxk3jv8QaefeY5vDjiObz+8ot444UX8fJTz2Lki69h6ldT4bOetFJQnFsx7fIYbAGmzJ2LdTUxzrkyHH/i6fjzJZeicePm9BX5mDh+Je6iEf303XlI1xTC8gpgHLXmPYUTsilP846AnQseY7B9xrygL6ABZALGv2iTBROEL40NamDKPCbt+z7pgnps6PUglAiCJtTT/j8sImBX8XODcWYGbJUH49CfeOQtfDF6Ad1xA+TajdCoYVuUNmiBBsWNUdSwDK1ad0Lj1tuhQZtuKCQUtOmO/NY9kN+mBwpabY/GHXuhWbseaNG6C9q37YLmTVqhS/uO6NSuC1o364KiaBvkOq3gx4vx5WcLcO9/nsWokV8CvE+BH+L4R+B5PsfeB5WPcMSGx91gMpWGZVlwwpqarnRyCpJHVyTmXv/q+1dtr/VwhWz4Xg1s04q5//4v7eUrV7TSQMTjR9phu04YuPMg9B84EIN32RX9Bg1G30EDsWO/ndB/l10waNfd0av/QMIg7LTzEOw0aNcA+g0agr4Dd0H/ATuj34DBpA1CH8rZachgGOi9yyD0GjwQvUnrw3gGD0YfXnTXQ++dBzC/fx0wHvAPxI4Gk6/3zoOZNxh9iPvsvDP67rJzJj54Z+xUD6SbeJ/B5Bs0CH0IvYP4YPRhX/ow3Z/pgcQDBw/CgEE7oz/L9iPuTZop15v17bTLAPTbZSB27N+L/e+LXXbdm33blXcGQ7BjH+pi4AD0J/Tq1RdKchBy8rBmdSXctAvhNPr2kQhJP+PhaNRx659qwFipCF8sZ0qLSGAYNS1phpp5mzxaBsCnZDoObSDI8pFZ8QOJuI/ZM8rZlzB83l9t36MX8vILYSsLTejgO7RriVEfjMQbr78IS1waHAvJeBqTJ5n/WGoaJk+YgInjxmLy+HGYPO5LTPlyItatXgvNXYCmQ/nwo4+wcuUqGlsL1fEYZsyfj7nLliNh2+g3ZBD+fNklGLLrfsjPbYKVS3y8+OQYvPn8eCyeU0uHUgQ/FWHb+FkKQbGf1BF7w3ed0UOacTpGGAADc1kviYwHnYWmIkQEIhKQLfbN/CagOfYiEx8y8F3/iJi0BEmRDA4SfG2cFPk6T+TrONm+/zHt2jiHfRI4SHA3/PqrozF75mqILkCH1tvj1JPOxqUXXoYrL/sL/nLZFbj0okvw979fn/mbl1tvwc233Yobb/sPbrj9dtz03ztw8+134N//vR3/vesO3HnH7bjr9ltx/53/xoN334aH77mXjvpe/OeGu/CXC4dj94H7oSS/BeJVCu+++QUmf7kQ4L2K57IPYiFoJsfa9eIA22hZYdCfBHGtklChmhwVrjq41ls1fOSYcK9Ro0bZyIbvaIAz9ju0bYbQosUqpT3PESUmgF8XbNtBKBzmqiME81tC4bq4zfNui6uRcDjK/BxYdhiW+TXLcAg67MCLOvCjNuegBURCzIsEoBzyOfVx0hm3QxEYsFjegB2KUiaB2KkDm/UYsCI5UOEcWHWgmG+FcwOazTybK107EoUBi9gKRxjPQSgnD6FoLuNf59lBngU7SghbcEIWbMfJAPuAkA2Q7huICJDDDyliQSyLvGGCgwj76YQVItylOXYISoWQ5pFbPJ5CKpWiofIgyqcRwP8bjFEzBr8ezMo4EweU4tQzNqxOykZRM0ysRxNLgDNlNI2/3pAWEaZ9lpaAxgg0V+CmTqGBsCwbOrASisbCB9lhXmtWrcfKFRXQvo0oddimfXtAa3AJysvzHljMy/aHH7obSxbPgOuuRyq9FqJiCEd8GvkYd3IN0b1rN3Tt1g1demyPdtt1RMs2bYL+eLEUZnGX8uFrI7Fg2ixIWqM2kcLCdWsxdflSrKyJo1WHrjjhlNNwxBFHoTi/BH4yjHEfzcELj3+CCZ8sh/KacOdSCF7jIaU9NlkC2SIC0IF4Ph06j8KUJXT0hgbyUJfMFyEG+8v+mLjRm8/7AM/XQRe19vH9QZhveDJQz6Mpx4CIQEQCsogEcTOvDEGEaSV1Y0E9kmjephyjfIRgHoHAAnicu2D+SowfNwduKoyWzdvihOOOxwH77I0+O/RAt+06YPsuHbBD967oveMO2HnngYT+XNz0xaAhA7n46Yd+XJj1I73nTr24+NkRffoR994eO/buzmPFtujerQsG9OmLPXYZglOOPw5/u/Y6nHDMCcgNFaBqrc9dymxUrWNf/QiUsuHTmWr4YFcIQl0oYtIhMItQXyUgTiwXqmb/9dXltyxe96/WqEIAABAASURBVNrgrEPBd4L6DmUbIszlMQMniyhOCjO5HRoYpcykBieMJrUOcxYZHstSsExcANuSACxboBwFCWl4YYFPEFvBURYccQg2HE7IkDJxCxYUbLEIxLD5wzh5Fc++aYN5nC/gvIU5Hgdp4IpWsYywjJiWBtgCDI3GUAiAAIT6uKZxCP7hQe4UvLQXbNV9z4fPjz8taa5dUzSgGaNjfiXYsYRtVLCVgmWzhXQy5m8IPPGDj4VdRjqdhBgjZQxWOo36kEokYFkOuPuHUjYchw6IxzhadD3Lj+Bv8pgxYBN/mH+jTMO7gZFiMmlG6ogiEowhjGqwEZ3R/2PvPQA0KYr+4V91zzxhc7icI+GA48g5q+QkKqKI8RWzopLTEQ6QaE4IKCAIikjOGe44uJy4nOPe3ubdJ810f7+aZ+84FH1F/auvfrNT06m6urq6uqrD7p1hptFdCeOKroEIEWPwMrrA3UmRjsKjT/9+SFemQHQM6NcfjXWNmPLqa1i2cB4Cm8dhh+2Kj5xxBKrqi5TTFjqUEu9OurD7bhNwxpln4BOf+yROPeND+NinPoETTjoF9XV1iLryWL1wKR6+57eY+uIrsMYiH0doau/A0jVNWLupBZU1NTjtQx/Eeed+C6OGjUKxx2DVwnbc8aPHeXz2Jo8V0zz7T8PaLAzv5iLeySQQRUilAogB+eAqGuVH2AEFaCgqFzoU9D5J2sNQ78s5vhwkX8a3jSPjSd47PzokIrItszwOgNE86o+IQETb1PpSxmMlkd54OYdfpjkmzoV4a95KFMh+NltNwz8e43YeA+uLdKydSHGSVKYDeFdEW9sWlIqFBJRcIS6gEJXQ2tWJzp4ceN+JNh4jNre2YnNbC5oJuajAsk7kWK48ZisC7DBmGD732c9gzwn7QqIMVi1vwZqVrYBPo8g70lgXIdoADPtiyrwmaTAtSBZBnBe8R0nZVOEgn+q4oSn/5FE/m/azEP//s00CKrltif+0yG677UY9iTqstQwdli9fjtmzZ2PuvDk8tpiFeXM1nInZs2ZgztyZWDCHZTNn4K2ZM7GQeG8xf8Gs6Zg/ezrmzZ6BuXMUiDd7FhbMYvhH8BbzF86Zg4Wk8xbra5jArFlYOm8els2fj2ULCFvDBfOwlLB4/jwsYbmCxhcxrbCYZUveBZYtXIDVy5YksGb50iRczXDlssVYunwZlhCWLVuGFYSVird4GS8fl2L1Ul5ULl3BI5XlWLtsDTauXo9Na9Zi/eqVaNqwGuvWrMBy4mxYtx7LlizDmjWrUVmdoSHNoaFPLUJO8pz+SwC8oPx7dUUn6N9L493rU6VptJIytV+JsRR45jlnke8qopgv0ZnEGDp8KGzKoETDVVNbgxT71d7SznuSiMa3xCPCnXHUMTvhi9/4AHae0EjH04lCvg0P8r7kmWefwfrNa1HbtxZhZRo77b4rPnTGxzB01EhkuOu0ZOCFp57BvbfdgeZV68DbXBR6YqxcuRHLV65Ge1c79thnAi6beBmOOuoDaKwfjGy6L55+Yhp+/uMHsWRBO3mtQk+HRcrWk58sDVuKhg0olYqJUweNObZ/thlAwDs17gZqUBWF9p31KRBNJKDlSYQfR3j3t5fknxQaQzkz11il6Uhb6TnmgHHNw3ZPGRcwoC/A6lUtEKSQClPYaefRqKy0SHOxFnLh5ugM2tqb0da+BXPmzcbrr0/FiqWrsXL5GsybsxBLFi1Dy5Z2bNiwCZs3tRJa0NLcgfXrWrCQeG/OXIC5by3G7AVzMWv+HCxdsRxtXc3U32ruBj8EIOSCAti4sYPcpJg2sMYyDOC49HPkzHNRBUTwlK8XA0gazgfUE49Yuo3N9EzI+Y3X1DUvOfWFF+7I4P9/EglQUkn4H/k54ogjoj333PfVQiE/JxOGpXU0jiu4W1mycCGWL1mCpYsWMVyaGNDlS2iIFzNNWLb4LSxbtADLFy3ECuKsJKxauIirR4XFWL54IZYsUVjA8K1e0PhCLF48n7CgF+Zj0SKmSWvRW3OweP5cwhwsScK5WERl35q3eP7spEzDJYwvJWh80fxZxHsnLJxHRzZnOp3fdDq6aQnMm/kG5sycRsc4E3NmzcasGTMxe/oMnu8Tpk3jOfF0zH5zGma88QZmTHkDs6cSpkzllv91vDHlNUyfNhVvTp3CcBqPIEhn9jQsXDyNK8EmGtwe7DRuCDj3Ybiz0R0QzdV71pnt6yXGTv4yCZEyQm/wl5F7S5Maajm9g0cMJM6Eau5DGMmgu6uAYtExH6iprWXoYUOD6upK7vB8smvhQhUVVSEa+2YgqTYMG5PFmZ87GAccPhbVjY7OtQ2vvvIUHrjvbsx4cyqK3NVV1VRj+JjROPbUkzFh/30QVGTAbSrWrlqJx3/7AOZMfh25tjZYa7ClpY1GbjU2bNpCZ9QHnz778/joWWehod9A8liFFYtb8Lu7XsArTy9GlKtBHFXCE6JiQCdhYU0KSRf1w16W++hRHpNymHyTcmG+vpqj4XuHrbuRrTVFBIb9UMrWGDBJ0BT+l8egWIgRFWP2Ic3dX4C+fevhXAElOhEXxygUiniKTnjSdd/BxRMnYuJVV+Haa6/DtddMgv67YNd/5xo89PvfIuD4hjzyi3u6eQ/yGG654QZcc+UkXHbJ5bjosktx/uUX49JJV+DcSy7C4888hYhHhmN22AE9uZiLBUsH1MkFhYP+8p8ubEgO4IJDO+DFw9ORMEOTlLWwfwH7bDn2BdhU0YaZ4oQY7Vdt7J7/8Tmrfl2fIP5Xff60s+ZPs/6zci644JtzRgwfdnFVZcWkinT6mcpsdrYrltYEnIEpa/n1yIQhMqk0QhrKTDrkKilAKiTwSCHDMGsDZG0KlSaNKkI6CJEi3h9DSPwsjUhFZZaXupUJVNdUobq2CjU0NjU1lUlYW1ddDplXy/I6lm+Feqa3Qi0N3LtBHXEa62u5mq1Fn4a6JCyn69CXRzV96xuZT6hvYFiPRuI01Nehvr6GuHXo37cR/fs0ol8d43X1qCcf9bXVIPtcHadAscAGRWQquzF4hMGxJ43HzuMHwoQRJ5YH1EpCGL63V42F1haRhI6IgC+JCOHdXxEtE+KV4d2xtsvlsSAx4dWR9K4uAQF4RwIesfR0RYgjciEWJgi4GmUZLYoJHIxBwpexFinqAy0WfJhHHHagqjHCSR8+EKedcQgGDQ+RzRaxcdVSPPHwg3j52WfRurkZYTqNvoMG4aD3H4nDjvsAGgb2Qykuon1zE6a9/BKeeOgB3sWsYhuC7p4IK9Y2YeZbSxBUVeGwY47C17/9TRx08KG8N8mieU0JLzw6B7+562msWNICcdWAy8JFIfkMAe0T9PH8bAWHRFzMEUL59cQ3sOzT23nlkvfy3d6hiAhpWoAEjWWoEfwVD52bOhI9sqO9hu7gqqqrICIQGNggjdVrN+Gp517ErAVvYW3zZkzjLv3Jl17Ew08/jadffA4vvPIi7r3v19jUtI7zFdypLMBdv/olnn76SUybPh3zuAB8gycOr3Oh9tK06Xhx6lQ8/vzz2NLZhbq+/TgXG+i8hIuGPPU9pENju9SW8g5OUH7UmWyVKViqoHJkOV+XHPPmDILOsd62XDFrzuQvz1hyf192j6X4r304ff6z+667k8mTJ788YsSwSUb8yQ01VQfts8ceFxbzPTz08Djy0ENx1eUTcd1VV+KqKyfi6muvwuVXT8SV116JKyZdiYmTmOaq6IqrJ+FKhasmYdKV1xAmEf/qbXD1lZOgcMXlVyKBiVfiyolXJaDpS6+4ApewDYWLr7xyu/gVuGjiRFxMHhQuuWwiFDR+6RVX4ZIrr/4TuPiKK3H+pZfjAuIqXHg5aRAuJlxy8SW49OJLCZfgoksvxkVcoV1IuOjKi3HhFRfhgsvPY93z8M3zz8G3zv8mLrn0Avz0Rz/Gfff+Bp/51CdBawUjRXzow+/HxElfxDfOPxUfOHEXpLLd4FznCo9m2lsqzXubNzo1Y13yMyIinKAeIkpDgeTewyvyv9TRdiQCuLqURMMVnzzHIVfFjsaE3SSOpSHU0yBhES048QEbsgLpa35lTR0cCTg99khFcLYV4/cZgM996XjsOn4ohOf8pa4OvPHii7jvV3dhBY9XaiurUdtQj9323gOnffyjmLDv3tzdGHQSb9nSt3D/vXfh9clTuMI1yJNF+hTMeOstbOJ5/9hxO+Hc8y7A/3z6SxhQOxQlHnHNnLoMP//pQ5j6+jyuqEMUCx7WpgEvZYA+nh8FBny9WjXRTjHBN8XFUkgQ9ZZMv5dXhO28S4WtxteQ5p9B+aNaSoey5d1eXPTwvC+0lL+xARz7EnM2FksGLe15dFAoXbwPRDqDVN++yHEHGffrhx463UJ1NZrh0BQV0cFjyaXNTVjV0YouLgzy2Sw8cYVHlpb3UnnS9plKlGwKRVjYVAr1jX1A8SAqlTh+Dp67IRdFjMeAjjP46A5FdVyBSRsYthhR9wswRqi3JoFUJpKSbB4cZvPfmPvWK9+447cX9iH6f+1r/ht6LiL+xRdfjNauXZubM2dO96hRo3riYglhECKVCnmkkaUBqEMNV/u1VMYEuJKvrqtBDdMK1XW12AZU1moqa111LepqalGGGtQyv5b5NVxtVVVWobqyEhUVFaigklcynq1knGFFL2S1jPFqTpAq7g62B82rrKpEFcu17juBtDmxqglVipNAFTReQzrafnVNJY9uNC/L/Cz5yCSgNOvYrwH9+2LMmFGYMGE8Djpof+w2bmcMHzoi6UMmC068LtQ2OFTVlmCCbkhQRC7fhZQapcRQCf7XZ5t9U1yBc7R/zBPDNA2IQH988oUTqDJqDpjDYs1KbCaLwJrMdeCCgHGmxJXLNCXCr4eBh9AgeC57XWwgNCDimIfyo0bW9RoKHzkY1tOaUYF9ZEREYNMBvBiAhiiXzyOiobEmgHiPdFooiy70GxrgjE8ejlNO3w+N/R1s2IN1Kxfhvrt+hScfeRTdbR2ozGQwYMAAHHvC8TjymGPRMGAgDGl2tWzBK88/h0f/8BDaW9t47NaDQinG2qZmLFu7Hl2MH3vyqfjCV7+GnXfeFRlTg3xbhPvveopHlws4hhU8qskn/JVlZCCiPQcESMBpH43AA2D3EXDMMtRBk4ybYe5WTEYTrO1DjZdBQIekjeCPH9ZXWiwzJOc5FpxiRGK+tp1wockYnuMB7hK9p/FGBBdT1iZOdgQxUUB8YyzxBJZ8lmUeI0xlMWDkCIw/6jDseuxRGHPEAdj9hKOx69FHYswhB6DFOtjKKnQW88i5GMXQYo/DD8Guhx+MXY86FDseegD2PvEo7H7UwRhB3U5xPDI8NTB0QNotMSEdikdgUrCMYyvPePvRfgEezpFntifGQ0ExPPN7CgXeo6WZl2uwYfcXgmz7t+9/7uLB1DMKQrH+u4Cq8N/VYe1tJpPhLGGM1o26DP3XU4tcZaryOCq+UBXPqGKWAAAQAElEQVR8FEO4ihLiiI9h4KhuDs446n8MJKHGy+AkhoLmO2HedmlYKiFpWO9hGG4DbYtp4dnvVgC30G9DnLRpeaCrYLYLhXHhJEIcca5GNHYxaTs4pj1p6iQPrSDFo7tsOoXaimoMbByAMUNGYscRY7HHrrtjnz33wridd0JlRQrGBDRUddB/QgTgxA9ygOnmlCmAk4P0BaHhpOdKTigTSo+v6QUGxAQcEtmxnyLCuJTrMu6dkDaly7LYE09nNKt5xsFVqrDcCumxHGIRiy8DBMkrDoZtiLbBUNE88R0NGl+wIVj2l4yCI8FkCOHRlvJqSVYNAmyEEmXjxcIQt1ToQZoG3lIJPFfLQrqWyBx2lgds19HYACb2sFw5q/yNKcJLGzL1LXjfyWPw8c8fgfH7DkJVA1AotOKlZ5/EQ/ffhxULFiLFPtbV1mO/gw7BKR/5KHYbvwcdezWK+Rzmz5qOB++7FwvnzkWuO4cC7xHWNW3BolWr0Uq+xh+wJ7767W/gxGNOQ11qAIK4ClHBoRTlyJsgV8yBYkOJY6EyMGIgTigHC+HgR8yHYY8o33QmjX5c2UO0nHjsr1Bo4tlFClIoUy+O/WIG9LEJHWYwZJ4jEIcJLSSwBusDHBESMZYSV72lXMGLakAAxU92hzG8cRCC1zlBPEd5gqMUUX9j8inkXXVWy0sl6h0duCdOxJ1Jd0WItkqgu4ZhykPTueoMmkp57hQ8nW2Q6KXjuBbJR6k6jZ6aNIr9qtBRZ9BVbWEbasGJgJBsWct+EteRT9bmYsHAaz8IZJR8E4lfChMqE0eeIZ76pDLQXrE/zBMRWFsB79JAQMGn2xtsdsvZ3bkVVzzw8nljvL/f4r/sMf9l/U26a4wRPgD1RozAc0JpwggzOHGE6SruGkYOHY5Rw0dg9IhR4G6GMBKjuVoaPXIURo9mfNQIjBoxHCMVhg/HCMLwYUMxgqDh8KFDoeEIDYcOwbDBCoMZDkpg+ODBGDFkMIYyfDcYPmQIEmBdpTly+DDyMwwajmDeSLYzasQIjCU/O4wahR3GjMHOO+6IcTvtjF3H7YLdx4/HXnvuiX323ht703HsufsEjN91PHYYuwMGcqVcWVkBEfafE19oHAwdSsDjgoirR3pSljkAOol6QXrDJI9F7/I6yk+zRShLRihrGGMhMHBFUlOSLDMBc4xHGIIlMcFD5S9iOHcDmuEQAX8sJ30gKYCOAQghBCshrAmRsmkYGkYDA0+nUORuJGaa6wAIy8E4RGgwIhhrENMRehpX7SMEiGnMdKytWGzlu8TjFREDsJ7iEg2iP5QPkofGiEbSoQDYPEbt0Acf/MihOP7kvbhL8TT2W7B86TxeEj+IF559ET288K+gIx9K3Tjy6KNx8mmnYQDHNSatjRs34enHn8Jzjz2FTSvWIywJdzVdWL5sJdZtakLtgP742Cc/jS9+5RvYcafdEAZp5QQRd9Vvvv4GVixdhtCGcOwXlF8jECsAX/0FBxFGAFiOaZ8+PN5h/E9f2S5Lx1eTmqewNa7hu4FnU54FHiLCcRPGKTs9HlLZc+zgQyh4n0pCcGQB4ZxjkvPME0CdYXUGDlEcJePiqJPJgoJ9SkhxTLwxcAT9W8M8j6ks8zJBCimGAtJj05ERRNZyOURgfmwsbJCBlQCuFFN2HDdtUyuIB8TBmxjJ8CZ8W4D6xEwI0wrQQm9QDoXlCqwLz/GmUhsHSIQg42pNGH+sq73l2t89PXu//zaHQgnhn/b8OzUkIolCO12GlvUCOgFVufX/BOnbpy923XXXBHYZNw7jdh7HY4edk3Dcjjth3NidsMuOO2OXncZh18R4j8N44uy28y5QGK8hDbqGuzJ/dxrxPcbvjj12G0/YHRN22x17jp+APQh7TdgDexP2ImwNNb7HrrslfyC3e2+4G+kpjGc4gXQ0X9O7Kn/kQfnaeYedsMOYsXQ6IzCYTqofLx0b6htQp8d01dU81ktBhH3nRNC+e/adi0OmPCIaUh0jZsEx09HwapqzqBwQizOsN/7ugeFkNoaTnvV11bkVq6czh1VL13J1DXBhh872diyaNweLZkzH6oXzsXrRW0lafwNt+ptvYOaUaZj1+nTM4SXqnGkzMW3qDEx/cxZmT5+POTPmYcHMBZjy0mt4/unn8OSTz+LRx57BlGmz4Glwe/JFzJ41F5EaKRoG7aelgclkM9Ajx1JUgvYp4hFJMV+Apw5o2Nbehg4ePWnfS8UiArHEe+erdkVzrElzpxVBbAE1jREOf/+O+OwXjsEuuzfSwLSitXUDnnnqSV4O34VN6zck7TZydzB2l11x2sfOwLgJE1BguwLBW3Pm44nfP4ylcxbQPzkUegrYsHEzFi1bBZ9OYZ+DD8JXvnkODjjkEAgNpP4CyLKFi/Gr227HwnnzYY1JHKXu+CI6SIjAEHSUQWNZw2PQwYMHsssO/BA0ZPBXviLyTszepM4VESaoRCJJa8RjGluB5iUxwgHzQ2qPpYsIGBJX85UNBQrVGOKQjjp8BUfMmIpimKcLf8vFv2HfhaCGvsDxsYxn0mk62QDCn0RvRb+GqRCGCxCLgJsSdSYWxUKEfI7OhNwA2nAEmAjeqD4wTlmpvEAOFUXIl5ASoHpgmCW9wID5QSgca+4QKXOjixk6OOZls7X2pEKp5bLHXl02YeLEiVpRK/zHw39NR7cfSRNSLTkBjRE4GhzLVYskyi0IqKAKfRoaE8MbBAHUEFljEBibgK4G0zbFlXEKGRqvDFc+ClmG2TCDrZBhXCHL89/QhKQd4M+FgQRJ+fZhKqGdTtpJ9bYXMAwJAekp34pv0fvDPhiC9kV08hE05IkCXORR4lFKzFCIrwCx8MIYJ7Jl32KuCtURUDqw7LeG2PboJO0F0XBbwTsiKs+tRiagARcRHv8UsGb1ZkyZvAjWV6LY49G6diMevfNuPHbbbfj9j36I3/7we/j1j27BHT+4Cbf94Bbc/sPv47bv34Kf3vQd3HLdNbjiogtx0bcvwHnfOAfnfuVruPDrX8EXP3kmPnvm6TjrjNPx2c98Er+6+y7kef+Ry8eYPmMWDawAHM8UDU6JRyddXV1QB+no6Kw1eO211/CjH/0AP/7xD3DeeefhtNM+iIcefggirMcuFngmjt7HM4vihEISp6MN0gFMWIRJdQGpzRg+JoXPf/lE7j72R3WtQ5guYOmSufjZT3+IV19+kY60iMqqavQbNBgfOuMMnHDqB2F5QWVsiC2bNuOBe3+L5598Dt2tXdBL6s6ubkybMwdNHR1o5P3LOd/8Fr7+5a+hX5/+lKNBK4/FfkbZPfPE48j1dEH/4y+VvS6GQH49+0kV5xFXIwYN7g/hClw9uef4KUCREjD4c4+Qzp8tY4HWVJQEj8dHgIO2oeC4WtdVPxhCuIIXLTMQZQqGqAQ6C35BlsAodGxiRjxA3eRHXwrci2HaImLdiLvaEvMd9TaTqYBNhVByEYkUCdygwpMPESEWkObuJTAGJS4cCjxS1IZEOPeJ68mT152FJX+mBzA5iMnDCFuQiPXJM2kxwlc53QrgLqqEdNYipi7E5Nlym+2kgNi1h7Yif1RL+4of7HVksPf9/r/jyEslQyH9d72ccI6AiAamtaUFS5cuxaKFCznxl2Dx4sXJHzfOmT0LU6ZMxpTJrxF6Q6anTpmC1wlTJmveZEymQdoKapzeAa++itd6QfGTeqz7+uuvl2kw/o58TRMUT2Hya5N729aQ7U7+I5jyOt4grakJTMUbU6ciiZOGhtrOG2+8keRr+KbGCVMVj6Dlr0+Zismk++prU7CMxysxnY06FTVEnlMSCfTqBydfOa1TvTfvjwLDSauyVaOwFSvkJKtvqMagIQ0oxUVUpg0aQ48dKgIc0FiJ9/Wrxgf6V+HIvlU4pDGLgxoyOJhwSN8sDhtUg8NZ7+CBDThkSCMOHdofhw3ri8OG1OOg/tU4oF8F9h9QhT36VGBUFqikQUsFIQYOHIp0OotSKYbngkF5yqQzsMYgoEEKrUUHdyLNm5vQxCOllcuXY+niJejp7ia+g+PRUSqVSnrv8c5H046GJnZ5OF+g8VHIQ2wXMpU9OPIDu+L0jx+GkaMrUVGZR1fXBjz95EM8+votNq1bS0fgkaaDO+jQg3HGWR/DTruNQ6a6AlwHYOrU1/Hb3/wW82bMRU97nu0bLF+1EmvWr0dPoYhjTzoRX6NDPejgQ1BbWwtPZh59+FHc++tfYzn5h3MQZho6CU9n4mnoMjS2gTXE1cM1x86wEr/lV8rBe/waJUFS2o7qBEVKXh1EegtopIUAXcmoMU7iYDnb44skzV0BeQV5TGiwarKAITEvorXgSc8Tx4EYBohY13PsHENDvAzvg0IbsFTLhfiMah3uasA7FG1HrECYXeLOIV/gOJG20DkBmmtZkSHbYG3msCXGoa2TThmH5SyBPp5xAl+OfQSl7YkrInQiDhr3dEyxtAepyvy+7d2rbowefeO4+++/OavV/5OBw/Of3L137xtX81x2gM4kxlsLFuDXnIh3/vJXuOfuX+OXt9+Bu++6M/kjqQvOOxcXnH8eLrxA4XxcyPh5556H87mKPf/88/G/wQUXXIDtQfG3T2+Na/67wYUXlutfeMGF0HgCpHnhhRfiol5QGueffwF5OQ/K20WKy/SFCopLUJwLevnVFXiSZr62qfELL7yI9C7GH/7wEA1fVyI0EU4aTg0kkGRt9+Gs3y71ziinE42YSLm+Y1zL6/rUY9c9dkUqI/BRJ2p5kX3SfrvhM4fug7MP3gtfOGgPnH3gbvj8QbvjS4ftjW8efSC+ddyhOOe4Q/DNEw7D1447HN84/kh844QjGB6Orx1zCL598mH4BnG+fvxh+PpJR+C43cagKioAvLwdM2YHODoRy1W/smAS4+ERBBaWxqhUKmLwoEEYr/dKe+2JD/A+45STT8bwocMg2j2yv/3ORPuwFRIDx5WrDWk8eKGstkcMjTXzYLuRqujEnvsNwsfOOgJHvX9XVFWX0NOzGTPffAX3/PJ2zHh9CoT3Uika+DE7jKWDOBYHHXUoqvvVIeIqeeOmjXj2qafx4lPPor2ljcczRWxSh7dmNdY3NWHXCbvjM2d/Hh/+2MdR39gHXBlhLhc/v7vvPsybNQuWfTU0fsYILEE75HgUIyIoj6d2kDEmNaYA4uN/eUQEIrIdlk/SmiPCrwrC9xbT2ooCDDMIzpZDfkFUqDORiNEIFAbovaEkxFiGxAeRyhkag2HcEyhx4rMRxsUYpMIUQq3jhU4aSJwcaTseXzk6EwfS545M60WUuY47+IiIfqndDNWL835HeCyWQHLPEwDMQ1JGfkgfCqJtE+AhVhAnymWgzi3mQsYGBp6OzNiIbrTL2nTxIGd7JnXZpcffP/k/26FQSpTpf9nLlTIXOx6WRqXIY5GO9i40cZJu4S6lubkZmzdvwqpVK7BkyWLuVBZyxb4kgaVLGS5fikWL9NKktAAAEABJREFUFxEWY+myZQks4c5m8ZIl+LPA3Y7iKL7iLFy0KMFdwjqLWKbwFndGC956CwoaV1jEcg3nL3wLGi4gzsKk7UV4i+FbixYiyWO4cNHihKeFxNG/8Ndw0ULy+dZCLGJ7Crrr0lDLFDStsCTp5yJo39UegNPX4297KNhEruXaAhFJosZapNIhLI8oAk7CNCfdgMYGNPI8v7GqAn0qMuhTWYZB9TUYOaAfhvfvi6F9GzGwvhYDCP1qq9Gvphp9a6qYrmE+oaEWQ/o2YFAfhUbQFkOPeRwdiuUORXcYQuOqfCmkuEq3bN9zNbzHHnviZDqQU085FbpAuGbSNTjxxJNgaKQEwlDw5x6hUXGupFgQvVx2IVENQMPlTSdgt6D/YMExJ+6Bz/zPsRg1pgoOndi0cTWeeuwh3MfFS3dLKzJsq5FyOOCwg3DmZ8/CkNHD4K3n2X4P5s2egzt+fjvmzJoDFzl0dHZiyaqVWLZ2DTJ1NTj6xBMw8Zqrsfd++8KQky0bm/DGK69xB/R7bNywgTk0dtx9iwj7YqCP5wBby3sLhhrfCup4tVxENHgHKI5maKiguBomeVBN8clRprBFkgU7wM2GZYoyoVwMMrAmy3EBDGUfhCyjwfV0Jp5X5Z4OmUIExCKwKRgJiGfhaKg9AXzUmQibEo4b2IiBJE4kHQQQLhoMxzsgWO6swVDEIOadVKz41qAQFVHkQsPT0RhLghwNpcFGyK+BJY+IuTuMskCchieoYzESEtkQhLD1dYw4sqF5W8s8DMeSuaTsCTG8OjTpIYnuXdJVpWujjpUffeE/+J9fUUlQMP8V77ZOUklVCxBQEXfnRegnzzoLZ599Ns7+/Odxzje/gcsuuxRXXHE54TLC5Ula8y699BJcd90kfP8H38f3vv893HLLLfjud7+bhN/73vfwgx/8ABp+7/vfx/d7YWv6ll687zLUMg2TvO/ektT/Lusr7vZl119/PW66+aZyG6yndW66+WbccOMN0LIbb7opqat5N950Y5J/E/Nuuulm3Ey8m5P4TSjnlcMkX8sIW/Ovu+46fOc71yeGNZ1OwQaWE4wzV1di26T2t0RIo7dazAvTzbxUTn691Rm0lzxenDUfTxIemTkfj8xZhMfnL8MTc5fi4Zlv4bevz8ZvJ8/AQ2/OxSO8dH9ixgI8MWsBnpq9EE/PXoQnZi7EM/OX47kFK/AC4ZWFqzFt5Vpw6iJMpdHE4yu1c8IJDk5tSUaczDDUuHIWhiEymWxy5FRdXc17jprkb3NERKuWkfn986+wyBKXq1FdwdIkaU4QeOjFPGw7UhVdGLd7H3z0E0dh7wPGcZ2cQ7HQnfzbbvfcfjuWzVuAkHKu4HHNoGGD8YnPnIWDDj8YJhuCYkI3HcizTz6Np59+Bu2dXdBfBVZnok6lq1jAkOHD8W3ulE+hQ6yrqUGGDvR17nzuuvtOzJ07BwEdh5AvayzUyVob8uiPq3UItP8eQEA5qHNk9M++W52HIoh2kmBIM0nD0JAKwUDLxJCq0KzSkDvuiEpRnjbbIQhMwo+LgJjHiNYQ35KQVgJHicZfKAtPx+mKTqki5BwV4jmu8z0rlkk7ODogPTL11sIq/0agDjcUwx2KhSsJUrYCRgIUcnm2HcAGAhMAEXcoYSoEOHIh5SF0Rp4OiEkIf6y1bNck5Y64YNv0WIB4vP1Ib1TxeqMM6FL4tSSl+QJ1mAi6jYQdo8W0X9RSWPjBxx//fppI/3Gv9vg/rlP/W4ecUMOJpEozaOBA7LnXnthvv/2wO48P9qBz2XfffbDvfvtg/wP2w4EH7Y8DNDxwfxx88IE45pij8eGPfBin8wL1I2d8FAqnf+wMfPijpyeg6Y/0xjUvSRPvox/76LZyxd+af8bHP4aPEjQ848yPYxsw76yzPoGz6Og+/vGP46Mf/SjOYJsa/8QnPoFPfvIsfOITZ+LjxPs4yz/Rm3em5hHOPPNM/DEo3p/Cx9jGJ3DmJz6GfffdG+lMSucYHFd/SObLdiqybS5tl4e/7ikVImzZ2IxSwdOgptEuWTy7ZA1+Q+dxx5xluHXOctw2ZxVhBX4+bTF+OGUevv/KHHzvhVm45ZmphNdwy5Ov4MYnXsKNT07GLc9OxXWPvIbrH3sV1z/6Mq77/dN4ZN4qdKcqARqDlpYtUEMg8FxBOhgaG9DAiTBHwYMlBIbaVzEmSQfpFE2Hh+OK2FMGwu4pMNj2qkEzznIXRIOUOBGlSUKk4AkRjaIeeYBHHSXXBgQtGD6mEkefcDBKvGNxrkjz7rGOd1R3/ORWPPa7P6B53UZkbIja+nq871jq2MdOx+ARQ9mmQ54X8W/yruu+++7H3HnzYWyALbzvWbxsKTZt2QITBjjzrE/iK1/9GsbtOg7pVIBVK1bg13fehT/8/kFs2rARccnRQKbheR5jxJIuEHHX4mkgi8lvtwEib/dU+4HeR0TeUSYi7CVlB8qM/Xcol5cdUsxURChCeOluKQOb/LZUjm1HrGSgl+FhkEZEGSdyJj3QyosI1LlnUhnoL8EYyjEibzF3MY6jAi4KjAEMx9LQySAdIsedTUdcoFxjWKbBJ+TYZH0W0uORRRoB+yscy4psRfJbdSXeoznSdtzFqDx47A1DOZgghgkiON+DKObu0uQRpNgfPb5USHjQcSYTMBD2XXWBTb7zZb5DCM92iQbPI11nesQFnWN6/KYb28zyTzwz7brad1b6v58y//e78N57QCdSFBFW9FTomIpT4sVwTCUiUGF1gqkSqPLqyirmisgxP6IP0jLvHTgzIKBiMY+6nUwQzVPQfAVOtQRH46Ayb58W0hPW1wEQxsHzVk9aCiB9YZlnHeVSWbVsxBA07nUScmXnCCAOs5N2HPO91vsjILPMcX8WlCbYJmcH9BhI6RhmCqlSSNu9yi2Bq8ftMv+qaCptMWhwA8KMQ8yjoIhOq2bMaKTH7oD0TuOQGrszKgn1O+6Ghh13Rd3YcajfYRfUazh6R/QZozAWDSNHoX7USFQMGYnqEWNQO3In1A8fiz7Dx6Cu/yCecAgcx6uqsgKg8/DaL/YcKmNhlniwawCI58ESSQDM1G6lQjpT8CGuljJWfonLqigDC2kwoJCUUh9I36tlIR2xAclZGGsRpARO8myDdylpz/oCGxqkK7LIZCsRcwX++uQ3cN/dv8HkV16FL0WozGaxy2674tTTPojDjzwC1dVVdIwxNvIS/slHH8czvE9p2rAZ+XyBx7GrsWzFSuS489tz333xP1/6Ek794Kno21if7Gpeefk1/Oxnt+Kll15FW2snZUMtJN+GxtsDsNyFeuoeINj6eOrU1vg7Qw8RgRbH1LWYslWtAjRPSBsASF+3VAggPOIC7yGszzCVpvNN08RWJfkuUocWUka6SLcQCSCGIIYUBLq2p+hgOScCtpXibqWCfKfVKdIJ6PFgwAFr7+pEgbsHbwRRsUR8IO0EVbFBlniGx9ix/gYXHWc2nYY1IdSR6bFbNlVP+WfgogqAPArvSNgl9s+DDIGZ3EGVGNKhsNPCUdQ8sN1k7JNQIAwVyvlCfIH+MJK8GldHq8deNpsfGPnWCzc2r//U/U9ObEgQ/kM+5j+kH++xG4ERjq7j9laEVfVDwyNW1cUhonIqGEqHaKBNgFjAcJtMLYFhvjXCqOcEiuGp8AANCjVRKTADCp7pJGS54oiAE4XtcXJAlZOhYxnJJfkkydDDEjEgaBta7uKI6Jy2xN1Kx1oDopCYL5exLW1P88QA7wBhWgTCBsyfAJL+xnRMUUnb8UmfjKFRACcVtj7CCIETh5H3/KYzAVfnA5DKepiUQ13/Bhz/kQ/j5E99Eid/8tM49VOfxcc/9wV87ktfw9lf/io+++Uv4jNfInzxS/jqOefgoksvxhVX8dhx0uWYePVEXDrpSvz4F7/AHXfdjV9xBX7fb+7Fl//nc8imLGgfMXLksESO4GpSx9BR1sL+iAh5VwFpisPElPaS0oXnmBhW1lBEdERZWn611lZ4O6ccS6hQfzRUWjGPTBzlFNEAalpEIGwytALPMXSk3HfgAEzYdz+Aq/A8V8pNm5rx0O8exG/vuhfNGzehKlOBwQMH4phjj8WHTv8IBg8aDK58kOvuxtyZs/AwdxwrubPx7FdrWztW8h6lqaMNQ0ePgu5aP/e5z2GHHXZAkQZ26ZLl+NlPf4Gf/ew2rF2zHtlsFUrFCMqUIz/gI8IPX+07g20vRUI96y3szVUc1Rd1Qgrab3CCeLoMcEfgefcgro7Oow98oQGlnnoUuxh216DYEyAbsox7Bu9TaG7uwJbWDjRtaUFrWwcdYA+ogHB0joY6HXJnks4Vke4uoLKniKpcjLqIYusuwhSKWLVoCXraO5AydD+5CBmWZbgLDnp6UEO2TY70cjnEPOqaOX0GcqSTCirpACqRy6VQyGXhSvUo9dQgytfS2fVDKH1hUcv1XYasBABT4MxkpPyKjmo5qt8k+c4ssAGUH2FgCSHBwiGPIFsYGaPjm5Hr/PgLL/yoigX/ES9V/D+iH++pEyJxhhNCRxnJCouGlGlOdMeJA1h6j4BGpUinUnIl8FiMK5QItK8sM4zHvCDN88imCCsGqkwuiqlukqQ1T4ElSZ6Gmg6MpYLGVOA8YhpuzTc0Op7Gx3PbDeeR2CSGmla6iqdxxdXymO1onv6RneZrnoKWh0EA7YcDHcIfgWday94NUmGIFI93Qp4jq5GA6Hx2YBWUH8OAmfz++Xdr+dbwnZjC+VRTXwUTCtklba4ea2rqka2sQ7qyFtkq3lfU1KGBK+r6PnWo7VuDGkJtX+b1r+dldiOGDO2PwUP7YfCwARg6YjCGjhqKcbvtjHG77oBxO4zCkAF1oEVAJhWg/4C+bKc8ZtqfbdyIQESYFMqKwBECx9DRcCWyYYm+YrRMY2+DjodCIheNbA8cR3aJuuIB9lUCOmNjYESNEceFq/WQRVmhWDnWmZoqDN5hNE79xMex8x57IGJ9Ic6cGTPxw5u+i6ncpSgHGe5gdubR1ec+9xnss8/eSJsA+Y4utDZtxq945/Li8y+go6sLbd1dWLRqJeYtWYSeQk9yJKv3fIcfeigq0pVobWnHy9ydXH75FXjg97/nePOYiat1S133cBCRtzv6v8RUTjHnhrcx+S4i9iWIdtplERcqOQQNWDS3Ew/cOwM/uPEpXHnh/bjo67/GJefeihuu+QkWv7WS88dh7epNuObaG3DWJz7DI9tP4syPfzK532tm33QXsWbpUkx98lkseO4VvPXUS5jzyDOY9YenMPW3j+Ku67+Pj37gBPyGTjLozCPVU8LyN2Zh2pPPY/ozz+HNpx7DS4/+ATNefRE3X3sVjjr0EHzlC1/k/BP0dDu8PmUBrr7ih7jq8p/g4vO+j6suvQs3TXoUt/7wRTz3+HKsWerZlz6JY4GjvXcpDpxF+XEAJ6pQERTARygBncuMAqoXlCm2AeePTxMjDSoEYEAw/7AAABAASURBVItiw8Iw3qVcsiVa/6klS/4z7lDYS/z3PTECXXEZTiDdAYTWIiB4ZqoxdVztKRgBAhqEgBMY3qC7O89LzQV47ImncP+Dv8cjjz+O2bzkbG9vp4OJIFQwnxglB63vE3qOZVyP9OTw1vy38PRzz+Ohx5/AY089g6lcKW3YuAkxJ7VAAPIDrl7VkIkYAAKd7CU6kCXLV+Lhx57AnXffgzt+dRfuu/93ePHFV7CRl9qAYXseJdKBPl4/fx0I+xXxMjymcxPyrpPDsOMJCQ3Fw0sMZ6IkTI75mAeu+MtATNJgIRvcOtlixhV00rGck8rzpkQCD2MNexXAGk4sb8EmIKwmIlBMioxG3kMkYplHQHxyAOVJDT4SLPbYAHFMQ8b7hzgqsj2HMAjBijCB0FhSJmwTYlhFmC0sc6TJAIwDcDzeSfpDml4dOPPYOF9PDA+yxRxP2PpqPQLfcs72ZWAdBWEocLpAIU0RpgkgOBrdYgwYE6JQ8CixPF2TwQdOOhrvO+4DrCM0Ximu3gvJb2Tde8/dWLN2JSydY2PffvjQhz+C07ibGzJsGBsirrV47aWX8fDvfoc11I+Yu40tW9qwYtVaNLe1obq+Fp//ype50/sidhwzFiEMNq1vws9vux2/f+gR8mHgqVsB88ExEspBOLYiDkLZaAjGY5UjxegYd8TzTOt9i3DcXSTkO4CP0yjls1i7Mo+773gOd/z0GTzxhwVYMq8TbZtT8KV6oKg7kzSCoAIp7iDrq6vhuHsTCRDaNKwJGKZ4/JdJOEpHQCbnEbb2INOVRzZXQjUFmOHuon3lGqxYtJBtFlGZycKw7553S2nOUdBxpvIlpLq4I6E8PPM2b2oCfTgCLrjSYYY7JsGmtXl0tWbQ01aBzWtj7nLaMev1dfj9Pa/RqTyMB349GSsWdsEVyHtMh8JjMFBBhTICPMrAYLu0lolm9QLAFF/FVV3Tap4yNEGBJ4Dt/bqLay+YsXLdWfc/83//DsXgv/DxXn+RXMD5DdUD4aSmZYHRDGN0vJMyKyYpB5ecPZ09vMx8DOeffxnOOe8CXHDZ5Tj3ggtxzre+hXvu/TWKhTx8HFFnYoKDMULJCmkabq1zrPsQzj3/fHzh61/H1y44H18+91x84StfxdVXX4MZM2bDAVT2OAk9RHWWxpK5xmDm7Lm44upJOPeiizBx0rW46trrcellV0L/Ivo719+A1WvWQognYlnPs32f8J30zeMvxsHHIoBhXbYKmBiJ0gvJsMyRiEvyIrjEoXiWs0DImwKImIBlBY2znL1QgwM6IVEc0gDzjHUQogiNkOcqPMlmvuKK9ToEJBwALBfKHM5BQQ29sSlisg3ySiTomBlO7CTHBIpG92aJk/QC+nv+2hdHWp5ugWMO0JhbcewrEnCO42U8uCmg3ABrWJ8OlYhwtDzCMqUm2iDBk/kyMAGvn7dBPPhuAysGlviORtkrTRY6ruRjCzgaJaFpt3R+JRQQZIAhw4dwV9ZIHRKUCjnk8h2YMet1/OKOn+HVV15Gd1cPKiqrsd8BB+IjZ56JPfbbDxVVldDfklu7dDmefPBRzHxtOordEdo68ljB46wVa9fBpSwOf//h+NpXvoRDDjwIKd4JFdi31Rs3Qi+iqeFIOo/eXnokfIv2jLLylKijZD0zPPvstT+cLxGP5gwvt0sFgfGVQFyFlUta8bvfvIiZr69Bvr0K/epHYZ89DsfJx5+Gj51+Bj720bO4+/if5JdJPvyhE3DaaSfgQx88GaecfApOOO4EnHTCiTj11FNx4skn4UOnnYYztN6xJ+Ojx5+Ajxx/Ik47/jh8kHAaj/4+cuKJOOmUk3DsKcfj6OOOxQd5T/TBE07AB9//AXzsuBPxkfcfj48dfTI+duwpOPWY49nGB3EM6R93/LE4+YTjyNOJ+NhHPovTTvo0aZ6FU487Hce+7yTsucsBGFA/Bh1NgskvLMa9v3weSxe08iisEoHhQFEeAj6xUBq0FUmCaY6vDn5vwKhhpoLiOeh9CbhAggqSuq9xCXoQVPYMKqHpkmK84SP3v/B/+8hLe8tO/3e9TiQQMVQDKoN2nRNIAwUPZmsEHjrJvPfQXca8efPxu989gBUrV6GTE7srn0M7jxf07zx+9vOf47XXXoOhUTPWwrEOKyfOQFdws2bNwq23/QKvT52KLp7l5nmO3cFV1MrVa/HIY4/jMUKxUICIEAwcz7FFBJZHJXmeC78y+TU8//KLyW/waLt5niPnCJuat+DJp57Ca1MmI6f1tUv4Gx4aDXCSIAnZbyWhSg9VDwOhQSZnDLVAwJkBWilCGklcs6H1FJIERUc8CEQkyfA0qIY4QhRSBJidNIHy45gGcVmMJMrv9t3R/DJm+espY52mUL7LWUo9gSSpDSVlSg0Q0ZBUkhDJI6J5jJIWv8mb0GW2YeMiBiSY5P/Jhw4BuiZJOkG62pbGudsq56tTtKxPGiBBJUB6wrioXBn3JO7VOJPXIAyoLxHvr3IYNKgOI0c3woY9aG9uwqMPPITf/eY+rF61CqlsBoNGDMX7aRRP/dCHUFffAEPhdXE1/jKPd5565HE6EzqjkmDd5hYefa1AU2cbRo7bAfseeiB8OoThSj5i+zH5jekYjATkKOD4BuSXwMtrYT8ML9ANnZ7QA3r6Xcs+GwJIu8RjJUOjGEgW1dn+PBKqwsMPvozlS5qAOI2+ffvjmklX4fvfu5kLpquShc8FF1yM8849HxdddD4XQxfi8su4OJp4Ka686nJcdfWVhCvKcaavvvJyXHPFRFxz5RW4lmWTrr6C9K7ApKsn4pqrGCdcTfpa7+prrsAkxq+ddBWu5V3adQpXX4Xrrr6ada9mPcI1V2MS4ZprruLR2pW45porecx1Ba6eeCUmXXUVrrvuOuJNwo9/9FOmv4MjjzgW2XQ1mjZ04g8PvIS1qzajVKQGs8+eAEpMIPjrH9URAtXBc555YRwOHpF4kx/qXP5rPW1Lj3v8//CvDbNrf704/lMwuzu6QnUQ2h9jKII/oxNqWBSHlhHz5s1DDx1BQ2MjdpswHkcfexx2mTCBq8MarOYKcO68BdxZOHhOTtA4eU7UVCpAEARYsWIF1m/cgIrqKuw6fjz23Hdv7LXvPhg5ahRKpRI2bNqAtvY2hMQFPJQnoTErRTGPQ/KYNXs2unmJOGDIYOx70IHY5+ADMXaXnRFWZdFTKmAFjYylE4u54sTf/HhOje0FQbnQieDdADSSyQ5BQwVt1AGcJOBuBJwkSR9I0Xskj4iBiBCYFA8hTmJMhdiaz8npGUKBKOWXhYzoOJSBie1eR+Kav13WH0XL9bfPfAf53oKtNBwdnh5zigjZML2lfy4QFhCSPtPSar/ZL4B5NMRQuXEssQ0AS6OtSbINzfdsT0MmqDIe6UwKwl1gda3Bp//nVBx//L6oTHua8wIv3afiFz/7CSZPnoxUNoua+nrssscEfOFLX8HoHXZKdDO0BvPmzOFdyl1Y9NYS7q6ALi54WtqaUeTdX5DhDs446mnEZj35MYSAcX0N7z/AUTHQ4zcIR8iRMy/QvlhYxDwO1XgmnYXqW8CdVSAV6NswEnNnrMaq5W2wUo3+/Qfjpz/9EU459TgMHT6AjqUOjY2NqK6pRG1tJeobargLq0VdXU0vVKO+vpLxMtTWEa+uArUKxNf/obSOoeI3aN2GOtavI8069OEdW58+9ejTtzaBvn2Zl6QZ9mPeVmB5X0KfpLwWDQ3VSXu1tRVsuwr9+tZjyJCBhKE44fjjccP1N+Hwwz6AfM5hw7pNmDNrCYoFUBYpCCzHi/IpDyTe20Ohqs6QCqjzYMgxF5MujpOw+8I2WbWP9yp0/J97zP85jv8BDBcKhTCTSnMlWKRScHBJ0xPKMUa2e0WEOD4x6sYYiAgqq2qh/zJtbX0j6hv7Jv8XRfOWFtoJA/UlQZiCOivdlUTcQaiREhp7TweRrqxAFc+Ka+vqUVVbDf0d/67OLrYoCWgdEaEhiJl2yOfz2NLaApsOUdenEenqSi58LRoG9ENtYwNiVlNHU+R9iR7LsNJ7fn2yOmbvqeTiDSeMYZ8ZJsq+fcjGEuoeTuJtwApJrn6EgrSsZxiCQNIgInMshLS1HPDwbItfOJYAnJx0NoBAy/ghLggCEYE+nGAaJLAt7klBAb43nwHTKFdhgu92cY2K6JetEE+kN74d2lb5i5TLWPSnbzLXtU0aZSkBWwHlMQP7BuktM0XAKA7lm/QVfLSuI9cE8gHKBWKpMzGC0MGmCqisKXD3MQGf/ewxGDWqCpl0N7o7N+G39/wa9911L/QPQPO5IjKVlTiBx0IT9toDBd4dGfHobGnCEw8+gMnPP4d1y1egrWkLmjeux/LFb0GKOfBSBnFPF/Fa0N3RgZbWNrR1tWPjlk1oat2Mza3NSbipZRM2NW9EU/Mm6uAWQjNhM9aSVltnO/n3FHWIfLfFtKlLYeJaXkZW44zTz0wcx9IVC7Bs5SIsWbEYq9etwcrVq7Bu/VqsJ6xjet36NbwTWkVYjQ2kuXHTepRhLcO12LRxLZo2rcPmpo3YvHkTNjcpNGEz+dnMHZuGTYw3s6x5cxO2ME+hmf3YrMD05q3AcsV5J2xCa0szOtpbedrQTidbgnDsYufobPrgnK+fhx3H7g7vqjB/7lp0dTjA0SFz/E1gOI7v9fVIdAN8SMMneg941R/TaVLZnt1i3zbpycnX7k8d/1saIOF/3ft/juF/hKiWL1/O5QUncjLhXUKSY5uE7/qhE+ji0RboTMJMBjCc+GKoBAYSWFg6j1ZOyBIdh9bXHYI6HgWqD/I8glInE7OODUOaHOEq0MGmUjDcjfTkehKcKI4QMB1zRwIIQhMgKSvm2UaIdFVFshNxVqBOpMTjMIhw9dRD51OCJX38uecv5G/tu4cApCcQwCMB2qZyhBmSgGMpgbITTgKRIsrGMoYoIZ8iLxmeMWfgowzzUoSQtCwhIC0hkLjQESTAbLbpaWiZCxIHkzD6UVSwXA0uw+1fTjZotsK2fCYSGswQCL/glyFfbHuknLctzQjrge2RI5Rlv7XNrdSI8ycvy8g/6A7LRcLA9IKWxQAdLsBQ6VM2AgFFiPJDnN6EcMcSmBDGBiiW8oAtwNsO6kcbdtunD04/62Dsuc9QpJgv1KXXn38Jd//8Vtx72y/wmztux2MP/habN2+ApwePEMGihCKN/ZsvvYKnfvco7r/jPnz/+h/hyYefRZSL4YoOc2bMwS9+eju+/92f4uc/vg3fmXQ9Lr/wUlx20cW49MKLcQnjl150CSZecjkuvegiXHzBRbj80onQo6orr7oazc1b2I4QArRs7qSjWg9XSnGnMJA7inosWboEc+fPx7z5c7GWTmMLHVMLnZQ6haamJtanY9rSjJaWLQk00VGUYSOa1Hk0rUfT5vXY1LQucSwbNq7Bxo3rsH7DWqxXZ0RYv2EdNjC9bv26ct661ViXwBoNazByAAAQAElEQVSG74StdTbSaW3YsJ74W+us4Z3jSsIKOrpV6Oxuh9MzPY7XqFFj8dGPnEU9Duh0utDWwrFBKhlDqgtEhxvv7dk66p6S61UL0okhQRElabdhtnBgS8fqK+98+MLd/6/9fyh/gzjem/D+3bDv9/fbDZtWN5qA2sKJ7mkMdIDLfEo5SL6GxkpLJAnV6EMYhyByzDc0joQglYYYA/2nLgwNglDDdFdimKeh9x6eKx1NG0txs05MI+JFENIJKanunhx3PoWkVWoyQ9JnPcfdBu0DYt6xJEdgRiB0Xlo35hGJ0vMMu7u74eiAhNVY+b2/ujImkDrI4Tvqi6a4WhPKSiirt4ETgIZL6FTAUNF4IA9xtXDFepRy9fAMja8jzTR0RSd0NOAkUlxKhYEn8GXbSSzpgGMGkERRfhTXUx7l1PZfraWwfV5vXHrDvyIoUyh/Y3XQvXXevc3eQo5hOWYBvUfQvr3j10eVnoIyEpRxIL21XG/MQ6gvhs7EJzQsLI+OPOVsbBGxaaNIN6PvMIdjT96LRzA1QCGPimKEjqVLsWn2dDQRNi+cj/YNa+BckfQjBFEXsvl2VPKIq7h6PdZNm4eVMxaic0MbaLFgI4um1Rt5YT8VM156DXNeJbzwAl5//DG89ugjeOXRhxN49bFH8dIjf8C055/Hy489gheZ/+rTT+EF4kW5LoCySpHffHcebW2d1HOgT5++qKis4hwBV/oeoJ4nYBycLwEQqFx1OL3XOMGBj8qJQfKyHnvCBpjSQgXPHJ05jmE5DcY011Nenvqpobah4KmTnnOjDCzxZYhjhpyPTALkTUM92iwUcmhvb6HjW4mu7g4E3HmkeZx38MGHIx1Wges57nw6yDug8y7iLlDbx3t8yj0zYNfJNStLGZRfYyP2ojuw6eKhzneed+eDM0ez9P/Ma/7PcPoPYNT7iSb3m43j+/WvOggSiRgLD+GgehgTwDmftCJGqDTluKe2eeYXebehoSJ4OoqYEa94rJ+pqMDGTZu4qo1Iw0FEoApqrRoajwIv0fPctYRpGlXWMazvqOhgueJ00Rl0d/ck9UDlslyhWmNhWV7iSpREoSCcCEbZoiaKGAh/9Fgmz/sUkEdwkiS5bJ/svceXsvBUcvYXKpXEmuvEi2j+PUy5YRhS9bybkWSFFnLVJoAzCMDjt6gOm9dZ3H/XVFwz8dd44DevY92qAlypmjgVvB8qG9WI9VNBgIRN9kmAhK4wLO8MPCeVQJir8jdiICLY+ohIknbsrwjjvQVlXAHZh8pF5ZwUUWYiAk2LSFLXE0nrg49hXhInXszdoUgvDtPWGMTkF4nMhdhI6mtMRRQId1+OEFXAxyE5pkxiMDSgYtEpBlwMsI46G+aGiRwBcPytsbTHQrk4GElBJCDfMe9OAsZJw8YoShsk2410PRBbQTYdoJJOY/8h/XH8yIF4/+AG7FWTRb+4gGwcI4hLGFHpcNTovjhqSC2OGdKI40YPwpGjh2C3QX2RdREyAlTGRTQWu9G3oxVDOjejX/tm9OloQiOP0vr0NKG+cwMac5vQ0K3xdajtakI905Ud61BXakat64GwzTC0EPbJ01FQbVFfX4MUd9xRySGwWco8DeFPmBJ22lFFPWzAvtoQHV3d3AlwIaW/HmyJZ1Psv4OOo45HJeeV43hAmEdhR4xbzgkIaRmbOKwSx0ZEoP9ZlrHkhXG+pBNBd/k65p5jR1VhOgWISeoVShGKpZhxz6wAeqpgAuFJQDtaWpsQUT4GHgMHDsLgQcOQz0fcnXQgFWbYBwc2j3d5/pcsgeEcUwBDEQN9HD8OAqEAvcQooScVZAsn2kz3Z1+YeUsdi/9PvOXe/J9g9e9jUreMT0+uOzisbLuprk/q8CCkqriQRKlgHEhG3n59OSoiScRTqRIF1yTzRBhRYKkI4wxV+fWslVGIlPM0rvW0PmeI2hYNSI1tJ8pEPCPMI4Zno3y1DjOSAImDYCZfVoLAlIG4wgkipKFEPScjdLbgb33Mu1T0UAciUubN02HEkYdju4HlhCqFkLgKxvVBqacBq5YW8fvfTMFN192DF59ZgE3rPJ576i3c/J3f4Fe/eAazp61HR1uMQl4gXIUnToN8h5yVAXvlOLkNDWyK46KyjGgYwf6xq2zT0fh6ioVATlWmDP7Xt4z959HKdHqFm6C93Y4I+eTYRHGEMAwoCx0zD+c8V9wOakDB1W8URfCOuGJgiO94ScQu0QFxlZk4SkOjGsATV1jGrgI6aPyWX2GgwID91T6DSBQz6xiIhChQThENnUsLijRyjVUpnHboPvjmh47FVz5wOD685+44dMxo1EJQQWey9+A++MTB43H24RPwxSPG44LTjsA5px+ND+w3DrVpICz1YM+Rg/HNj5yI6z97Cq76yAdw7RnH4ZozTkhgEkOFqz96AiadcTwuZztXnX4Mrjj9eEw682Rcctox2K0xi4CX+hxMePZL+2fo/DLZgLJBshDynF/eWcTk39GJOfZbHciDDz6CS3h89rWvfRtf/NLX8c1vnY8bbrwF8+YtoGyBdCrL+il0dnQhlUrT4Zbp6fyaNn0GfnP/A7j22u/gKh633XnnXXht8hTogk136Oo8VH5hGCLi2ERsO6DjErGkvxC3/uL25KjunHO+jXPOORff/+FP8OYb01nFoIcnBFqvmzuTnp4OWOuhfzxZW1sHiyDhQ8ffi4dnX8AlD97zYwAd3HfU0zxDOQpUeJZyDNPFSgTtZza3LT/de1UM/Ns/7MW/PY9/N4M6GC/MWDahrXvlJd5sOVBSucBREZxLcwBDeBrpxKRwLAH9lMUiIkwJB7+chj5MJsF2oUadd/DOadE2YLtwtIYKSh+kVgZs9wgULwFyorTKhVqjDK6XrtnKDxG24mmbjscNju2TUZb8PW+5PeFEEfJSbtfA0KAJHYDlKtwig7gYcnLVIM7XYMMq4JlHluCuW1/DS88sR0dLGgb1sFIDcVXoastgystrcc+dL+LxR1/l/Y5PVneGEypgfwz5lthxqpJv9lPbtDzKszQAHrLtB8QVESKB0XKIv/RQ7tsXl+UL1gXwF6p79hvJU27dcrWoyThxbgIjBtZajlkEdhDKkrEq+RK86FFlnmUl5lvihWCXmM8y5IkfM58BDEAQ2gghPRFhWlt20KiIEiTQGIurgBEeG1FeSkV/GzkudSPDtqq5O6jMd6OBjQzIVCBLHsNiEVke2dRHeTSU2lFfaEK2Zx0q3BZkbQ+MKyBNY1VlItS7HPq5Dgz2nRgad2F41E3IYZjLlyHOYaQvYGipC2OIP4pr5sHFbowJHBpdEcnYGYOy7sVQUWWzIfsSw5gAAksI4MGHBri7uwv33fc73HX3PXhj2ixsbNqCzVtasWjJcrzw0qu44abvYcrrb6Anl09ohukQJToEy11sLlfA/XQi3/vBT/DLX92N5154Ba++NhX3Me+W7/0AP/7Jz9DW1k7Zqyw5Hr3jHwQhIspFf9vy5lu+jwf/8AjmzH0LS5evwuKlK/HEU8/iBz/+OR5/4hkyaci3QUyHrM7E8+6EQ42amirSBfO1J0qfwBfsHf7Gx5A/IYDjCqg+hKSmMmP7lK1DD0wqN6AYt3/1wSev2u9+f7/9G5v6p1XTXvzTGvtXNEQjIk++edNem5rXXB2ZjiOQyqcj5LkCiskOu58MJqPv+rKcs1tEICIJhqqTB79MejWEzCUWEsVgnNkQ/jCavFpNxEAUtrblPYSlnF9JyCiV1WsAaAXS19UPicIRSatpqQL4SK8RAok4ph08NIQRKC6z/raX9DgNWdcraVhj4SimqAiIUydRyZC7EV+HnrYQ0yavwD13PI8nH5qLtcsjlLqrWF4J72hg6CAy2Wr06zsSgemPtpYAq1e3QXcmJdLrau/EymXLUOTxnudRXjowSBEcJ7I6R8+O6ErUo/wDz3A7wF94iKno7IovY0k5KGf2xhn0lrIFJnpfYc+1Pih3zfJsM2ZfRATGmISEY9olu5EUPPvqyavj6jygkTVWqVrmZ6B/yBeYSmg9mAJAY+xZLMRHL3hmCJjJxY2Wi3HEF+Ia8k/jEqeB2NIsG8pHYGhYYzrbHivoZLwrlUFPmEF7sQQYCzEpRGE9Ok0N2oMqtKcr0ZElZDLoYHmBdfLcLRR47NbDHWZ3uhrNXCQobLZpNBGaTQYKWxhuJl6HrUAL0mimJ2sLKrCJTq4DdJTKFZ0GSFdE2xYEPPbylIUIKEJPMBDFo86uXbsOTz/zLO8munivUo2dd9kF43bZDUOHDk+OnNat24AXXnwZbe0d0F2FIV1DDxVzhzf19Tdx/29/z0vyTWwujYY+/TBg4FBkKmrofIp45bUpuPvXv0GhEENYTxclAfsac2fZyWPkRx59DKvXrGHdEI281+k/cDD68Qirpq4BGzdvwUMPP47VazegVExmEunkEPEYzxiPFOXtHfsiBoBhfwzYCAHv+REP1ucHYCh0yAKhDmk+VQEigLap9z5iIiNS2rknappY//q6HfBv/lAq/+Yc/h3scaKa56d/d4/mluU/8mHn0SbIB5HLcerG8JZdp6J4Hb3/pQ0RgWzF4Yh7qMI5OMcJrHEtZD4Yl7cxkxrGGKhSUysgItj+0ZQCOQF5TYoEQv6SKLwA3giENDTu2IbXiEiC4GnQPDxbJR6ztCgp+Js+5T6hTI0UqPAkmA6zSPECEj4L8VXo6hAsXbAJt/34Idx561NYu6IH1tfxXiSLvg2DMWrkGE4GAyHf9XUN2G23CTj4oCMxatQ4WFsNL2n20Ca/zfPQ736Pu26/HXNnz8aWJv1jtwjWAJaTN0ynEHBVSUaIL4CIvgQNBX/x8VrqkQQa/SMQoYy10OtHCx1xPUR/BPxi26NGScfGcAzUwGlBwDN/A8rDVSIuZWFRCcs7DzV6+Z4InTzOWzh3E2ZOW8d+RfB0CAKhvrA2ZSowlCUdjgeERgrqSCQCTAk0IBAh7yIA8YwJSFtgaRQNnVhcjLGpswcPvPo6bn74Cfzk+ddw//S5eG3JCrQWSsiR/hsrm3Hny3Nw6wuz8JMXZ+Gmx17Cd3//FJ6cPh9d3qJIJzGfF/A/e/g5XHXfE7j60Zcx6dHncc0jL+CaR59j/FlMeuRZXPPQM5j0h6dx/WMv4KZHX8R3/vAc4Vl898lXMHtLN2LKwdoUBAHEhIBnv0SgDhFSok5znlGfHPsYc3ewcf1GGn7OP8pyNI/lxo7dESNGjMKEPfbCsGF0KOzjytWrk/84Lp3OoMR7SnXc3dypPPrEU4CxsKkMBg4egsFDhqFPv4HYZdfxqG/oyx2MT3Y1y5evgCH9gDpUKOYQpkJs2LABq1atRBCGqKurx8AhQ+mM+iQwcNBgOrYqrFmzEVMmT4eOrc6rkq546BSN+ISejokRYZ/YTeqN9okM4b0/jlUcZeYZ6iuMExLaDupEjDVgV9mWh3clI0HX+1avnX/uM9N+Vqs1/l3B7LnKewAAEABJREFU/Lsy9vfypXckD792yZ5rN8+5LMh0T7BhLBGX2V4CblcBQ4WLUQKo9BBsezSqoBlqRLbGwdH1MDQ65RxhJeqUolG7ykHyFUAVD3xEhHFDBQ3AGKgpoG5i2yOASPLB9g9zkqRjmZBPsRwmxpUfLRAInHOIqOyJg9EyUfJbFVSx3gs4Im9Xl7TANuJYuEJzyW+y9HR5LF28CQ8/+BJ+/IPfYfGCVoS2EXHR0tlYjB41CEOG9UEqZWESGVvEvGNJpQI09qvCLuN3xAEHHkqnsiMqK2uQDtKIaCz0/9p47KE/4N677sILzz6L9WvXc+Xajs7OTqgBMtp/9k9EIGIgCQj08dBwK2jO26Bj87ashePmCQDJoPww7QGVqeKCRk8gQC+C5oOPMZJkee8SfgKulHu6i2hvFfR0VCfHeO0thvdBbCOuRCrog3Wrc7jvntdw649epJzaYHw9ZVLBtgzHjURh+CHQsHs27n0E0Jl4OhV2D1osAHR3Gkue7eeRliIq2KG0yi2swRtrW/DUqmY8uakDL7V0YbUJkM+m4SsrsTYO8PzKLXh+fTde2FTCUyva8eLyJry1oQXdJQ8hbhd3GctyHrOjDGaaKsySSswxWcyzlYQqLAgqCVVYzLbmFFOYR4e4LFWHJdzxzKAurLdVKNkUIAG8CwCCZ3+YQR33dKAxPPvDAi4QKBsIWts6uANRJ+NRU1ubxEPumAwNv2eHVba5nh5EcYl6lyefzBTh0WgRXZ3d1JcYIftfVVUDG6QQ0uF0cmdbUVkNlWOhWMKylSuSy3jwSaVS0H9Zor29DU2bNyfOqa6xgWPgyVOIgPx7ClvrB6S7ZvUGBEEGIhwb1i/rn8CYctqzRy52ELEAyBvHDu/p8YCwPnWNEYg6XwKSx7MdlrMsplMF+YIeLXNBla6ITXWdO7pl8/xTXnhhYiZBf9fPvzazLKV/LQ//8NapWPLstDXje3Itl4ap6NjIdYUlblnBsdLf51fFF9VecBJz8JQB1qF6CBSHmkkDoLlvgyq6CCeF871KIFS8FNEFzjOvV+G0hlMcJcV8YwTGchVqLKeWgZZBW2J5iQ7BsxxiqDoC4wgsgwjpkiZzjQlhVHnJrzCMaXicUK1ZT41NiQ7FWB1Ggf7gXR/PXNahQdQOkvy2dBJXemxR40ob5AOugvzUwMQNWL8mh0cffAO3/+QZvPrseuS66zjh65DONGIIV5YjuMqsa6hNDEieq0j6bFgTgN4OLlegvCLYULiS7IddJuyGfQ47ADswbBzYHwEv3A0vlVs3bcDTjz9BR/VD3H/ffZi3YB6ampvg2F9LYwNY8C4VDoZ5lqGFiGV3hMPl4ShLEUnS8MRxgLAO2BdJZEfjxpW/FxozGmYxLqlnEBCP+DQSZJQOkrLkuJESWwJAIw8UoZexASd2VAqxfEkrfnfva/jlz57DXbc9j1/f8SIe/t2baN5QIq0KxMSJi4YhSKMCwl2Ld5b8C3UAZMmi3A8BdOyMp/Qj4glB+QnJGwjMS2oI+cjAS4jufATQ4PcZvCMG7TgB/XbcBfWjRiHdrwEFE6NIeYV1dei3886o32ln9N9lPHY9+HDstNd+GDxyLMJ0FkXn0HfoYIw7YF+MO+gAjD/kUOx52BE46LgTcQDh0JM+iMNO/jCOOPkjOPLU0/G+0z+Oo07/KA495VQcfuopOPykk+DTARyP9aJEnpStK4FDrCKEUGcd5RqJILIeEfEkEyAfFSAAbGCQzmYgKc3jmSdFXl9bi0JPN4qE9tYWCGXCLS/77NDV1YGOjnZ4/mQr0rDWIIpKHPMYGXVGTBsRlIoFqDMKmfacF6VSATYQNFG3PJUyYLtBYBGEFjHLdf5o2jC/xLsZdTxKQ3SeEN+IZxslQGKAPHoAXmkbJjQuPhkjqgs5Y4YRaAcd6ye4ID5h60t0ZlBfySsjSOhSE5I4K3jqqTEcf7GgCeHIO0JMueVRklz/orR+fnVu4874N33KUvk3Ze5vYet+f799YfqN+25uXn4zbPEDsKWUDQAdPxEDXVlYTkrhKsrQmYiuFIQD7D0YYPtHhSMiHFiHimwWngbHU1GM5vEc14AUmFei4qUyaYRhmOgFNSyh5UnTUSvEkAY8FE9UEUlDZ52WFzgpYqatsbCqRHEMR3rUKyhuOsgk+bqKV2UsOzWPEldvqrTpdBqpFCeYmHLb23dgW9wz5hOehPru2Z4iG0O+2JbAsIyyIa9kE4IQpUIGG9dGePyh6bj9Z8/yEn052pvS8IUGVIZDMGToaOhxQVVNHWLS3NLajtUr1nFnsRFRL/2O1jYsnr8IK1asRJ4Xw55txTTMqeoUho0dgwl774P99z8AI0cMQ01lJVwEtLa0YdaM2bj/N7/BrT/7KX77299i5oxZNChdsCaE4dh5Z8k+uTbKN2A5wa0Vij2GNcxT4XH+EwPeMQ0BEnDwEsEjJh2SIJ8CQxyBdl2xdAwNaRjm6wrRABAKXg2TJ10Xp9DaXMJbc9Zh1rSVmDtrDWZPX0VYie4u0mU9oV65OEYYAEEQU29oMNkWVNcM6VkFC8/BcGzYU4ccV6Oqm3EkpBBCeVAHJsorLGWagrPMT4fJP8vzwVNPw7nnnI/PfebT+J/PfxoHHrQ/0tyZ5Ap57L3v3vgk8z7+P5/Cp7/wOVx3/XW48aab8KlPfTo50nE0YPsdsj++9u2v4BvnfAnf+MoXcPGF5+PaSVfjmquvxqSrJuHqK6/GVYTLJ16JiVdeiYsvuxSXXXEZrrzyclx24Xmoq84CNPilqEj5ALTH5JuU44iGXuA5v0B+6dfJexGKZ6lvAYTVBCXiOcoVzFMQ55EyFoahL0XEAvRjrKEuFuiYe/O8h4hA54HqcUwnEAQWac6DdJhCMZ+nvD1JEof0StS7uBTDky4g1A8Lx7mr9S3LwScVhjDsQIHOiIisy0zniGvApqgbDmyW/ZWkzHHuQXmnHK21HCvmG4uYdWI6KVFdFIBcEBjB1odyEcM8ArM9aXguACAOYBowbMsk5WDD6lCTcspAUs5KKrenmJ7/+Xf9dWGD/6DHey99ZqyesGHTqu/A5g+LXE9GbAynBoQDx7Hq7a0wFEiS4QFwMPktv0wrLhOeBkDBUOFDrqI8VyiWA+tpKALmRVTUdBBAlX9g336wVCyqC0MqBBVLREgFTAdsSZAKDJuilaMyEgNOraf3qMxWIB2mOQkj6OQw1oLMUTl9khdompMh4kpL1PDoBFLayioRUzoZmDaG9fBuD9tVDsRCRBJw5E/BmhAxLx3FCzEsAtJwscHCBWvw6zufxNNPzMW6lR3Id6UQSBYDB/TDrjuNxJC+VXQqHt1cMa5Yvir57Zj2rm4UIk5mrlYjOo2SL2LF2lV4Y/Z8vMoL0g2rVvCmIUaaTsXSaFbw8reucQAmHHAI9jz0SIwePwHZukauLvPINXegZX0zprwwGXffdid+dNP38QbvCUo9BRjKLBUEsOyLJ61ioQeGE9KzPeeKoDUhOIDjquPhvQA+hHcpQpbxNMuYJh1msK4lpCEImA9Q1ACNYSqsoSELKJMajl0NwiBNQ5RHKWpHTb1DdX0JVbUlZKsi1PehkfKdkKAH6Yoiy7kT629o+CPAkD/DED00FB5x3EIWO2BcASHHJB2m4UuAi2KElhwniSLx8tChj/Wez7Ou5Ei/C15aMWxEA+8NGniZXIMBHJP6+r4IbBbWpFFRUYk+ffqgsa9CI0Zy5zhixCj069ePNGPU1NQiw8VRdXUtGuobUF1dhfr6OvQl/gBeTvdtqGd+Lerqa1HbWIf6vo2o70MgTv+GBgxoaITrilCJaqTjSt7npCD0GiUujDwdqSf/gTUIKUiTK4KtobJg0BBUIyVpGFgEkoLhmFiGPhKARzoBUkBkWJ4ivTRKeY+4JEnaOwtuhRCyf576qfngcR6Yb32KtFKgX4Ml/ZByiLgz1Hg6rEryLNsJeVfkuPKJ2V5MGqrnSkdpe7YSiQNIv0SaDmlEpO+5eAgYFy5KQs4R/XOZjHikXAzHY1rAckcUwTkHT30SIb+cQ+Aj8OSLkXe8wpQCg3d9tUyht5BtOU/6lKlYn/E+/nBXR/tx3pOZXpR/l8D8uzDy9/Lh/QvBY69ddXBzy9rvSpg7WFJFMWEJpThH0jGh/HoGHAh+3363Dp2IgO+2AmMMmMO0h+YbfiJezFkqSZpxx8mT57Y8ohYPHjqIeIAxAmFMRL+ADS0qKys40alaXPl4QtoESImBozMCHUOaZ7sVFVmEaiC5yvJ0YnFcVs7a2hr07dMHipflyisQwFJxU8YgLuYRsr36uhoErBslys3G3+X13icKH7G9Is+WtW8K+gePNqBD4f1GiStC/X39UlF4ebwQSxZuhCtUoiI9CH0ah2PsDjtj0ND+6Cl1YHPzJixfvpygK/JCwrvQkLBTyGYE4rqRQg/qUhGqGS9u2YA5UybjxSeexMJZs1HsolGMYvIdcsfmUFlTjZ133Q2HHX4kDjzwEPTrP5j8AiWe8ed4qT158pu44opJOPfcC/HQQ49g8eKlNIwOxlhYOlMnBiA4AHHv5OPs5lhEzNFcgRos0IB5pOBo/FQm4AKBkmE7JY5qjFQ2xdCBoqBxysDKABS6a+hMqxDlK1CRacDhhx+O8y84B1dNOg833nwZvnPDpTjnm1/B6NEjEbNPo0ePYvnXcMml52LnncfBxSEhQ8dbQoYDGJLPkMc/qQA0NhFyXd1sq4ioUIIa28Blob/UEPpGxIVK4tSRjwoYCRGpPpsCjI3AYQOE/aV607YRz9JJCQx1I4ociwQib4MxlnUob67UXewRUp+8ByABj1JKFJcnvmfbDgYOjMBZyoIyojbSARhE+SJCHh1W0gG6fImyyZP/HKiuJGNVA1jPaG3SFYRBCpoZ0JHHBUe5Roiov9quo54rGPILPt4ILHfZaS6uvBgIdzbGpqDpkPcjDpKME0QQpEK2IxBrAdb3IgDngGWfkuNj9iD2QnmxLxRURAZVtwPSTLGusC1Dxx2EAckJNK+iogLCPAeQfwOuGakLAv215JTlnDUhuE5KIKDzS5kKjqth3QyEdayxiQxLf2EeEu09v2waTgeYNcO0bWzvbr7u4Reu3oEy1GaZ++/xmn8PNv4+Ll544YXg0VdfPbizZ/MlBd+6jw97rDdUcF+ADQUxVcNTcbUVT/XQVQR0+DkUfJE8oirkk2j54zmADqp0IoIhgwehWMhDt9Eb163FyqVL0MYz/W6uzFNUyFEjRyJFo6bt6AQRYzjB2DJXZ1VVVUhZpvMFtGzcyJX+CqxdsRytTU3JBO3Xty8yPCaLVXvFwLOOobJb7mQCOqNBerfA9PpVK7FuxQps2bCB9Veg1J2DGqaaykqE5MEYAy5kEij34e2viEBEYG1I3BT7Bk7MGEE6Df0vU59/6UW8+OILyJPHNA1FwF1IRViHhtrBGDZ4LAYPGglw4m5o2Yg1TRuwfMDrBKwAABAASURBVN1mtHQWYGwKmTDkSq2EtM+hLgtIvhNVpoQxfTM4Yud+2KsRGGk60cDdiutsxcqF8zB1yguYPXsq1q9bjmJ3BwJOFksIbYDBw0dgz4MOxJ50KsNG74BsTQMkVQFvUliwcCl+cftduO6GW/DDn/wCjzzxDFas3oiuvONdQABPw+gh8DQkYgCYGMnsRwmAT35AjfAcbx0nHS9rBTbwiHyexq6HRiTiBTDoUJfyeG8ppr66FtOmbMQbr63Dy88vxOuvLEz+FdmZM+bhzTdmYfq0uZg7ewmmTl6E119bijdfX4ppbyzEtDffwpRXF2D61FWYxrqz39gIy5WulLJo29KBVSuXYx13bosXzudOcD7yvNjPd3t0tVjMn96MuW920PHmMX9mBxbPa0WBF99xPuD4pii7eZgxcw4W0qkuXb4Smzc3QxcKwh62tbVhzZo1WL16DRYuXIQpU6bgzTffJO5iUKPZtyINZB49PBKCWBjKHGJgjIUVhgmWRyIj8ZRLTH1hTeIGHG+Vrc4hRrkT7UZHVxsMdTXPxVVPoUCZh1wg+AQ89S1HQ26yGeTp5D3l7DgWhVIP6UeARHB0VgWXR0lX32kDmw4Q88dbQz/E8eMcDrPsdwpMR9Cjn6Lu1ogTuQLrFRBz51dkHIHiOJiU5UZGmO+RqUojyAQo0B7kox7SKLBPeUIBMe/PinE3nUIBgXgIgQImb458OeRKefavA0XOzYisiMsCrhouqqKsqpPdk8oDHsx3UDMTBCET+jJT6Wm0jJDE3tvHARLDsl8C/phYnHQO6S5s/uSLs26pxb/RY/6NePmbWPHe27h6xiEtHSuu9kHHESZdSCMoIJICuJCjEpRgrIGudMDB8BxfwHPuEBiCGQKn+gPNVxBhlEogWo/aYY1gLI8K6rh6zuW6sX7tajQ30ajSIXS2t6GaxnzsmLEk5UiJdXtf0fYYHzp0CPrU1yHX0YHVy5ZiLVf0q5ctx+YNG5FJpdBQX8+jCV0VGTgqrYhhLXLFeJbn4MOHDUHaWmyggWhmnXUrVmHTmrU0Lt2oZds77rgD1Jn47Von+0mfNCQx8uY1YAg6kQiW9HK8LH9z2nRMuvE6nHvJRXjh1ZdpYAoUgUFDXQOGDhqCYYMGoa62Gp28BF25ZjXWrNuAppZ2Gm4DIZ8pTkab24R604n9dx6ADx17KKppMDJxhBE1GZyy7yh8+X1j8YXDR+PYnaqxU3UO9a4Dcfs6bFq1ELOnvY43p06hMV2IjraOhMeIRkfSgj4D+2LH8btiwr77YOfx49GPDl1SITrp8FauWY9bb/8VLrv8alxw4WX45S/vwZLFq1g/pOFT2dGxcDUM8kgdAcQRYgB50Ntx5IuIvaYNYu7KgACBoerYDPufIi8l/OGB53Dv3U/jvl+/iHvufAH33fUSL95fZfgCfv2rJ3DfvU/iN4R7f/0E7r7zKea9gHvvfIW4L+Fult9/7zM8KnwGd97+Iu664xU8//Qi7vTqYKUGm5va8Oorr+HZZ5/B4489hsmvvYZYt0PkecXSJtx397O487Zn8ctfPIs7fv4kfnP3c1izopO7j2p0d3r8/oHHccONP8Adt9+NX9x6O156+WXoYidNQzx9+jTK45e47bbb8Itf3Ibzzz8f3/72t3H33XejtbUVXoCpb76R/P8869atB2CpFwYeAqo7VF4igOqOOHDBkkJIp6C7GSoOjTL1nIucyHhsaW/FnLcWUPM84Dx1sgcdW5oZdiHX2Uk5tqKNC67lq1dhGe/OPB1LaALk2jtQ6qJh78n34nYh4FgZJ5wXm7F2xVqsWbaK82UV1nOsY+6CfCHmcWCMUk+OkEdM/Y1yBRS7cnDFGMJx7GjtoJzWYOXSlViyYCkXbmuxpakFJumHRU9HJ7qoZz0JtKN9yxby0omY9TvaejBjxhy8OX0Gps2ehVeolw8+/igWcQEXS4jV6zvx7Etv4bkXV+CNN7dg7eo8d6r1oEei5AxEBFYsVA6gNN8G/J1PnNSneOHpfG26KM50nsKF2N4TJ040SeG/weffhpG/RRZUevvE5OuOWt+85LvpyuL+JbSHnk7EcS/q4UD1hjEWjqPgvcBzsN9uR0s9mNubRW1jTHE0l1HoToFzimGEHXbYAd/65jew5+7jMWTQANTXVGEYjduYESNx5hlnYPyuu0DJi7AGITlyMoIwCJK6106ahLM/91nsSKczatgwDBs4EGNGjcJZZ56Js876BKqqKmGsgRDYL9IiZ95zx5LB8ccdh8999jPYfZdd0Le2DgMb+2Bo/wE4kEb2sosvwXHHHAtj1Bh4ZfvPgCDi0QdJwloD/acrbrjhBnyadO/53b1Y37yB+4YYlXW1GDZqNAbTAVZVVyDHXcbylUuwctUSdHa0Jc7OuwgBV5LVNodMsRkThqfxrc+8H+eefQqOP2wvZGiRqsIswlIBdb4TO9eWcNAQg88cORpfP2UCPvX+0dhzgEFf34GKQit8exNWLZqHV158Dm9MnZwcoUWuhEKchwlNcm4/cNhg7MH+HnjYYdhxl3GwdCreC9asXY/XXp2C7974Xdz1y7sAGqMij+mKxQrEUSWPfSpoFLma5PGWwABc5Xk6QCACbSEEAQwNhRULQGhIDet5WBsmRjDHlXYul0MPjzO7OnvQ2V5ArqeEXC5iXoTOzhKhiK6uAvM8iMa4QzeP5rppKLU81+OS/KhoEaQqKdMS9BhTL2xFBHnuePVopMTj0lQ6QL5YpPPuYZ0S2tt76Pw92tu6oe2mKNcijWqO9DdtakNrR47Qje7uHsS8LxLE6OCiZdOmjdB/nXfjxg1YuXIlNnJHrGljDHdfETZsbMIDv3uQjuYiTJs2A1ZX0xLAUQZ6PJTooPew+uMMHI8b4SkbAFs6O9BeyqFE3leT7ouvvoYo9oijGG+8/jpu+c51mHjR+bj2yom4+orLcf555+LCCy/Ey3R4lDYdaglzedT53JNP4elHH8Wzjz9B57EagVi0t7bhnrvvwfnfvgDf/gbrnXsRbrj2BqxdtRZpjkl3excWL1iIFYuW4q1587CcO7O1K1cnx29CHh5+8GF8+5vfxnnfPh8XnX8xzuex6D133UMn0g2wfD13ayu5kFu1fAVprsb6lavQ1d4Jyz7Onj4bF513Ma6+6lqcd94F+PwXzsbFF18M/e8ljMli9swV5O1Z3P+bybjt5y/gxz96CK1bSBcGFAV1xyMM0pwjFBI4F6lrqm+a+nsgiiJSE0AMQ+5SwgjcnYw2qeJp4z6AOvybPObfhI/3zMa0aT8Ln3z96kNau1ZdZsPOXZ3krKF1oH3hoAqEk8B7NRABgJDAl5NDxGMrgEPjk9WpY+H2rycNn2TELkbALbzWOfLII/Hru+7Es089iRefeQaPPPQHriofwaWXXoI+vLxUg6CVnPMwVHwRIR2HbDqF/fffD5MmXY0nHnsET3ICPf/Ms3jmySdw+WWXYM89J8DQ6eidheN5MhlEzF2Jh6MjjDBmzJhkQj7wu/vxzNNPJm0+/tijXBXfiw996IPIZmkswT5zMopomx4iwrnjEZEXay3ThkaphE1NzfjFbb/CF774ZdxB46u/PaXKKsQZMHgohgwfgUxtLXJsfxWP0xYsWUJD1gLHux4bFxFGBdRLHgOCFuw2IMLXz9wP1114Oo4+YBCG1HWj0vbQSDtEvOA0PP7KVIU0bz3IprpR7ddhTGUbThxXi4tO3g/nvG9XHD+yGkNK7egTbUFl1I6mtUsx+aUXeLz0KlbTSHR3d9L4dlOegDFAY2MDdtl1V+hYjOeupZGXxGSOBrwZhVwbjABkFffd8xSeeXw2Nq0TdHdVA3FfOpUaDk8aRKFcYwjlBZ59A4KI/XK6I+LKzwQl1Pel8zv7eJz9taPxxW+8D1/+5vsT+Mo3P4AvfeN4wrH40jnH4CvfPBZf/dbxhBPwpW+chC8TvvT1Y/CFrx2Fz3/1CHzpnKNx9lc1fQI+8dmjkYs2IFUZof/gRuy179448KDDcPRxJzG+HzKVaR7ZdNCZV+OYk/bAB07aBceevBvef+wuOPr4PTB0RBVl0I1UWjBut3E48ZSTccBBB+Nw6uXYHXdi320yxnvuuSdOOOFEHHvcsTjllFNw+umn4/jjj8WulJuno89kMly8VCHFo6c2Op4bbrwRc2e/RZn06gt1MVFDZxFwDjn9RxvFoBSVuGqfTjl8FV2FHGLqlkiKsgN5rwEs+Y9i5Hh8JpxbMfF9HMNxx9XS3I7AphBmUsjwXsryaDEVWqRTIcIUd4UpxrkLT1dk6XBD6oyHpw5HXLjEHJdq7o5hDbJVGVRUVSBTkUJVTSXDNCGDbGUFaqi3AXXOhgF0PgWpkDwZpNledV11gl/JOtW1VVDIVKQZVqKyMgvd4TdU1aCK9yZVaaYrqpAlv3XZKvSrrkMdFwF1qRo0ZPoiGzdwHtTwyLqEEhcIngsYT1kY6pHaAGsM5wCYwjseL+9I/tUJCSxInviGAMq9RBm5VMnlD883t03w/m+lnJD7h33K3P3DyP1zCFF4ZnO0er8tXcsud2HLvpLKGa9OwgQAV0+AJSMETgQkoN0U5unr+VFgoC8nCf5k2EEzbhBwUgnLPVc0pUIRlTTatTU13NpmUVVZhb71DcimM5wQaehKM8H1gE3qCUQE+jjvNACnB7LZCip9HTLpNOeGIJVKgf2BGIFwslhLxeFMtsaw3CT1HB1aSJq1NbWoorL3aWhAHflIcdJYMdvaMawTcfIKQ534AWkpbb1wX7J0KX59z73cBZ2Fa669FpouccVjjEW/2r4YM2w06mvrk36v5Wpz0YqV2NTSQp4sjbDnfUiEanUi6SIO3rEPPn/KPrj4yyfgxPftzInYgcBuJt5mGHQx7hM6Lh2iakAf1A4bhExjLSwNRiglpIttGCBtOGJEJb505DhcfOoEnLXfMOxHAz4qzKPRdaOwYQ0WT3sTU55/EfNmzELT+ibuAHrQU+CqHhZBpgrDuVvc9+CDsPeB+2HE2JGopJGIBRCTRXub4P773sDN1/8eD973JmZMbULTugCF7gwHN4OUzSKmkfQ8dgHH10qK+QJuiJBSgxTE2GOvsdhjnyGYsG9/7or6MeyH3fcZiN33HpTAhL0HYsJegzBh7wGE/gSGLN9z3yHYc79BhIHYc1/CfgoDMHbXBphMgXuiLlTXV2KHnXaiU9gd++x7AHbdbXekaSAlKGLEjo14/wl74KQP743jPzgBJ5y2D44+YW+MGt1Ag97JI9EUDj3sEBx7/HF43weOxoGHHIwdSauyqgoigkMPYdmxR9OhHIeTTjoRH//4x/HJT56FfffbGxWVFdAFy9777Etd+GTimLe0tHGB8jh3NFxlU3eKlInqhe4UyCwC0tT/iGsaj3+uueYqzHnzddRyd9ff5jG2LsRIXpTtNGQwdhm9I3bZaTx22XlPjNt5L4YTsNuue2DC7nthrz33xj5ntU3sAAAQAElEQVRsc5999sO+++yP/fbdD/vvu+/bwMXW/vsxj7DvfizvhX33PwAH8O7sQDrNQ9nPIw49HEcefjiOOuKIJHzfkUfg6Pe/H8ccfQxl8QEc9f734X3v+wA+8H6m3/d+vP/9H8DRRx+L444/HiedeBJOOP4EnHjCCTjlpJPwwZNPxqmnnEpg+EGGH/4gTj3tNJx06gdx4skfxMknnoqTTzgFpzH+YcKpx5+I0046BQftfxACHoka7mbikoFQ6wFOfOhj+TEEfbfmCYs1j6FmvydgHbVhSRsko3X17JGLHpjSiNjlTrnr6RsrNPtfDdrDfzUP76l9Gkfz2Mvf2b8z13SZ2PYDbao7LPk87YGhUbYQOmkFJE5Fu6fAAeltxeugC79eB5r5W/G1XLOoGmCeJpMVOydSTGOTpvEPjIVhWlge2oAOJIbh5BOhEeLSwTBPiOMY17pKQ0QSHAe2CUCIzz7AWvIKS+0QGGvhRRDTiYgIrDEAeVHautJhVmIAYhr/kA5EKRlD3gEoDgOIKA8OlquYmM7HMzOiY+nhEc3vHvg9rrjiStx8y3cxa85sHsH00NgLV3hVGDZsOI/MhiDkKrR1cwuW0enoH3mVuFL33LUFKCHFi/XGdIT9xvbH/3zwUHzljCNx2vt2wcgBFumgE8bmaHO6ICYHIMeJFkMsEBMcLz9t30ZkBgxB3bCxqNF/T4nHZ5Z46WgL+vom7F6Xxym7NNCx7Iyzj9gFJ+7SH7vURujrepDJdaB11QrMfX0Kpk9+nUcci5J/n6mHsshzRchlLup5ZDiax4zj998Hu++zF4YMHwUxdRDUYEuz4NWXV/LO4TXCy7wMX82LboOYR2Eq44ArZKGulHh0pAaiWOBIMW11THip600PvO2As20M2+FNJ6GLoGEHQ81jmWllXKENCDogtrMMAcNA81pBXYUaahi2IdRXctjDRQqsgXYlorydjRFLNyTVidjQQadaSK8FJmCeKcKGwt0m9c5aRLpIMRQ565vAJvqoah3FJdjAQAScEw7GAGKFeRYF3baJJIuYsTvshA+e9iGM4nHrzJmzKNf17AOguALwiNCThiTHNh09Xbj9jlvpSKagipfSew6sw1dOOgDnffwDuOTs0/G9yy/Ej2+4Dj+55fv40fd/iB9874f43i0/wM033YJbbrqR8B1896YbCDcl8D3uhr7LY9bv3nA9FL6flN3IMuLeeANuVriB8etvxE3XX89FwQ246TvX44brruWx1zW4/ppJuPGaa3D9pGtw7dVX45orr8Q1VzEkTLryKlw98QpcfTlh4kRcdcXl5fQVV+Aqpq++fCLTl+Mqll91+eW48rLLcenlF+OSKy7GpcS9lDiXT7wymTNXsPzySy/FFZdfhssvuQiXEU4//cOorKqkhARxQSXFKMoLRniBJ2gO4LcLFE+hnPXXf7XOVmAb4kmVbTAMUi4tQenYqorcmL+e3v87TPP/jvRfRfk9IdEIm6deuWFCa/eKm0tx2xEmLKUct8AiFsZaDmKZnIpeY5Q3EqD4jfeQZMA5GBwTwBBFQRjqq3ENFcp5hrNQxCDkStXR0OdyPdQPD6uGnPRsEJKyJGBtSGcAOE7wmGBp9AXCiRjDs64xlmVMU9GENANrYEifZLjapHFhRA1CREcgAgip6o4ilcoATNkggNJkdQgNgygPYnjeXgRYHtPhKT0hzWTHYQPoSvJb3/oWLufEeuW117C5ZQtKXHVa9ifD44SBvFxXJ9nZ0YUVS5ehZVMTpEjnQWOUdTnUSCe39M3YaZDB2WcchnM+dyxOPXIcxg5KIS3dML4AdTqOxjcI0uQ4Zp7bJvNYHApc6kfk1WQrIJlKZPr0Re3IEageMwx2QB2KGQ+bilAT5DGiIo+Dh6Tw8X0H4RvHjcPnjhiDPRuBhlwL6vLNSHVuxPpFczGHF6NTXnkVy3n23Z0vwpkQEmZRVd+AwcNHYPwee/L46AiM3/0A1NcPQVysQmdbgMULm7FgzlpIXAHEAdqat6CleRMMd0sVWQOhLhWLNNoS8+imwPEsQYxLACYGbERgSCcjpsB8hZgh8SzjXKkLDT54+wSuHEVYlwDSh+Q4TA4xSTgXUC8CBDYLcOyMAJbG33ERwuEH1wAwTFOlEPsi5VoikOVI2FYG6XQVUpSlof6BeMWohIjHQY7K4X1ZBz11EKyloWMZ4GDYkAiSR3XFE7mBMjv44IPRyeOu5cuXolgqUh5CrhQSVNg0HfK0KXjlleeRpiM5YNgwXPqJj+DDh+2MA3aoxoThWew5fgh2HT8CO+88BDuOHoQdRg/knWA/jBnZF6NHNGLkiD4YPqwvhg8kDOrHsB9GDOxfhkH9MWxAI4YObMCQgY0YwviQ/gwT6APNG8z4oH6NGNhYh/4NNehXX42+fWvRl/E+dVXoU1dJqEJfHmf1qa1CQ3WGUIGGqgzqK9Koq7CozRjuokPUVASozlhUpS2qUxZVmYBxgyrGawKBQm3I/NCgMgAqQkG2MkRFdRbVPBGorauHl4AQolikXCktwENBRDRI4vz0voYhgfOEkb/hZV0aMke9dKztxLI1S3sSSSrrR3W3t5ymfxrBon/pSy7/pe3/1Y1PnDjRPD75mvHNncsmpTL5vRFEAe0nYheSBgVL8YrxHFZHowAYTXsWcRD4hZaBE0onkKahA5tsHyVJlj/bi0PjhhM7JkQwIli/fgMeeOAB3HH7Hbj55lvw85/figcffAgLFryFiBYg4OrQe+GkNRAR6E5CqevEbevswpQ33sBvuUv4xS9ux09/+gs8/PAjWLtuHTxXpMqOGMUGmMH6gLUWusMpcPW6gfcXzz7/HO6+59e48+678dvfP4DFixdDDPEhxDVQY9RDh9fd3Y3bbrsdX/7yl/H0c8+io6srOccGn9ra2mR16iifLu5a1q5fh8UrlyDyJTgapSAuIsuL3MaggB0HWHzl44fimvPPwEm8PB/SmOdZ8QYErg0p4+g4QKeShv7Ovcs7ZCSNCh77UcwoUR7eGHaCMiR/jn0zlSmUOInzBF9fg8zQAagbOxyujg4z6xDyiKvKdmBQqgu71cU4ZscqnHvq3jjvtD1w6PAQ/aMu9EM7qqJWRC0bMHfaZDzPe6cZlGvTho3Ided4TBXB0vFmq6owevRoHgcdSsdyEAb2HwwrFUgFVSiS11QqjSVLFuFXv/wFnnv2cSyYPwdd3W2IojxUgVLciRpDS8I7FY+A0rIcF8MwZrlKj+A9h6oXuIPzOo7co6mOeQ6o524vAc+qiDlGFiGNlSAFJA5FEloxjb0afG0vCLIwJg36cxQ57ulsCMd2QL2CsYhovFQf1OhHHCcnRRZFEJIylvwiYBtpGJW3MVC9dwlfDhHH1nIhQjJQvbLWwliTyMmye61tW5j27FMJAjItAicencUinqEjae/Ygkryetwuu2I4+QhXr4VfsRx++RKUZr2G0hvPIpr+LIoznkZx+tMozXye+a+gNHsqinPeQDTvTURv9cKCaYgWEZYQFk9HtHwmYRaB4QqGCssYLmN6SW+4dAYi5sfMT2DxDMTLZsCtmA23ci7c8tmIFJiOVs+HWzOPsIAwD/GqeYhWzUW8krgr5hCP8QR3LtwKjc8nLYbL5sAz7dey3oaFiDctIjBcOx/R6rcQbVqBQtN6pCkTS1UoUQ6GcjLQx1F1OBAafQe8W947EP6KhI4HG9RxUV2AgeeCxZtuI0HPB5+aMnPEX0Hk/ylKWQb/T5v4xxDf84BoeGv7yq8G6e4jnHRZEbLuMrBSyYkZIuZEAScsE2zQJSBwHFyXxPlJXh1WD+GE0aSmSIdpTSloztZQRGDEQtjW5s3N+NGPfoSvf+McXHjJpbjh5u9yxX8lvva1r+Ob3zqXdxDL6dhImXU8J79zamxiMImmzU34yU9/iq8Q9+wvfgkXXXoZLpk4EV+gsf/yV76CF156Ofndf+c8yo/Asb5huwaC+fMX4NzzzsNnP/c5fOvcc/Ht887H2bxA/9RnP4sf/uin0Et0IR6bhR6L3XDTzeTvZqxZvx76mz2GBkP/2e0ddtgRVbU1sGEKPd15rFmzDpvbWmAygiJ3IqEpoj4FjBtcj48dsw8u/sLJ+PD7d8DgulaE8UqawE3IZvKUSZFidgicQVACMpFBJUKYoge4egY7HUlA6VsqvKXTMdCVc3fcgwLyiK1DZInKlWGpKo3aMUNRMWowwkENMPUZSMoj4K6nPm7FcL8ahwwu4pun7oHzPro7Tt6zP/YZGGJY2ImhQRHVhXY0L3kLM158HrMnT8ZyOtgtmzejkO9h+0WILWLAwFrse8AEHHLoAdhhx7FMD0CYSimbaG9vxUsvvYQreQx4/rkX4M2p0+FjA3U44tOA/l1BnIFQ15wPAW/gPXWKY0PigDDPsDMSMM4QGjKP0oJkmEcakgJgqaMR61NGfC0dVUyHa0RgOT7Qh+PPzRGExkJEyGOIfD4HGCDgqtnDwxhJwFphigsdOgoTMG4MdUYgbN+5mDx6pmOCh7WWbVik6SBVR9SRgDsmz/niqGeVlZU89grpYCgvAYT8gbyAjzqyzkI33lq6EJlUgIZ0CM+FzarnXsfqp+ei+cWFaH95Jpbe9zssu/tWLP3l97D89huw6o7rser2m7D6tu9h1a0/wqqf/xzLf/4jLL3tZiy77XqsuO06rPzFd7Dy59/Biluvw/KfXYulP7sGywjLf3oNFFYyT/OX/axcvuLn12Ily1feypDxVT+/BqtYd7UC6ay89XqsvFVpkjbrJriktfKn12EFaazQvJ9ei1WksZqw6tZryvR+cg1Waf6Pr8NihktuvxFr7v0eNv32h9jw2+9j/e9/grUP345lj92NeQ/eg5UvPIUKOt50qUSn7wCOledoIHk8KELG9KvAaJKzNa7p9wjUh3INbauXvgd0oSAmBmxx9PqmFUd5n6yO8a96zL+q4ffS7saNT1V2+c6vISye7INCOuYxg+dkcNR6HURhLzjHSNLBCyeWMKovy7cFFD4IwoH1nECGFTyNAtE1O5l8QuRyFa/zFzrRmAXnBa+8NhmvTJ6K2ISoHTAQVf37oaqxEZzxmDZjBpbQiGl9r7OV7Wg9MTahvWD+W3jwgQexcdNm9Bk0EA2DB6GeR0zOGMzkHcYzTz9N494NYeNa1bGyhxoHjy7uNB597HG8+OpkdBcjpOsaYCqrEFRUYdWa9bjzzrsx5fXXoTsjsolO7kKep3Hs7KHRpmAayefIkcMxoP9AOhqgra0Vke5AgjRcLMhyJ2HiPGpTOToRg4+8bxTO/+zhOOPYXbDDIMOL9zaEUY47EIHxoIEGHQMVmDFBhDDw5LQEzxWr0KA64ngVKnN9guPAQvaNZs4aGGuhj4dQNuyjDehgGOexW7Z/X9QOG4yqof2R6t8AW1MBsULH0oVstAm7NObw4b364stHjMaXDhqJU8fUYM/KAoaabtT6HDo2b8Di+fMwfTWYwQAAEABJREFUa+pUzJ85HWt4/9PT1g1PpkxgUNtQh1E7j8Wu++yBPXnhO2LMWNTxyMKSpzXcIT765FN4c+Y8FOgcCwXB0kWrke90sKUqQjVQylAGIdl3EGHAPoJ6CGiCToQOA2Lw9uMBUVl5YgQITMAQlIfixxDW5ZDDe2HcUB4sY4ZlHaGOejrmAGkYsdzpRdRDBzIAS2cs7JNVxxF7gHrkIazsSTsmvoEI08nrof13sUMcxYw7WMNyYhvOAdH2OC5BkEKk5eQF7IeHAYlA1FHxfqrY3oOwJKjgoqGe8qolbn2UQW3eor4A1OcLaCxFqC/kUVPIoTrfjfpcJ+q6mlHH48nGnk2o7tiEmu5W1HYz7FyD+u71qO7ahArmZ9q5UGnfiIr2zahq34Lq1s2oaV1P2IDKLRtR0bIRVW2bkG1Zh3TzWqS3rEcF0+nN65FtXofs5rWobGac6VTzBpZvRIXWo05kmjciaNsIS/qZtnWo2rIGNU0rWWcNKlqJ19rEvI2oJu2atvUJ3aqOdlR2tKGqswXV3ZuZ14TK1jZUt7fDdLXDS4naHauIKHOBjiEFBtC4q23SuNC2C3enIC4kgqes8bc8vfXEG5SBRKg7ngsJ4aT0UkibMHfYi7O+SyVl2b/oNf+idv/qZmfTkUxdOPVsZ3OfMmHc6DmRHAUYq4AZeh0krrBEtCsKQtoaMuDE0JQCRxsaCieJGvxkEOChmfyi/JRj5doetlyBWDzi4n1CzDYylTUYMGwERuw0DsN33BGN/fvDeY+1a9dSqbySg85jpef54RzGxo2b0dXVgzQN91Bedg7faUcMHTMa/YcOS4zElubNKBXzABXEgWQIIJ9CBtqovDNnzYY6h36Dh2LEjuOw8x57Y9jYHZDKVEL/CG2l/lEVFSumHNJcwSb/uB0ElVU1GEpe48ihmZfrq1asQTcvUjOZEKV8HtZHSEXdaEgVcMIhO+HrnzoSZ500HuNHGDqXNqSlB5Z3HjwBQ8BVttCQ6AV1mM7CG0NX4ml4S9zVFCChgSPPNFcs014oeCS9oXwE/HECQ7A6yYgrsCw2MCaEyrZEmnEmBUOjnx7cH5UjhqNy6AiYmmp47jBSaEVfswU7VnTgWJ7Vf/rgUfja8XvgjANGYY9+BgOkEzVxB2x3M7rWrsTy2XMw45VpmDNtLtav5TEYV5I8XUKqOo1+QwYnv0ml/9DkHnvshYGDhyFfAnK8iLdhJVpaS/jV7Y/hzlsf4x3NSqBAHgophDYNy3HxXIggeSJ+2U/2CewjO8TA9YKWkShiZhuqoDAUiKjxiSFcFIloHHyYDwJ1IDE+UJoBDBkWygwgTbarR2KGYy2UqeERHGhgPAwglKMwYJknrmc5+AhpsmH9wogwxwEkLaLtcvHFflhruCZKQyRgGXEceRWLmDiO5VROmFyMFHlJ25TuuWDZjiVfyXjSoQV0bqGGnHMh6VjSEDqhtHjqUYnXTV2osBFpxLDU9RR3niFPE2yxgArynqXzVAhZxxTZFnU2w51bBaGSfUlx7AJCmnhpD2RZJ+DiKkOnluE9T4pOLBMVUMn2Kq0gyzqZQoTKyKOSk1DpWi54UqRfERVRA4dK46n/JUKMChcjS12vQAFphiH5DyJBGANaN006VepMS+CYeBSNA4uZ8BSnQq/oePbldTFAOYDyIgLKjiQmHv6ORyAwbFtDQG0FRQAYgQm88N5xr00tq0bhX/iYf2Hb/2vT3k80y+a9eUpTy9pLgjCqcz4PcKCUaeoB9NGJZpyUhewFf/n54/I/xqaW/nGWplkt4qoLnFxVVVWo4LFAhivpuvp6ZCsruKKLsJSrYF3xE4VorMB6IgI9yujmHYaGnLrQs3wbBsiwXt9+/XiMUUBnZyeKPIMFH8/JIlKuT0IoFApob+9AOpXG4CFDUFVdQ6hGv/4DYAMLYwz0nkSNh7UgnsHgAX0Qc5JGnABr127GsmWrsH7deggNg+UkMjxrz0gBfaoK2Il3EVd/+8P4wkcPxV5j+yGLPBwnbcyJUywZQLIwNCD6NzAiBgEvIwulGEXmF6UKkq6DSVeTfyCiQQEf5V6SqSPQH896AGmx7N3eZJpZlhMi1lPwoYVUphH0q0HDDsPRd+wopBsaUWB+N4/kuvMbkTabMbymFafsUYtrP7o/ruBu6tSxlRiV7UJljqvJQg98Vx5rlqzFG6/PxORXX8fy5SuQ44rZUwZQ4xJmMHTIaBx4wOE4/IgjMHqHsRAJ4V0V4lIdFsztxp13vIKpk5egIqP3TUXoLzhA3q0n75b3Tp2ijYOOFdjPt7F7cXppeo5Tuaw3g40JjYaIQERY1cMnsma8jNhLrZdOb6q36C8GSk4RMuk0rCoQSYpwLBj6MrPQXY2nQQbTAXEMeaEPo0EV6oFhaBBzfJNxpFEWOok06wckrgsZR+figjR6Ch4sQjZbD2NqEJeyqLC1CPOCygi8j7HIuBABjbChy/IERx227Gs2XQkvKYhUwkgWpZxDaFNc5Hg6K0FV2sBwcVSKc3DqrDiPqjjP0nQ2FaRRhwBV3HGmShbWpekfLfKkAS4CQgjren49DAjsp4ZgXEQY+DKIK4ccH5UN0SgS5oEP0Zhg5J/1UgfIlupiHEc6twdEue79X/AvBP8sDv64HfPHGf8u6fv9/faRyfFenfm1X+JmoN4hBy8lxC4ii5Qiv8JAqAKgCiAJ8Q99HBVSJ60Rw3YddYUNsgVjDCKucEpcEVljkKKh178wFuKxOMFTZRORRPnUIXDoaYgDCCdi7D2UdhiGAFH0XkNxRBMAeyMJgJNI21Fcaw1KpRLbSiVtR1GJkz9AwMvmiPmxTmKAx1Yh3n/U4QjIV473IhvXbyIeENgCjHQiG1KG+XZkTQmH7DUal57zEewxKovGoB1BsQUZiZDipAkDg2wmzbaKcCiRgEEhNiiiGj2+Fi2FCrTHVdjSY1HwWTibQRCmIQIqdhm2Onz0Pn/O16usvCeSVibflHQi7zx5yXFpmA8AX12N6qHD0Th6LGqHj0DYh06sGkhne5CKNyLbvQI8AcMnDx6Lr5+4D846bAfs3T/A8LAH/U0O6Z5WdG5Yh4XTp+ONl1/B4gXz0NHRCRgLJ2zbCurq6rD7hN1x0CGHYJdd90YY9KEhrUMuF+LNN+ejRH0I0yH0yIw1/iGvdnsrIYEkugOG+oJPWTaKxVKVDwveziPCu7xartnCj8YVGIWI5lCWibA1R+OAMSbRKyMmyRQR6A8/AOPEwtbH0pmQSagO684lUn2GUIY2QTGUUZqxuJQHSLcUZtEZVKIz24AOOpGmoAZvdVusdA3YGDSiFVUoBhmquoHQ8Cc7HENaVJYSYsSpFHJhCs3chW0hnY2owPooja6KBmwxKXRS5zrgkaOIIqFhJz+BAYS7ixx5KFiDHptGm8+glQ5si23ABtOA5kwf9FTXI5dKUbtj6K9Ze7Ai55yhfIQ0QXDCuaoyEE155hC0nO0xC/owCRFNsZYmNPOfAEb7yvEQhsYi443fvfW5KbX/hKbftQlK713z/+WZ6dem9W/vbj7bZvITJOhB5LphA3DQOIooP0KFK8cAjSvgH/xQdaDGPOZ22xhDZQJ5KCuN6o2xlkcEIbZs2ZIYe524yqGG4CMi2+oH6jwgMNbCM19XciHzcj09UGdCRATMBwmICOeshwjxqSy23PkkzwOwrGcDm+x8dHXiOYlZyIMjg8MPOQy77rwLUqxTlU0jLrYjbTswuC9w0D47oL4ihRRXV4PqUhhQEyPjWpB2XUhzZRdwQhpEgCvA8QjMSgGp0MOxTRfWoakzi2enrMQ9j7yJX97/Mp5+ZR5auoQ10ijFHuQaZFmxof0AhKGBZ5DE8S4PK3h4GiiHBM9SLa1AJ3JEytwkoRSkkA8rUKpsgO03BBXDRyHLoypbXwPaCYDOMm270c92YPfaPE7YrRFnHz0Onz1qLI7esRoTGjz6RT2oL+Xgt2zGMt5VTXnlJbw5azpWb1iNXL4DYN89gOqaGuywww446KBDUV3Vl2JNo3mLlgtyvA/w5BdqeIj7d7+qRCQiIhARxvgyEPBHABEhYNvDJJRHCnVb3h9HhBkiyZext18RIS1hf8oUtpYY6rUNgqSMGICUyzUuKD8asiYsdRFMGNLSOwDxQnSOF0PjAMvjL4lLyKZT0IV/Z5hBU1CB19Y048H5K/HL6Yvwqzkrcee81Xh4RQtm9jhsyVSjh06hBAehE7C+wD6WoL+k0U1jvx4h5vaU8Ah3mPfMWooH3lqJ385fimfWbMJySSX1O20aRaQgYuHjCF5iFKj7LdksVtgs3ux0eHhZM+5bvAn3L9mEJ9a2YU6Px2bqVQ95LbH/TgxHVQgeAvICaiX7Cab01f565nvOHRYlQ+CT8fNIHuE3STP8J7zalCcv3sXwPg5E/NiufFO/f0LT79oEteBd8/+lmTzeCrirPslL1ykmLGSdydN4AjEVTURHrAzCERbPr44lDQFEI/841kVIm204DpjuCkSYJnDkkkYMJ6EQ1KjneRyluwjPERaWagiuchhNDL7XesSNOPBKT0GPDIIwoBOKeExUhHMOxnIykIbWExGISFKutMMgpMGmoWdeTFy9dNcVoiq2NZbKLayWxtgxu+CwQw5FFY/iokIb6iryeN8ho/H1s4/H5z5xEvrXVXAHYpCmvII4j9B6WLYbc/VXcobTxVCUnvmgc4sRcYWnRwxL1rTj5/c8j+/e8Sr+8NwcPE5HcvcDb+LpF6dBUtVJvYjGhExAyJQCvEBX/l4zCUwmaUaTV/MTObJPzvtEVhH7FjNuxSCUkE7NoORD5E0lcrYWhUwj4pqBiOsGIjt0NOrH7ojUkEEo8MLeBUVUog16tzKsohUHDvP4+IGD8LVjdsUXjqJchlRgmO9G37gDacpm49rlmDVjCqZOfQUrVvDCPRcjpGFzrshdj1Au5Im7YT2G1KO+FFfa8Ck47RT+3zxCshQHv4BIksIfPxTPH2e9a9qDP73ICal3wRIRUNRsy/eWso7WI7AEwtytY2REU46LFkFI/Q4dGFoeTRkeFQkMsQNr0F0soTuVxeo4wO9nL8IvXp6Lh5atxRMbm/HY+hY8smYz7qVD+OW02Xhu9XpspDHPpVPw1iNxKBYo0kFscCGeXLIOP3huFu6btwxPrN+CR1Zvxu+XrcMvpi/FzyfPwSt0DF3pRuTjFGKuPIIgjQKhOcxgWmcRt01fiBtfmIG7Fq7FXYvW4DdLN+C2mQvxk5dm4HGm17gUetJVKErAqc0+sE+GMnNCOQigR3owAhpreLUzHmAK+iTzXCPMYWWwKEn9Qz86aRT+iKi2XaI9EcqKXtwY44Zb+GETJ040f4T6T0n+Sxr933o2Y8ngse2dTV8IUq7RcYg9V6c6SAGNqeNAl0dX3iajA/x26h8W08HiCFFNJDFySlgNvhjDPCDiCshxMI3R0cQ2HLBUpMyf54TTXQ34ODolo3UVWBp/3usAABAASURBVG5pwNVAab46i4Q262qobWs9EYGxbI/khApdimM4qqzWNb101NFpHWtDWE4gwyOnRt4vVKQ5OQodOP2kQ/DVTx2LvXaso6HtQkoiRLzkdJGDNZ70YvQUPQq+ApGtQ8HUoGRqkS+mAMnCcmI6k8LS1S14ddZqdEoFmnMhuuNKdJY8Vm/qRD4S0gHIEvQR8qgh2B/w8QRsy0sS2z7aT+1v0p/AQthPsQag7FB0CGwlNaAa69uABWt78Na6PDbn0iim6glViCqqUDtiGJ3KKFQN6YtUTQhdgITSiUrfggF2C3aty+FE7la+ePRu+NIxdCrDsqjLt6Mi34qAOxb948WZ02fgpedfwqoVK+jcu2FtBC/q5COICAIJE2OFKIBFiH/U48vCAQTbPaK26e30NiRmJfGtlZj+k/cdhLYr/XP5ikJ6LGY32a7vhRiatsbCGAMWA0TzXOmJdwgTANSh0AfQnnkIeWMxChKgO1WJ5xetxOOL12B9VQ2W0miv5y5hA3cDCaTTmMH7wAdmzcWSgkMHnXhsBY5zyiFAp8vgTerc4wtWY7UNsS5dhyXUsxUmjWXIYFW6AlO25PHwnFWYSYdiuYvMpquRKwpyqRos6gbupyN5jo5rdboSSyODDQxXOIP1XPzM74nw+5mr8MTCdViXtyiSrtcOs5OikMRVNsB2UahDEY9EFvz+c99kELRJgdohgHrJBSkQc/4V+8BEww87DAb/gudf0uhf6ufk+b9omLNw6tXpimiXWArwyaiRTS4PYiqScBIL4+KFZDiikngXxreGjL7LK6L45fHXiaHGS9E0FBGICEgNhqExokVJnhp6xYn0XoKGXOuqMffEE/BHDEQE6gxACiLMY23mJvlq5Mt1IzADuqBVmmwIMekFajxZx9NwWmuTiaQrO62vbUEfMmasRURPGjA0bFPpapEaYsfJ5zmxtVzvzL0VON0h+BJXjCX0rzGokU5UxO3IUqZpHn/BGARcDTpOfs+wFFQgHzRibWcKr7/VhldnN2HZeqCrWIfIV6LE1Xh7TwERjUTMM+7+I3amn2lA3odo6SzB0bx60gSV2gBIpOCFRgkAMxiFE5UQ09u9zIKIfoFEruRHi31vaLiAyHF1uqnT4oafPI6vXfxrfPmCW/G9nz2A1Wub4Sg3x+O5fLEHjsdx6QF9UTFmDKrH7Ij0gEEIKisR2hhh3IZUz0r0xxocNlLw9ZP2wGVnHoL37TQc2VIR1hniCXI9rdylvIiXX34GCxbMRZE7ztBY1FXVwiLgT5oGM9SRxnt9aKKTKtpdn8TKH8++JsC+aCiiclN9BuXHWixXTMfxN1Z1xHH4VKhvlwn4w3qKx2gSaCgiSVxEIKJ0y3WEudqW6dV1JhHw6FRDzQdHw4pJFkiWbVrWZaeh9QzzNUJKIIME1qL+aVrna8wB9zTWK1rzeGPVZmwJarG6YFE1aCSGDh+J3caNw4gRQ1FRV4NiOoPVecFj0+ajO6hGBMpX0tS3NFriaryyqAkbXRabSwHCuv4YO35PjNh1dwzYcRekB45CR7oBS7uAJ6ctQFMuQpELJMfj0M3FNB5/cyHmNxfQk65HWNMI/eWKnXcei2EjhqC6oQ9cRV+0phvwxIKNmL6+DQU6syJti3ZI2H/PPpVHQeB1bDSP9kZE2H2CACIs86yRjJH0ppmB//ePI0/GGJS4C/Q81rMhKox1Q3O5Bot/wWP+BW3+2SYfX/J4euOm5Tza6jnGSz7QwdRhoczgdZATENZXAHU7UV+GjsC4KDaL/0GvCNshSU9FSYwuw62kRVhWfslIgkQekSgT+IiwkKFmOhoBYmwrA8plamA1X8PeLPajlxz+6OltO8HXItIXkaSa8qfFlADV3SH5O5zEqDsaQEDvQtI8Ikzz0j6IYxpDDzXstJ9sTxDFBrk4g1e5Svv+XU/jih//Djcz/P7dz2B5U4kL8VoU4wDUWTgaioiVq+v7IFNVD8cz63whTmiQGBJQ/rRTBF/mkDk+KfJJjJ/tXumNJ8O3HYLnxI3Zj8iEeG3mUkxb0oweGqluHne9xh3S5Gnz6OgEQuOWjA97WyRuD3dnUX0jsoOGoHboYFT274t0TSVM6JCxJR5vtaC6sBk7N6Qwqj6NaiswlM/OOw3AwMFAdV0PunMbsGTJbBTyHRATo76hEmKLMHTGxpTYzxjv+fFv15C3o4x5iLwzh5l/8ytQA+fJIxhjirRVR9D7iAigAMA5jguNpi5KspksczyLJAEmQEpUYc+oR1JFAL7QR39F33HQHMcohoPjeDkjiLngyLsAKzd30cB7dNsM6voPRT+F+n6ozVShsa4Bffr2g9VL8HQWCzd3YEVLN0o2BXDn4rgbXtbSiRXt3ehiOqyuY/2BqKqqRkU2g9r6ejT2H4R6OqhcthqLOnuwqL0V7Vw45FIBVnV0YQGP0/JhJar6DcaAgUPRt64OGeNRERrUVFWipr4vUN2ATc5i7vrN2MLdUSwWnvoE9tJYCyZ6AcnjoT+MikpBgfH/x6+2ouNQbsaXA/InCZ8GIC+eYwiJAmMw2NrVAf4FDzn5F7T6Z5psW/bSmJ5i6ydsJq7wNlIZEZOipLAEZJXORCAoPxSqRqnMSRaVpJz/D/6yDU9LrfAnlDlynuWaT240SCbeVlxdNQgnF/UvKdMPu6IBRHrVg2GSsd1HafaqLAzriwjKK6RyK1oObZdlYBnZY7vE4GT2iEgpgtYQNqzi0fNf6wx3KRbGc7KwnrMeagw8MWOeNc+cvQr3/uEVvDJ3NTZwVbe622L6slYs39SNAu9SIDziiRwcj8esMaBHgjB0ZKZQdEmcHySP169h6wRRRpkWx8+ff3uxyA3KkNBIXAlydIJLea5e5K60ZKqQc2mENCitHXk45YtOxHPPILYSJRqxEh1KkbzprxE73qOkBvZBzbChdCzDEdEwiRiuf2Meb3UxLMLGMbJZi1M+dDA+/fn34dTT98L4PfvBprrQXWhDpgJMj4CXDiDogfNdjEd474//kyqJrmzNFkCEH/xjHo8yYZG3aYqU4/oV0S9tJdGUj+rqKtZggtkCeZsJKpGWa45hvoaOaJERRJx3qkfUDDjiUc1QIk5sMljb3InOkqBAY11VVUUjzl0HEeKSh+F4ZSoqYehI8hyvDifYRIdQpD4VaRiV7uZcFzp8CQUDjkEWNRUV0PsUH+VhmF+RCun4axFXVmEz257K+6+2EOgkrNqyGe2kg4pKVNFpZLKV0N2FcBcrcQmWkyabSSNLp+Ir01jV1orWUoySCSB0KOCjfWY3IeRJoD+ackCiyxrHP+URNiVJS4wkIT/kCbSH0JDjQPbgESOK8v17UhElQJx/8sth+ie3+GeamzbtZxXcjXw0lp59Y5eHSFl8+qW+shZjfBnZ7vXw4qnEgANN55+Ub4f6d0Q9+KOK2UtDlaw3yhIkoOleljUKxRERciVJWj9JzGlsO6BSa0qzOZ+20dI8BREOUVKRPDD0qjgsULVScKyhbTELLKZZdZyonnE6DSqa0nSeNHxARkPKyYDZiFWoWoFlcZTBvAUbsHx1B7bwyMHXNKCTE7yLO6r1zS1Qaoar9ziKqKwRAh6LgZMyII1A++hicBjgGSovnsx45ntywigcJ5+XGDpWmt4K2jxJ0DCUczStUE4Bhn1Np0Nk04L99x6H6nQRJmpGTbqEKJ/DHnvsDglSKLEPnhfjRTpK4arY0tIJGYq5o8hzN1Hg1CrQYNg+g4DKPnBBBR0CZSIGxlrSAGLfjVRFF4aNSWO/Q4fj8189CZdf8z/49NmH4SOfOAB77TeKu7M2RK4LNoxYT3u5ldO/L3ybkvx9hLarreMA/zbl7YreERURiEiSpwZfpBwXeTsU0lF6Cgli8vGUGSNC+UFgOcbgGDvwRwydTICOfAxnAjgXoTZlKeQCnGVZmEGO+uW4C5FUGjGbKrHOlu4eFBi6QHhTWkRHsZVphzhwCEMDazhm8AgCjccwpTzbBSSbQqkqi4VbtiCqroajc9nU3cWFg0XRWCBkG9TZItsu2hAlsdB7HXBOG+NgOJ4dxRzaY8+lmIU3BtpXx7QQly0kOqq6KkJmUX40KiIQUSjn/T/5iidZBQbbXpPEXPI1MOQBApRKhYElJ5VJ9j/5U+bon9zouzQny1uW7uDR9b4wLGRTXHHEcQQvKioFreEoKxXoVnDM1DgDvonxolFh9B/2qkIpMc6lRLk0zgiNchJjtLd9IogIhBNBRMMyOBpjpWGonKqIGk9qEt/T4CXxP/ooRXUAXtgMQUSgP1pXQdEVJwFOBmhEMxMscMVlENBxGJUF6yodnayOvCnExCtx0ntWTHSUK/tCBK4eA/TEFqPHjcf4fQ7AwMEj4UinadMWEBUR7xVKUQk+YIPcNRpbAlAktRhxRKPBvjKBBMAq7IS2oXVBA8Osv/gakt2KIIwoODKe784jjPLYY2wffOaU/XDQjrXYc0QWXzzzCOw9bhhSvgCDmM1QH8iX80VYykWY45M+W5SM0IAYcusQUadiHmkB7DRXqBxEYrI1KxDrEWY8TMA2K3tQ26+EA48Yib0PHA6EXUjRaBkevzhv4f7M+JH1v+KVbThbuy0iW0W3rexvjWzVE5Cm0tia7k1qFvucBAmKiNBAB9ydceXPODheWscrc/xoHNseD0niQgNrYR3resAyV524ylNowPO01kXSUsfguIugredepAdeqEOW48A7vYjjZEB5U3cMZar/HppDCjF1suiFiwQHqLFHTJ0mZskT2zLPQkQQCnj570nXwktA/BSylf2QruyLTi7Oi6QlQQZBaDnaER1cnDinyHJhRUdmWNPQYbhSRP13aCvGKBkDDwNhH9h1WIZCXsSj/FB/2DhfNl7O+Zd9PfVbCMqAV64NEAS2Nputrda8fzaYf3aD79bevHmXh952HW1sbmdvSgIRoilrjiGBAygUFhJg1rZQ45pLfA54OfX3fkmrl0RZf95Oa7ZOLB24rWWaJofQ5sUYsi4JaL4CEzCBKrvySQrUUGGgr+dk2kpH02UiwNa+bsXTmp71wEfLEvEw7rQ+QWgsRQTiDOAsQKcAjcMg4Y3lmozgOeEirsoi5scAW4JjvSDkZBOWCXnNQnjZnk5XIB2keKxFCpxwhjRoMaCr/UhKYCNsK2YLHoYzzdM4iAhbIAiL9U06xw/LwRIFlZMWKbBEg21gmGGSfjJCfGGDGZtFRhwabCdOf/9OuPrrx+K6b5+MUw/dAVnuUkypAynyI8hDpBuWOxE1QI4GyrExQYr5ITx5ExMBkgNMD1e6EQxK0DaVPV2F0idyZcf+cLwi7lSc5bFWqgVhtgcIinAQOlUaIp9lLMR7f6S3Cvu3XTTpcm8JwLLt4l6ZU+jNK0dNb4rYW+lsV091hd0ljyxnfjktEClDkstGNZ9BQivgij0MQxjisEqSJ2xMdV0Tnr3XeqIJIqjcrBfYWGBiQOg8jOazvmM698ddAAAQAElEQVTorUGROxKiwNB5eJeDlQIMKH9fQEACAYkFpJtinZDdNly8gLoXuRC6kBEafJCAoY4aKrAQQAdQcuRG8dluimHKgTxYOpY0MqiiP6tEjke3CKogRvsEIC7CsE0KgeUGzll4gpEA1qQQMeyOIkiYZhkgMBBRHEB54BcUBwNJkmQLEPAxBL7kQxFY2ptgRrkC0/+olzShsB09MmKMQTKWcDBWqiuQadgO458W7ZXEP629d21oUWthSAltpzpTqIYIYp5hGw6kcHUtHFTw8dsDB9ETDxCOH4Gh6knSGUXEnz5bJ438aRFUewxpiGcpX68h2/XM8x6w1nKQVMEBLWIWbIrTgBH9DSqdPGEqBaM8EUFYT9iO/oaXWAOTsuCSgcckMfkFV3OeKy1A0R2E6y5hXQvDuHFIcOBdkhbwscShsQ6shaPC6yT0lFFMHJsOyZPAioX+yqZn+2qARCJAvJJhe6RMXJC49R6GcQPAE8A2PdMRV+sSkkZkyFsKgU1BdzDdcZ58R6QTE5/ASpYXqpAAgIU4IT3SpCJ7cewLEQCogzGIYGnoLVed4MT1yo9QWgwdwZMiq6Ocz1RS5kCizFP+HenFAOkY7jjS6EZNOo/qVBdC04lA8rBG2xPQvtBJxohJ15GOthtSZpYGyNC5ChsS9tHQ8jGKAmI4IxDKQ9iC5tkwialEIA7sg2WvgJIeu9JJebZnLOVGGYO6CWK+DXj7ScqFiIStuRxszzoCD9GxIW+AjoISNNAysFHP/RPEE4tyAlfxikuePekYpUFGRVLEB5xQNiThWc8YB2GfBKzHPhG9/Go8oacUNEtDBWHCwJgAzgHC8QxtCJICm4AjLU0I5RszFSkNVinrjocl/ybB8fqF8gCx5MtAqE+GvDmGQieTScY/JBXyDQsDgbBRsgweQHDcDJwYRI7OxpSIEcEKYEEd85LQ1PZ1l2PhqJ+kQMcTkzdnY1KLYahfhq7EOfZNAOXKswGvOArMTyFEijuWlOI69oq6Wb7vsdQwQTGpagBShD5M65zSqOPHGxImHTAsEC3ylJ+k2VbAUkAoI6hcKESvbWtIUG6EfAsx8Tc8HlqTbW+r6xnz0OZEWBZ7psFxdJRVHHjxFUnGP/lDkfyTW3yX5krF7qM9cnt4U+Kwq9AIVCKBssc4hanvNtgWKZexUpIDDpbm4F0eyrycuy3CZIKsA+GT+kmS2VtfS+NNNlDkNlio7PqvvuofC4oI8j05pNIppNNpdPf0IE1nEnJlFxNXQURguGKw1sDqSperNMt4Kgg4SUDwSLbXxTxE83l2TD2E5/JYAFjOJj0+EghTAmssXDFCSiwML8LTQUjF8SjSuSh9Sxoh8xKlpwJ7GiEPSoQfbTFRPCp0wLTlhDAsK79URhocR3zHCaDtCCexsJ3YWBRpWSxXbpoW4hkaBvEhJ77AcTKBEFDuVtukWUmmtrJM4oZp49kgJy9YD8QlKks8J4IikQvmMcVsIZBfaOiJw1A8PEFzFYT8C6e990VAQdvU+jQsIE/Kl2NbZBmGxsz6CIakBIY/+vVsF3wMebekbdka+WAbnrQ961C4ENIFhHVpJJRvooBGztO4g30iOsqPFiiUU3/pq1jesb9EEsraJ22wG5SzT/qgcRoD9k9EIKLgySPzhJXYAyR4TLC/XhWTPIN0nCieJxLLFA8aZ5IhSxjRdKIZ1BkktJE8yo9hnlBXLUH7qzQU1xGP9ZgkB4gNe07wEP4or0rZQdt2KD+ePHtYQPmh7JUVlb/1wvohijbFMICI4Y7Gw1Aenn2J6cicMex5zLpFCI28kAZIQAgacgME1U9DJxB4AQiORt2xAUe9ZRJCGrHEDB1pxBxjxi34lLkWEglizgYqiBGWcRxcAob9IE22KQ4Q/oCPaEInJZjJNAVFnsEeCnM8NUEzTS82GHqQMWj/lb8EIABLFESZxHt/PAx8L42ttXUuiuZ65hC2tkInJi7g9o7Z/+zX/LMb/OP2Xp1x26BSlDtTDC0WlB1Khkiqqgz+pa/35IIrK/2nIWprqmADUJHIH+8O1IDqJXC+qwtwDoMGD0KKDkUNu6HzEFVs7h6KpRJSdDJZOh2wXq6rA56hOKUdIxOmYMUkquJIJ0U8EUHEuoFeOtJJZMKQ+ulZvYiAZVzK0Zn1QNtVJ5YijYhORf94UQUmCTWNeSi6aPTPgigZTgzyoytgTkwY1uAEt+7/I+8/4Cwriv5//FN9zr134u5sjuScc1KSksQcHnPEHEFRMUtWggioGFAQJKgoGQXJOcOSYWHZnHOamZvO6f+7zp3ZXYLf54ePor7+Z0+d7q6urqruru7qMDNbkbGSS2OHysRTJuoSg1+5ZEmijMEWLYqxqUh9LaQU9ZYRT2DsJfLjisiKULGiJC8DJQZkiTABggIDLMDXwTjekDsF6OTjwePIC+Qbk7qHBRBPwCdKVYTEw0A8KKGtEvgGGf/Eg7oqdCSeIC/Jg1LAYpDMVDwWCbICjGnN5PGmqAX8oEGmSEGwzutl1kkORgteg4lW6JSYU5FwfSKTVAvqtFMD1gWWfHSi3irqX1ErLBEm5BnAS7vz5XWu0Bd6eZgWujqWzIG3VcbMiqqaGfIi8Uh+S6aZia7Dvk3OKqeN8sImg4yGa0GQaLMMfD0EVZOgZhKVJbmYwIr2DVQwUC+L8LVIXqZ6KVO1nKmvElXlLMuXi1G5DAgFREWTmthc5oBzzV0J+jG6UhJ9GSVeWJIyol7SitL4B6EiEOX26M4NpVWMExZwAZ5RuZJAGcZXTukIFwdnamZyvkke5T82nzDuEvRvcY8yMlvxTAnlS9BVENqWSSXLZKGmiPNzGXK9sUWtsd+B/ivsOkVqQKQR/pNe2lvKYJZLa9l6zIXp1X6o3astcq08Jutk0coZB0Q1twsYjmGotHZBYN4kRexf9yn6YpA98uJgfCCMGFUJx8DoU1dnh+r9fWpUq5ozfbqWzpurWc9P0fIli+U9N37sGMXiX66c1ZMf1flOpZSm6mjv4FgmqM5uZuGcOZo1fZqmP/+c5s+ZrZydyIieYeru6lLKBJ1nGVv/poy28F1QW1tZ3Tgy57l00SLNoJzLXzB7lrJaFVvK1NnZrlIpUeq6qvVEKufgKTPz4OXBJ9SsJMvdCdACIZcBbhgObJAY1lJkIDEuFcyIR/xZC3wiKBUOMFGEV5SXEsM3DoDkNHyZFAQYIBn6GRSDIOIgJUVFZEgmf8wHi+VwbUo+eB0cB73nGWnHBxyAoJOi/Mkpn1OKca88RIBBZ2CjFY4koKsBObJyLwC0JHoKMJcHKJJDnXySeIlDaZWA4IUvMoR8FY/TAOAwp4KbkFnoyUTlOtOSBaroL8+j71W0egkOWJfLpi4k1r7WippMwtkK+jgALSHobVLBzj/iITSXSXTt63S5EpxDklKAwjlBRJ73p1Fno53WtBfxJhNzBi+n8TxRNwMkCsofQn+hg8wRTiJ8kTKaMh9AuvOxSDbgxQ2ZITd2Lcb9h7GACUzgUstWJAwMPlgM5fMCQHnoWTDyI6+8uBfLWcDRbjkaYmduu7BW5h0AHdYgRBZg1Cegd3AFqGuEn9etSdjE+JvOJrRkRkugTJUQJkU5ydixGs5E2GPRf5GKQ0WOigf5spxoJhU25ZL1f3+oh4Ao5xdlxM1Fi4+b7f9dwivmEF5xiX9igTsf/8WQ1dWFbw5Joyt6JzjQKSoa/58o6O+yimtyIj1RdEyMaJBjt7nbXytEn522306dbRWtWLpEi2bP1txp0zV/5qzCmbDm0QbrT5S8QxlAIUk0+AT4rj9hgkb2DFX/ypWFI5k7c6ZmTp2mOTiECs5ms002Uc+QHiUhQV5UAIca8t1Gd3e3dt5pJ7WVS5pDubnInI0zmkt8xZIlOKo2bbnF5kooIwypMGhkauBpRTGwgfSLA6NMykoq8XsFhEYm5Vgc5+RUp6FKSZhrTblx/MCdgq/8mj5IVaJ9EnS2QofI4Iq5QQwgJGfCj5apBay8GUhROTlRoj0jgz6CyxmMeWB1TujpGAbLOC0AD0GnNSEjxdOUl4drYHCw5kKCRL0iquQhqsm5ehP6HLlGbiAj+MwGTQZN9EaKREj7V4WeLhuAXtRUPqEz2ah4WhLkZV4OoKcp6UukFaTWKgXSyQtx8gwHFbEkBJnbj2c6eeFQJFCCi7ycN6/Xx3eDXiqSIyV8KUso5Ipy0Ynlj/lnAAw6I+4g4uLJ0TGXOSpEhURyWSoeYt6nYFy4IRySQh/n77JbDsbAIR+ZhvxBXELZlPZKaOcED1JqkkscKYpqPUiAe14kvJ5epkSy1IyFMynFqBRidzqKuVBBOSWiA0oXoZemcLScWJSHFqI6GKtiYWZFCfLI97wcWucTCSkAJ6G/eEIBnuc2gcpqgsqR42EzmBqkMwsyS0StoeeFLwkicQAIijeTDLvHtovQ427D6KMXPf970nk7lfFxIFALZx6ig497B3ltjEGsV/8Jr77ItRIXLJm+SabeXUKaGQtfMlCHtooYjryRwPzrXwQyCAblMCYGolFNbgcTVicBw9t9t130xc9/TrvutIPGDB+mnvZ29XS0a5vNN9dhH/uoDj30UCVucFldonOF0bgzSBihu+6yi779jW/oQ+97jzbfeEONGzUKB7CZDj3kYH3ly4frU5/6hEaMGC6nzxlAIQQZvPzIS4Qf+tAH9fUjj0T2jho1bJhG9fRovbFj9bY3vVnf/eY39frXvY6xlitjRyQeA4q3ZW8yc4xDgX3Bh6q1VoBFxZnIcSTRIeJAIs6kXcqSfjXTpqytpIYFsZlS03+emCM8yxrq4O7IB3xQiroGSLJMETCuuoUj8riLyBHYAlqIdspDpjzkQAZ9s4DcSFNWqOxn6jkTec7Rz7qQsZPKOD54IaSKCOFV64lyXlloKgeiNSXk85GcueXIc6C9mfhUQNBLH8cFipqXkihnyonHdQC0RNrB8wYgkgbk4OWM9AAQk5nJ/yXYiQoi8TgxujInGCAxKRWhtxGT1ACFFCQqa0zc8iJ8IjKEbjEWCCjXvmZGwmFtIMp4fUQfBGwtwC9h0g85ObAggIIIPH2QpjFnopcSMnI0z7EHoYcBSW7gg0osTFJ2S2X6KKWPAnEDFxyIu8MROueSfNJGHMKEOzQl0eQ7kUA98iQXMwN9Ggd0UPFAgmTqjsxCX9QLeSzKwRFsVBu7ZaGr70qcUrSHV7/gROWchzOzKHhFZGdKsA8z2hd79TZPYx1n1oBfA5qmHJcnDcUELhbl/EwVdC8BaQugEm0l9PcxIHhqjSOBd5H/Sj/xRQWslUYHOQzKc2yu3KJxBu6JVxfCqyturbQHH/xVqbe+bPeQ1kYlpUjHmCyEIoxi0ABrqf+1MTNrCRgIigTGUGI3kHEXYZiyH1t9+pOf0BWXXapbb7lZd91xh+66805dfeUVOukHP9D67Ez89zBKpRILoqyoh1/O+z1Ie6VNbzj4nCR3OgAAEABJREFUIP30jNN184036pabbtT1112n8845V0d+5SvaasstuQ9pcEyVKi2lqtVZqUcVzqHEfcjoUaP1+c9+TlddfoXuuu123X/Pvbr95lt07m9+rQ9+4P1yOb4z8fYrdH+5D3WD5cvkRPlWXUy2OQMpU67IpECVCaNKlaBIWyiIo7SygplivaYF055Vddk8lWK/RnSXVEkkc2fWWhUo0H8h5ioGFjwNQJIiOVGJovMBiEBjinxbrymQSKIrDGgtkCMNpI3QpJd8Df7GRCVkOBgOwoq0SeSJtJjkRH4cmMUMPY1cwU3QRECGEugsETIRac1D2icH6qciPyfHAbzTFrBO2ttuEKB3VkYJZ29MxOazKfoZ+hRQZNAH9IXciTAZGY7ECCNgzgMZRpngQB1MyC5kMOFRzh1JwVuSDfxT8VjxFTgvohc9Rpt725ecJzYA10Ja7kjXQRl9k9PnOZNsVHCZUMjBon8FC1FcRt2EONCyHEFM9gk8U3Q2AIyczqtfOAwIowMyspCrjj3WWcA0E/gGyXVx3g6CsRFxtRJ4Q07rCd0citZgHJWU068RuQY9xiwzz6NtYRbhGEmLp+AjK+pj1MLI93uTBH0TyifIcNKcjIz29fZwvaMlsuJuq4yCOJSWFmo9MEGGhPIFnnwWRK10i+IVfZH9Uvoo18v7O5JZgIW+RmysIPmqv17TV12oC1wYlvSkSX2nUMram81a0eze8d4wxcrcW8kJ/9nAaHb+PslLpsGnlZZyjMc7RcjPfXJEM4owkSZKOUpyGM7uYGj3EI1iN9HZ4T+FF+U/wVVKUrn+5gMJxnmeF2kvE4nDvNh+9wztZuVUVpK0mt/M5M7AyzokjjcphIQiuRK/C4niHLikniHdcufUhVy/fM+bEbpQ0PngCThkSAu5Mr3w8YqAcRkORBUtUzOpKeeiNFMsfs9CHHtl1cAqMaiSVmATGDSmtpBoSBLU1lyt2DdfQ8u92mHzUdp9x42ZXPoZzBksc3SRzEzygcTknbCzMMJgCXxUQChwKXGA1ao4WzDH+eoV2gQQfWGuM20XTNTTnCMQ4a8CJOI+ARQh8SglzFIBh2FZKgEBngkyDFzuIP8R1RI7rKgkmkw5zJpFm0UmupgbMlp1lpFHfqFHEfc6ArSb50XyYswpm62BQieLMkDkOxTNgY5enSxzngEZ3r/IR7eA3MTbR6KcSc4TeQEeTf+BDUeBkz/EJSvKK0cO7eN1yHFyuf9ocSHTiUwuLxZ1TGTwF6XMAnjKYyviCYSjRo5WxJaMWTKQz0pGFqJoILhlarJLlTL6OMIhOFoJ48NhkK5mddWTXDX0yEq53ClklAtej9jERqJY2CtmUTEY+XAkj9ZDXK6EhVTTopp0W3/SVKMc5UdLgpYStB7KmsQrKqDgx1i5CCO6GHxzGXWMMtGF3jQqnhihh84MVgF8LIBmIcydFSVMaShBlxAHsJOyVZSgTEI8sOuOliqDf854zNFJtFMYKCMchilIlHYw8jyMObicMZS3w7sNIK3/y2MUdiDwagEhkYx/Af1iFlbmWf7/R84kylavWjS2GetbGqbjKxJhRLJc/+7HDUymwnDpFFnSMj63x0CvmVlhfDkIqiFjILrTSJIEfKRgC8I6eK+T0yUpxshASkKqyCTgNBE+nh/cOIn4DigErIN4ZPIo8LDMlRcDzi/lQ2KtQeA0aBpCy0BtgAfo/8+v1zcvB5U6yhJ16FvJRFlnsu0j2ZTacZAJOlaUaVSHaVSlqq3HR71+t4n68Lv20Kc+sr922nYsk8xqpSFXS3PRDugUHcp0a2sQWc7uiz6OeV15s67gDe1gKfQlakLIXYwBIbTRtmVlFhTRIYcmJ54H2jkpqYgbcSAHsgKgNdoGTjlycuIIkTePR93OquRVab9GyYRPUbSmQhJlTJwJ/WIgjcGfZ8hgIrCYomGgQoA7OMBx8lVmES+R7+B0LYiUUQFJkScmIgPq9VzlVLJo9L/UqDfkP+WHJqQjYEqYwCIzaBqYfLLWJJTEdhnHKUko4wBzdr5RxZNnogXgF5UEFRCoW8JkF+kzUcrMlGNrUlCwBEyQWfAs+ORyuhAS7brLbiqzcIiZiidA41IMm4q0ZbQow34bMvVbUKNUKvpAyMoUsc0M/hTNm1DABN3ciSRpLlkDvfslZUKyEnRyfuSAikqzyNGYlOam4G1OOs2kNpxsKUooiYQooyMjMVOuQBjMoI/Un1QMyDD5hK+0rP56k3iQ0Cagb4hqyVWUBRMMlFPZyBgzSd4ylZAqpS0ELwfDsZbpj5L3NXGzoGAGda6ENsmxY3En4jv7EJrww75L6MCOMiPPFxOojP689LlhA5LrBItX8lqEehAMZg7OB1n0s3m/oltOg8Y8LK33+Y+YUuRVfl2jV1kkbaFjLDabG9LY68uCYQ2SsB462nNJ/NvfaFLwwdPMlDBg2ts7lDCAmnmuOivFHF3rHIFlDFQfjJECZvYC9XNoY4yyEOQ/SdLgDiZSM/ocXCKo4SIVjgk+a+jJMDN52gdCxsBMk1RlZqKQiGOwmoL/fSLA86rVqhIcga/4YF+8ZiYzK+L/2ydDzyQtqa1U0arFy/ToXfdo6cwZqjCoh3e0caxRV9rs1d47b6pjvvxOnfD19+qoz79Vb9x/C226XkVtyWoGdZ8iE0lGO7i8qIS6lahchWQqU1AScjWzmiwQ5/iOllXOYM3UrgYTZi12qhY71JcDWbuq6lY9DCMcor7YpWocopoNVdWBeL+GMLGB01DCoapbj2phiBpJt6qE/YQ161Y9OnSplg5RvWOEVrUN1YpSl6qEVfSs0y857R+zsizvlLKhhMNVshHEu6gDkDkMJd0DeDgAeTcr4q4B8Hg3Zbsp4zCkhW86vktt6VB2sFKwEhN3udid1v1/boxN5b7K9gkLRxazNqnZpVTDlVeHoOEI5fUOxdiGDXSqRF/R9YK5gkkJn9jM1Khxnt/EwmKQWSIDYjSlaVn+mAWFkKgJbYpDTpIUtNMGDe0eKjODnylv5lJqgpOa9Kn/KR1Kqp9yvSHVanbFiyvtWkwfLiXdm5SVlTtkoaKAE22jT9vgXylsMlMegYTxjbjIrJ5bZDwUva80RlXyoHKe0m6JQtKmNO0A36a2ekKeSShS9A+0EV6mXD6Zl8xokxz+UTHg3KhnzVL156YaVTDGax2nkmeRemGPhCp2hVGth3LOHoCVEm9HxkKDvsgtUZN2rDeiqDYqQESxLMedck+YAonBN2mo0cT20SmnbLPRRFaqhLp7vaMyKeQStMx3EnR8/g+vDZT1usdCTrW/KqFrxPmmpbbZSTW45x6g+1+DfxpB+KdxegWMHnpoXNJsNjYNIRkpS4qGyPH0dC1cUImGIfJPfSOG+GKGRr/QJbLBDiYdgXyQEIIUg6xikH39NU1+9lldedXVOvHkU/SxT31KRxz5Vf32d7/TU888o34m9EjBQBnqpSYDMimlcI4YZaYlS5frD3++VMf98CR94zvf0Qk/OFHn/PZ3enbyc6wQM+U5RofcFAfmBikmtxBSNTH+Opfdt995l4494UR96rNf0FeP+oa+d8xx+sOf/gzfZSqXy/IBU2KSgcULXtR5QfrFCca2OpAztrtdXXmfurNl6mzM1/DSUu2wWZs233iI2jgCK1ldpXyFttqgrPWH9atbyzUk7VM5W65G/zJVSqYk0JchqEkbZsHkbVmA6GKgTh9kPuhDm/pjRb1s/fs0VCvjUC3NhmlRtVvTlpX04PO9uuHBObr81ud18bXP6MK/PKMLrnlKF/zlaV1E/ELil9wwVX8ahBun6tKbpulPHt4wTX++YTrxWbr0RofZuvyGObryxrn6499m6vJ7lugvj64GVulvjyzV5Hk5+naj+xDNen6Zpk9erRlT6pr+XE3PT+7XrKlNoDEAGWGEzgg97pBr9rTYgumEAzBnuuQwd4Zp3kyHTLNnrKKdumQM+hXYw6zpz2vh/DlaMG+Wpk15TtXeqvJGqt7lQU8+ukBPP7JczzyyQlOfqmrK0yu0YnGmrE77Yo/Tp03VzBlTtXTRAi2cN08rlq9UmpSAspYsWaZp06Zr+vQZmjF9lp579nnsbIpmzZrD5CsFS7R8xQrNo9zSpUu0cOFCrVy5Us/D86lnJ+uxp5/WE9j6Y089pWefmqwpT01R1jDlTPJLk7Ie7e3TnStX6AGcwCMcI85Iu7SsPFSr1MmcNkSNWknNfuSooiyiLxNrDe9Xw9h8nFMLdJCwFrUpKGSmBpCXOrUS/stpnzo2EhsVqRkYn9BgV1JUwKAjAy36hJ/nYExNJvka+Dr170/LqiUpfWqKjF1h2zm2V1Q8RoUAL4Mn9GYmM+iApnI1LCqrJGq2ldVfTlVrr6iPMVwtl1QrJSxkJEtMFepSgj7BuEsJDjS0K6hDbeVh+Pcu5SyEGrWEeKrAmDDLlDG2skijMM/pFT85JaikTFSY+LpvVKlcAWFKEgZq1NxaDY+mV/8Jr75IaWq9Nw0hbEzDtImjgshqRuaNNaiNN9qroRpyBkSGdcUXuFDsQGSmEka5ctVKHXXUN/Wlw4/QGT/5ia64+mqcw5/0ne99X5/97OcYvNPkKxPsVdSr4GBmFDfNmz9fRx9zjL5+1FE648wzdfZvfqOfnHWWvnbU1/X5L35RN950iyyhviZlLIPMDNvHsIlLpr9ee62+/JUv62e/+Ln++KdL9LuLL9IvfvUrfeWrR+JYvq45c+YhG3ocT8TAxWNmlDRiA+9L6tfCGwOz22rabGRFu20+Qtuvn2r/nYfqMx/cQ9/4yju17ZYj1Lt6sQz1eJWqrjTvZxLIVGFFXabhygF9cX45E0euRDmEOf3pZ+Z5aEo4IuYKBmOHmmmP+jVEq5pDNGdpSfc/uZTJ/mn95pJ7dPzPrtLXfnCxvn7Sn3X0WTfqR+fdqZ/94S79/JJ79fM/3g/cq7OgO+uP9+qMC29vwQW363SH391GeJt+fMFtOo34aRfcolN/d7N+DJxx/q06/fw79LM/3qOz//KYzrn5KZ1/2zM67/pHdedTC7Wy1qGVy6MuuuBanfrDC3XyCRfptB/+QT/64e91CvqccuLFRXjqCX/QqSf8Uad4eOIfdeqJpE/8PeG6AO3xwAmDcJFOOdHhQv3ut5czKQf62JjAF+imm67XtdddoQvO/42u/9u1qhU7i7IeuPcZnfmji/Wjk/6gn/7ocv3g6At1xql/0KOTpquBM6lWa7r6qst15uk/0tm/+rl+e+45uuPWO9S/uqYQyrrs0it05hk/0Wmnna6TTj5VX/va13UkC58//vES9fX1F7Z11x136ydn/lSnn36GzsQmf3zG6foctvjBwz6ij37mE/rAYR/VRz72EX3w/R/UN776DU15dpr680TPLF6uP973gC64/zH9/NaHdc49j+qqqXP0cN00pdKlqaV2Lejs1mxLtRxdaqGiPC8p1oKyalPNZp36165hfGgAABAASURBVNChqXo/kyt2Y0z+PmEvbitpWiJNKwfNCkHzseAak7XhEARdra+X+tcKqDeq7ND7Oc6qqopjqRe0Jc1ZtkILV67Wao4Qa0CDRVoD51tnQVZnBV/rr6nRaMh/WKZar6uRNZVJqpe7NL1qenJVU88QPkL4SG/UU41ET6Dm032mZ/tNU8HNXJ1rtbpwYu0sBnItX5SwUKhr5tSaFs01rVrWLjWHK7Vhyptl4fOUstMzayIpAv/XlwHmLMzk/510pdJWyMiasR4V50pDvEpO8arCgFavqkx1ZAvbGll9Uws4dIwg0igqZmAaOhrKOBC8Gi+ykapCLPLME4T+BhTMMroHHe+662498thjKrO9H7/++pq40YYaNnKk0nJZzz43RQ89+LCKnQGMIoZvZsow8hijpjz/vB546CGMOGrUmLEaN2E9DR85SpX29iLv1ltv0erVvcqZ2AMTs9fezJQmqfr7qrr7nru1YNEidQ4ZonEbrK+xEydoyIhhquNs7r33Pt19992urkQZxKso7/UgEsRDpfyM2vOkHIS/ZIIIDKV29WknHMkXPvg6feWTr9cRn3i9Dt5vPU0YjfHH5WpvLynPTcFSBolYSeZKmgCsAmabsPrKyM/ckQiJUYrIIVtNS1T3eliHFq7u0MPPrdIVNz+pX1x4i0791XU647fX63dXPaArb5mse1l9T1vWpmX5MPWVRqqvMqKAZvcYTp7GqNY1SrXO0aqTbgwdU4T1IaNV6wbveQ6dI1TtHqH+zpHAaPW2OwzX6rYeLS/1qLd7pBZXhmlJ+zCt7BxO/jDVkk76YpT6eivUs0fKRzDpj1Ct2qNGbagadQ+Hq1lzGEk4UvXqcHn+WhhGGugfpirlqv099N1QeA5R7yqAuq9YmSsptTOBRSBTtFwxb8pwyDQTLcak1pSiOmWxS2noVsz894+GSBz9iaNAWUl17Kq/XlNftU/LVyzHQfSpiiNq4syzPGGCbWj5qlVa1dsHvq5+8gYhp39qzaZWM5EvWLxY8xYs0ux58zVt1ixNBabMmqkps2bouenTNGPOXM2dt1Bz5y9WklbUD/8VKDoPWNjWrpVdQzU7bdftC5bqtw8+qrPufVhnPfCEzrznMZ17z4OatGAxbVuhjqmWz1muuVNmasbzUzWN8TBj6jRNB5azQ2LTo15W/rdPnaJf33mfzr77MZ191326fcZ08NieTKtWrtIM321NpfzU5zVjxowCZs+Zo75aVc2A82F3ddHV1+vcP/1VT0yZoVJbh6qcGEyfNk0zqc90dmpz587VInZiixcv0eIlS7SCMv0s5BfTbjc8O0e/uPkRnXXrYzr9unt1ytW36eRrbtep19yhU6+6U6ddeafOBC6/9yktyuCd9+jyP9+pX//8bzrv7Nt17i9v1bm/ulnn/uJGXXP5JBxNXYl1Ks+CiodxKHq3iL+Cjxdz8CIMWcUiYbRKolJSxj7r9GpgvsmXpklpmrRN5rSvNgzU8tUV26fYncfGeKmpGDP5j5AGmsMcMFiLOYNJ/9THJ3UHM5OZreGdE8tlTKmRWOv13KK/QLUayDRtxiwFttDtQ4Zo/U030cZbbqktt9++cCg1Bvdcjgycj4Ocv4m6RaKmxQsXq9pfV9rWpvU23VQbbbWVNt16O01cf0NVazUtXLRQtUatMBJLEkIK0xZw0ComhSlTnlcTB7Xexhtrk2220cbABptvoXJ7FwYUGVQzleW5YjDKUgccWCKTNXMSUvGjlwn5tLfzDEwGMQZZ8IGaq2o1tVXq2mhUok3GcFLfUVV76Jfq/UpjSl+U0MaUKqN4QyyyAPouqzIBNpUnUSzgVEf3jEEZamI6TKW8W4v6RugRjnl+fcWjOvas63TCL67XL/54v666c6oenLZMM1Ymmt9X1kKOBapJh3rGrae2nhFqhIQJItVGtNO+b3izXnvQodrnkLdo70PeXISvOfBN4N6k1xzoeW8q4q896E16zcFv1V4HvRX8m/TaA99A/GDteuAbtQt0u1Fm1wMO0R4HH6pdDjhUux30Ru1x0AHa48B9tdvr99Ger3+Ddt//EO2+3wHafd/Xa6/93qA99nE4RHvse5B22w/Y9wBCYG+HA7X7Pgdp970P0m6vPUC77LW/dt7rddppj/204x77FrDTnvuS3kc77La3ttttL2272x7ado/dtd2uu2qHnXfXDjvuqu122Flbb7+jtthpe22283badMdttcWOu2jL7XbX5oSb77Crtth+N221/c7aescdteXOOwG7asuddtN2XJxvu/Mu2mbnnaDdXlvsvIM232FHbUXelvDeYsfdtMVOu2gLjxNu5nJ23Flb7byrWvm7FKGX2WKnnYpy2yBve8pvQ9lt9ngtOu0OQLfLTvDfSZug94bb7qrKkGHqT4KWYXfPrOjXw0uqum3eCt26cIXuX9KrpSx2MAclHIH29q5Qb+8qVfv6VO+rqX9Vv/qrdVUbDfkuViw4FvQ29ejCXt2/uFcPEM6v5jKOcIxFXcyaalT7i7J1xlINHjVC320YDjlgmw3s+Wl0eHxprxZmiUS6pMjCoIqsqvy42lfyTfRqsFsR57HNOjLSVE1sdza7tmeqmR5n9/HE8oYeW7Rajy5aoUeWElKfJ+D96MI+ze5teFHFELRkWUPTnqtq9vSa5s5YrdlTl2vas4t0Nw7puWdmKeMMzhg9+QBIplf6GGVbpRh/gTHHAItmcCpJsdTKzbOY5GFuVmvOePe7353r3/CEf4NMdaRdnVH5EJnX2UE0DBBNa54ib03qXxNBXISzA8Ga1wYQxqTMK3ybamyJczow0nVKy/RhSQnHX+2dXXKaRUuXqc7AMDN5NZyFGfE8skKt0ukIC6nS9g6pVFbSVlHnwKVntbeX1QUzsHKGhJdco4qaWUN1VpZi8k/LbYrshFSpqMQlqO+KnNrzC2ciUhb9S3sizxVxVsHF58QciEPmdTJo/QcDQqlS5IVmn8qqqmINIANC8SOXxcVunimCH/wZ+4ZXutShZuhUb7OsvtClRnmYas0OpWmX6kwETz4zX9845hx9/Mjf6PyrH9F9z60s7kSW5j1aaazc0x7FjuHaYKvtdchb36H3fvgjeuNb34qTXV9+DJErqqurW8OGD9fYceM0dsJ4jR7nME5j2N2NHj+BcILGEo4dP55wokaPnwhuosZPmKAJ7ODGr098ww00YaON2U1urPU23Ejrb7xRK45z3mDTDbTR5hsWsPEWW2oTYFMWCh5uttWW2nizrYAttPHmm7fCLTYjvpk233orbYFT33yrbYhvXcAWW28Lbmttvd32BWyzw/baZvsdtc0OO2jrHXfQDrvsqu2BnXAAO+22u3bGsey262u0++6v1V57743jeq1234/0PsT33kd7vGZfHBW4ffbRXq/dT3u+dm/SexGCe+2+2o38PV6zN3R7aY+9gNfspV33JnwtsPdrtMdrX1vA7pTbA9iT9O7g90RWEZLe8zXIee0+8NxHu++1t3bb8zXafY89gb20G+H2O++mXdFnz/3206577a7d9toD2n21O2U333ZrxUqqOruKaqVTq7jz6B0yUquHjlLfkOEy/xNBnW2qdLep1N2hypAOlbs61caYKXd2qsLOpgyN5/m4sK4harDLrA4Zoyp8RH6ArgRNm0N3J+W71AadpyudQ9Q+pFsd3V1qJ6/UQ/lhY9UYPk5x+CilRX6XOoYgc0iXKkOJD+1R5zCgpwf2w9Xh8eHD1DGiR6URwxXHTFA+erxs5HilI8cpJa4Ro0mPBcYpjBgP3Sh4dKtjaKc6qOfI0Zto1IhNNKxnotIwVHmtjd1rSatX1ApnEpIS4yvIcIqS6ZU+xni1Yiwztrl/EZDDJnMc84LnpVbKSmnHsyXrmmNmlHilUv7v9OEfYvF/LJTkaRf1bReTRQtejiGt9XLo/wOORn5FpQfp8zxXjR2Eh84gsCLxvIwJtlKpKGFVs5gjA8d5vgYMxtNepp8jBe/dcqmkUuqGpaLaXtZruWr16mLl5HwjsjRQXjxZs1lMrBZMa/NVyCyXS3J6PwN2OTHmirGuPGRyY4sWBEqlkAj7Q6Z3N4ARGvZmymUmNWoRp9GmsrUXO5GQ5VKzIcvqCtbEdwZFVpf1JKgKr2rSzop0uFZmw7W0NoLjq5F6/Lm6rrz+CZ13yQ3gEvXjXJbWEi1vtCur4DQqoxU6h6htxDCNmDBRW++0o/Y/+GC94S1v0R6vea023GRTVdraZQyOUpIqQfdEQoem1KzLaIe8Vi3CrAgd1xBeGCCEJjbqio2aYr0GjnzSRj0C4KF52mEg3SpLGegjxyHOPx8MkZF7v3meA/3vfGMRVlXQkp+zWs4GIPefzCrK95MPEI/wiZQRi5Emdx0Nh1pdTSBz4Fzf8f2re7nzaIEvLgahxmrZ/6ZbDVm+Cvf0IKzBQ+P5Do7z1X+NBUqtr5edwGrV+lYXYZV0rbcVb4UD+eD6gWrfKlXZPfQX4Wo5rlbtVd+qlVq6ZKFWrVhO/gCe+tDS7EZNq1jw7LH/vjrknW/XIe94uw5++9t14NveqoOAQ97+Nh1C2uEgwoM93+ne+Q4dTHgw4SEO7/L0O+AxCO/Uwe+CV0EzEL7jHXL6g+BxUBF/uw4ifrDTEB6ErAPf9jYd9Pa3Am+D1vNJex7gsg94+1t0AHod6DTvIM/pyfP0geAPeOtb9Pq3vFmvJ3S6g+DpcCB0B5LvcefjMt/63nfp0Le9Sa8/5GAdeOibdeib3qWNNt5azZwxxsDq7OxQytyg3BQAjg/EIARe6csglQN8OSlgMLbYRMYGCzyRF2O5ljXSpycOG7dC/6YH7V59yaWyhjKXlU1MsYZ8EnzXeUEy4a2D+D9HzeDpXAZDj/8vYNYqw3qAuYCh46txcEbnBRyKSJtZMbH7T8OY6OMCR4TXJ/icdNMnQo7CSjgTC05FpgeUjeT3s/WvMck4T1pEoAuACvvL5OWDBXC0GPSirJkpMLF70nmYmXKODK1oy1xZkNuwQKstZXLOo8Ig86LdI3obxi7CoJx/zWZNORNDIN9o/5wBkOdlZdat/rwLBzFC/ekYrYijNG1JRbc+vETnX/qITv3FDTrlrGv1ywtv1vX3PqkVnG30mlRlIKU9wzV+s+20wZY7cgS0Lw7kUL3uDYdqR1a9EzbckBXlEIU0UZP2Wc0EOGPmDC2YPx/loyzLNYez7scfflgP3nOXHrz3Hk26/25Nuu9ePXj3XXoI3EP33gUeuOceefzh++4m/2556OmH7rlTDzrcfUeLzuk9DTwAzuFBwgfvuVsef+DuO/XAXQ536H7iRVnkPFiA87oLfne1aNDhgbvuIA5vp6VcQechMJh3PzT333m77i9wd+o+wvvuvFP33nmH7gHuAx5A/oPUr9CDujxQwN26j/uwgp4y98LnPvjcS/w+jxfhXfC7A7hzAO5A7xcBdPdTx7VlBuk9BMjzut5PfQoYoPd8P6RQAAAQAElEQVT4PXfcpgeo+yMP3leE995xuxx3Fzo/N22aGpKCL6jKbeoaNlwdQ1kwdA9hx9BDfCjhULVxNNze3c1OpFtlwmI3wk7DQ0+XurpVKtKE5JcG0iV2MB5v0XQVNCXoHLxs6rsWIOnoVOI7dY8zgSdFulMBXNLeWeQlHndo7yDdrkBo3FkmHcR9EQOEtjaZp8kr4qRVrkgecpLg8bxcVgtKqvs4KSXyQZRW2hVKHerrzxTYiXR0tal7CIsjaMQ4siglgcbytAevAChKKZMisnAmxvgymULIFfMGC74Si5OwPIvtD+2111eq+jc9RfVebdnRrBID7ttazfRS+fZS1D+MiYo+4w6Uf6WcB+l99e8szJi0czoRngmTJT2sBCvpZSL0ozCXZTZYihLQ5UyUDRxKCEE5k7oG850MnJ/jDvKnBIbjX5cTC/oceRasqIdZK3SKQXC+ZjBDlhm6AXyFlRWi2ko4E4iDjH9EeI22L8qBabKbsTQqVIJ8YOQhUZ5UFNMhqluPerMeLa0OE0fA+vN1T+noMy7VN06+WD/m8vzK26bqIc6Mpy4qaXljCA6kS2WODTbadnPtd+jrtf8hB+q1r9tfO+25pyZuvKnahwxVZkH+v+X140CXLluqZ559RjfddEPxp2nuYrJatmSxSrRtxo5g2eJFmsnF7KwZUzVr6nN67qknCJ/VzCkOzxFO1sznnwVH/HmHZzVjCjgH8DOfn6xZhLOmgn/uGc108DxgFnmzHQ+vVhn4wGMWcmYjcw4XvbM8/TLQyp8ip5kzbaoc5g6EHp8z7fkC18r3+POcq0/V7BnTcJBTNWv685oFzaxpUzTTQ5flMqdP1WzSs6c9TzhVc2c6TCcchBnEp3E+P11znBftMmfGYHwauOmajQOeDf7FMHcm5V4WpmvOTMD5kL+mHDrO4zLe/1L1LHSaz+W853nof/F6xdKlbO6aGkqfjhg5SjGLiti3mSlgVxYDIUBo0RwjH/E5sUgaUuUxrgNSDrKFI04er0BpMFw3LuRE+DjPAohLJgGtdCzkRRItII8yQitQ8Iws1qSMTOfrQHSgjBVyXRc5Xwf4Ou/BdOLjhAK5MuEvtGDRYi3AXnNOBjq7yxo9dqiMCT9rRgVLqRClXbD+0cdk/vs47lDgEyyjDg0Z7Zs3S0+PGTr2MfOB/Y+y/z+WC//H8v9Q8dyaLbn2DxX/u4VMRp4DQfFGGruI/EMfdwz0mcSn0WjCKxYS/JNlrEAwJpkphMDOpa6cSV88Rbkoslq6+F1KxnlTYY8wM8NQpSLfy2aUy7hgHCyPIPkTKeOhg5kVaEOWpwfBrCXDMz3PlEgYV5Tj3YilSglsaMXN4OM6RMigy1jtNODp0E/ZfpXVqy6t0BAtaQ7VU3MyXXHzZP3gZ1foqOPP088vuEP3PrFUc/sSLWq0a361rMX1NrWNWl9b7bqXDnjzW/WuD7xPrz/0AK2/yXrq7GlTqZKo3qgpoddTZNX6+zRl8jO6+cYbdNUVl+nOW25mApyqrF5VgtqR3ZFojxIOVKy8+lYt14pli5U1+hUYuP2rV3EEs6KAqh/PDECtf5XqvSuBFesA6T4AfMNDh95WfqOvRd+srlaz3vdCaJB2eDF+MF3rZTXYi059ysE5ZNBn4LM6+HVwEb0dsho8HcjL6v3KG9UCPN6gXBN8YyC/CQ/H1dDRod6/WutCw3V22peFXjU5ensJcAzXfDmANuM4zsHLeFgA/ZHTb/V++FHOdbO8qRRbqq1eqYSL7A3GjNHB++6roRw3lJpNlZmRU47uEuIpO8ukmUMH4GhKTWyxGdVGvEJYJiw3cjlUiDuuCNeJlyif1pDJhXlaz5Ryf5h4HFxCPCVeAl9qZPLQ0w4eH8QV4WA+4WC+h867NMAjrWXwB7iUL6FfWyZ0NaXo6OmKpxkzbQNQIixbonJqWrJwrp5+6hH19y/B3vu1yebDNW7CEJk1AMmw3Mg493GqV/pYFB6jBXAiIkavcsZCwqBq1mPTYvstB732gEVk/NtehverLztpHbggmEbi+898mSv/DjuTmRV5A0ERX/fz97SJTL6RFci6tB4f5GNm2EhUwmrazOOeG9fIazKwQAuEjMnUnUqOozAzUE4flTMIXygjavCBSi0A43qQZeYYyYzyrp+kQJzFChNyIjLANnF0UorBRZkyS5QpUbSgHCWyvMQxRbeaYZRWNIZqYW+HpiyUbnp4tn51yV36+knn6ysn/EZnXHCj7n5qvpZlXWq0jQaGK+f+Y/Smm2j31++nt3/gvXrjO9+mHXffRSPHjuHIKteqlauVM8jTzLR62UotmD1bjz7wgK676ipd/sc/6J7bbtWCOdNxXZk6K6mGD+nUuLEjtcO2W2rzzTZG26aGcmH6mc9+Un+99hrdc9dt+uvVV+naa67CCV2n2265oQW33qDbgdsKuEm3336L7rjjVt1x+23EbwZu0W233QzcpLs4Irrrztt0ZwG36447blFBR/7tt96o23Fqt91yI3xv1K03O8D7lpvAO3j+2vC2W2/SbZS5jfzbijjpgfjt8LvjNud9s+68HV08jV533YEOd9zMMdEtuudO4K5bOZoC7r5N999zewH3ET5wD8dUDvfewdHdnXrwvnXg/rv0EPCgA/iHgAfvf2H+pAfu1cMPtmDSuuEA/hFwjnfw+MMP3atHOMaa9ND9evThB/TYww/q0UkP6rFJDxT4p554RE89NkmPP/KQHobHd79xlCrYcQU7qq1cpUfufUDXXnWl/nb11br28it0/VVX6wb6uQVX6vorr9INwN+uuFLXkX/d5ZcTApdd1gpJX3vpZRqEv156qf7650v1lz//mfDPBf6vl16ua8FdW4SX6a/Q/OVPl0EDbVH28gL31z+TB53nvxxcS7lrket5Hq4BeFx32eUq0k7jAJ3revM116iAv/xFt1wDEN78l7/q5r9cp+uuvFJXo+cNf71CU6dMUrm0SiNGRu2218bcnSxVM/aqXE7lC0oLCYM06JU+UZEiLwN5VGqpsnqYWykPudFs1waE/7b3ldfsn6BqUGiYcKzePv8Av79XxBv9hROyyWwQ1pYyBsEL6QbyXqSPmSkwaCKdliShcBji8XSJe4iCvPhoTZ4ZkzsTvlkrzIm7rCI0Cg/gJU9IHhR6FwYj5axezJCVq3g8LcqI/IAOTXZEoqjzHBBNEgTUXJkQT1jEpIQG5MKPydKymlZSTSXCRAolZTmrqRUNzV8W9NBTK3TljVN01vn36aRfXKefXHCrLrn5Wd0/tV/zGh2qdgxTGDZOPetvoi123lm7sxLd5+ADtMd+r9GmW2+ioaM6YZmhQUNZo66sv6Gl85bqmUef0T233q07rr9ZD9x2p57m7mPZvDmsXpsa2l7SeqNGaPedttN73vFmffGzH9d3v/E1fePrX9ahhxygBqt2s1wjuLAfN26Mhg3r0dhxozVm7CiNGj1CI0cNb8HI4QxeADqnHT58qIYP79HwEUMpuxbvf+J/GHnDyBsxooc8B/JH9qzhU/CE30hg1KgRGg2MGj2ykNcKPT5So8eM1JgxozRm9CgN0jntaGjHeh54j48eNbLIH+V84Dl61DCNGTUUHDByqEaPHKKRhKOA0Y73ENyIEd0aOWKIRgEjC/wQ0t0q6Mj3sMgnXpSnro4bXZQfCs8ejeKo0WEk4egRwzWqgGGEw+BFGn1GgnMYM2IEvEegTyss6k+5kbTpKOicT8/Qbo2k7cZSx/a2MhvHusQupY9d4gL6dMGc2azOF2jx/Hlavmihli9cqKUL5mkp91/LFszXsoXztWLhPK0gvmLBAq0kf/XixepdskR9HJf1LVuqFixT/zJgObBsOXFg+XJVSVdXEA7C8hUq0uC9fO9S50MZ0v0OzuNlwGkdChkD+Z5uyV6KPHiAd5zrt2rRIi33OsybpyVz5mjR7FlaNGuWFgNLZ8/VwumztGrxQhZOKzgB6NPYCane/LbdNXED7ktKfQppQ03aSYExzYiMAAPlFb2RnUnOWBBzgAg5nINLVGBhmDfTPA1d1209cYenXhHTfwHxv8WZ1Jt5X8zzjBb5F1Tpn8wyruUX3TGQtGDKPY6TMSOOAyhzMWdmLadikpkVAEIROsjVKj/AkJZnc4B9RDeRgjYnFignHnMgbmZFnpcHpRAoSMR5GeGa1wmcYUxlmFm5VJZBm0uqxbJ61aVaaZgaoV2R+5BGLOnOB5/i4vz3Ou2XV+l3l9+n2ybN1hOz65q+ok0rbZjKozbRxK320C77v0H7HPxm7bnvftpqhx00caMNNbRnlNoqnUqSVE2OQ5YvW6Qp3H08cPc9uv6av7Fqu15PPvyYFs+eo/4VSxWrvapQvwlMTq/ZdUd99rCP6Jhvf0Nf//IX9dEPvVcHvm4fbbbx+hra3aFhPd1KklxJGmjnXFlsAhnt12wB+ym554wNOA7gSEfo8pgrZ/A6xALn5V4IOab3wrymcspGBzXh6fRNVjvNljzwuctyfuQP0jouH0gXIfs+z2vFm0X53HFOQ9jSOaPPm4CHgzCY9rApQ45B7yB0XVOOegldNBhCpwKakuM97vQOxG2Qx0BcpDWQ56HLEXktwFI8D3B8UZa29LDIL8o6DQBeWFkM0mgc/Nbbba1ttt9GW229hbbZbivtutvO2o1d6u6776rd99gN2FV7kN6D+Gv32kN7v2ZP7bP3Xtpvn721/34teN1+++p1+++j179uXx3wuv10ADveA1+/vxwOOuB1RXjg69eGjjvogP110AGvB15XwMEHDsZfHHo+uANfSN8q6zjyD3ydDn6F8Lp999GGEyaqzARfCQ3030Ef/tDB2m3PTVRqqymUsE9rKvpxgUmRNtM//Jhyi5Sm/ZXLh7v8h2Pqlfk9w8edt+2271lN5r/1xRxeffkNNVeaJf2RIxBa+NVX4BVJ9A5cp4D3IpDjQBw8J2O30NHZWUz0kbx169Qq7d+IAQyAmcx8ooxMYnAg7RQ5ZS0EWYEy6CV3HkkIcqTzXuNsKDOIiy7Q00mQ+5Ni94LB9a7uU1ouaeaCquatTHT93ZP1s3Mu0ZTZi2RtQzR7SVWPTVusub2JZq+UFvSZwpDx2mqX/XTQ2z6gQ9/xAS7P36CNNt1K3T0jVG7rZJJPpDxRVpfmz16oRx6YpGuvvFp/ueIK3cEx0bRnn1Wtt1ft7syaNTWqqzR+dI8Oev3eOvq7R+nsn/9EJ51wrN7+ljdq88021PCeTrVXUngyITLwxKTV1lZRs9ksfiQ6l+Rt43X1WCTfqxqZPKNPakx+jotM2JH2i44rStAqxD39Yij4vCDPJUAP7xZtBgfAaRxHWxZlChmuUU7fkA+VyIsOTus6gYuRvAKcFocBbpBORdzlOQ/Pd/D0IFDhYtIYSNs6+QXeOayDQ7ZjCvD8gh4eyIm0h8c8r4gX6QG+5Dv+5cBpY3S6Qd1jq/mR5Xne/mamgG3tgoM47JMf6Qp+9gAAEABJREFU1xeP+JIO/8oR+vZ3vq1zzjtHv//jxfrDH38PeAj84WL9/vcX6XcXnN+C352v884/V7/97bk677zf6reU8fhvf3uOznU418PfEH8p/Pa8Fu6cc38th3N/+8K0435zzq/1m3POBjx0IP6bFt25zr8AT5/bkjHAy8v+f4XzkLH/3q9VW6mkiRNHap99d9AmW4yglVbIuIT3+SFnQJrRVsFkgP6hh/EvB5O40Dd4B9Ixa6s3a+3XhOXtj/1DbP/JhVzDfzLL/51drNZXhhBWxYLUsGegiA9+BgfLYPrfF/rg8ZEUQiKzAT09ZGBGBqTn+8TX1dVVKGk2QFOkVJQJSeIRqIWhac3jZTMmwyQEBUAy/omJCs7wN6nAe56R4/Ry/q2Ggw5auHqe0ziiyaTWx2Wu/5SUG3JMu3TBpbfomyeeqzPPvVY33vOsGtbFDqVN1bRDcehYdYxfXzvv93q95X3v1xvf8S7tvNtuHIeMUAnryP3YqlpTVq1r1bIVmjp5mh6453797cprdcPV1+mRex/UkvmLlHJpOrSjXSNwDhPGD9Muu2ypj3zsf3TSyd/X6WecqKO+eYReu+9eqnSW1M/lcmRARCZqSySW4sXOQzyMPVkSlKSlou6geAcqzGRppIQjN+rttXcA7Swkn0g9oZc+ZkXJIqNoxyLW+jgv8/Z+EVB9vRzecS73f4OWSNe9Ba3v2lLel4O4HNnrwiB+XZpB3IvDF9PktI23o8O6cU//XaApBvkqEAOc1st7Gow8PQjyn5Rgciy1tavc3iE6TA36pYE9l5hcK+VycVfQVimpHafTxr2Bxzu62tXeUVGlnfy2EpfVKQueZC1gdGk5UUI4CCGRktQUgCIkHYCEnavTBPAOHh8E55GWEhUh/AbDBNqXQoB3okCdQiLCteD2+WLcmnQqCHMZbZVZQzFhhZXWpITFRB7o6ArjvUT3EIfU7daDVww0epTBDz7YuMuLkQVdo216kg67/J57evtfMc9/QQG0+xdw/V9YNhsZziSZb95TopFejt7iy2FfdRxjXMGCEiY4M3R1QAsDZ8Y0BIGvQLpxJuTKzAAIeH3SCgy4pJQqhFZTOw6r8FxAnDZkqlQqKpVKhQxHOo2DmbXKEbqMPH9pm5gkQ4bT15j4b77tNp3xs5/pSi5E6yz2m+rQtPk1TZnXUJ8NV2XIOA0fu5E23nIb7bH/QXrtG96ivYHNdthFQ0aNUcquwFj9NJjwVy6Zr7nTJuupSffrbi6Zb73++uJ3I5598gktXzhLJW5hRuI8tt58I+2/z556z7veoiOO+Ky++52v6atHfUnved87tf1O26p7GJf8bPXrrNy5MVTmg49hxnjAneTFmXJIEirCa0GmoBBS942K1Bn/SMi0xmQVB8Ak6FqggacwmZc2UZHr7VNEBj4vSP+dMgOkLwhc7gsQfyfx9+hcboye27Idj0fkO6iokXiCWmkRtmhFXqRchNbjDq34IK3zc9ogf1pyCmJ4xDXgef8beNlBmkjjx5YgUM7fdSLqrIGskbGLzHC6QkPyWVS416EH8TemFGxipkQBsIIugHsJUDdyyTH3XQqUGaQxCyr+DYakHJd4GvDQIXicvMFyYR0ea3Dke1kH5zkYBklmRm4gbIHnB0v08kC7Y8dJJWDDUZbSLjiRZqxj2QLKQIX6VhRxLBEnG9mtSlGv5MllkCctHh73vgDyzPqSJL22szLsgWOOOSaH6N/+hn+HBqX+Jf1JSJ7BTtc2AsZEy6uAotG8EfVPfJyfw1qWRSquTcvliqfIEMbgmVFmBmBaATCjY1GbDjVIhXGYmTo55krSBDorAHSRa27gTJSWBJmR5+UoDnMWKrly0uVKm0rlspKQCKKiqA9gI+2G7DIyzskjx2lBkkMxcRJ3ejNTzqRbr9d10qmn6Jdn/0pTpk5XlYFezRKlXWM0YdOdtTXHV3sf8Bbtuc/rtCO7jw0330xdw4crQbY3f71e04L5c/XIQ/fr9pv+pjtuuk4P3nWLnn1ykhbMmcbOZKESjnpGDuvQnrtvy13HO/W1r3xOR339CH3uc5/Q+97/Lr1mr120wUbjaY+ylERxzw8wGKhLxqoqQ3HGlmIwKQQZkFPjwCrSjwvz3BunqBgfk5FnUS2zICSpwcfbyEG0odMMxj1cF15M73mO87AFpOBR8C7CiNxBXKT514LTu7yXA6OI44twIO7pFjgbahNDkfRqRho9Fqy9hONb+SqkezrIH5fpdAIfizJON8hvMBzE6QWPl10X4elB8LYejLf4Oq+IfoY95QUM5juPVnyQJtIniYL/o050Mk4gKLFEieOApIgZMUNzycwG4q0wiJD+NzMRpTxBlIQtxybyM4CGYs4WSsnAe0gCcggjAI3TtwDbYVJx+kBeIE5N5DtJt4/B/sUMNcjLwygvJ3DoQfsaRuugIi559kugEJ0zdlLVM3YlFA3seqLlFCNRuNGSzFdMFHZM8Dkgwu8VvF4XGS1lBi8K+9ukVln6dKOZ/ukdB9SXvQJ2/1LS8C/l/neYjxu3S4OGeF4q1UJIofKBI0X+ieMPYWDRAvh/3ottwcyAdV8TkhWwtIB5GkBfceSCLiaJDsQ0lOAkAjqFYMryBkOEzmw05WVyjNnzerqHKAkJHZ4XgyKCTxImUeqUsM0O8KhWqypZopRBUZYVfCwEdQ0Zoo6OTkVWdVmjoSQJyk0y5JVLJY4LyoyhqBL8sFyOlCQfPI1mQ2V2EvWsqZS8Wi87kGeeQ8dEZGjseutpn4O4WHzH2wgP0DZcno+YMEHl7k6laZRxpxH7VmvRtCmadMctuu6yP+mGqy7TpPvu0ZJ5s1TvW6W+1SvU4NhsvfEjdchB++hrX/28fn7W6TrmmO/rvR94r/bYa1dNXH+chgztQgej/vClfsZADEwypkALAFHktSDxmufEqaRx/xIYeDmTR0gSmQX5Ew1eRIxyNIMik4qZwauoujI6lCzSAzhiayc7o6TzcSA68DqlgydjJAao0M+8OYFWGGXI0xqQ070IXK9iIopYrQNMfWHAAQd8pNx5vAAgIF18qYeZETUZjBxisWrNweXyeGQidC4el2KBb4VEaVf5JEUYkQ2Gd21ZV8Ao8hKAKgiZA3mD8UEeEZ2itz98BbTyI/0Gb9evkBXVYMsbAjtHaBsscEQHGbMeSUTn9A2aRivCZpSalGtaZAWf0S6ZMuzVzKhVUAObb0CTmUjHQhbWgqakgxQCNhFJ5hn5lGUx04wNMlxOUy6XIaTETFAqeP0K+4sCpZwxAgvk5pSPyI7wREIuGRn1ZpW8Jokod64BZlHItgBesiRFFrqaJOqZcMqQ0zcRbgltUGceSFPagsWeFSVy5GaS1WUCOP6iUqI5FHOThIZFwoj7m/NZCzSTkw8AmoDw/nFAXSlPlVpPjP2dv9t1/X0fMDvGC8Pj3/+Gf4cKu+zy6ay91DU1NpOl0a2o6AQaTg4DGnmDD0T/b4F32jrVNE+/kCP91UK8KKtRTHAYFYbsP5rqdG6wTVbwApdzSZznzcIIx44bw3afFQoDJ2OAhYRyTYwKzn6fEpkMSxhd8UthOJWIEfatXomB5aziO9TZ3q5gQW6YdfgKPTPKt7W1ady4cYUM/wU9zFZZraZmfz9OK1dftV8JfDP0aeKIGtxtGEa74QabaJ/99tNW22yptK0s//HEWrVPK1Ys16JF8/Tc5Me5ML9eV//5j7r1+r9q8uOPqtG3Ut2VioZ1d2jsmFHahrIf/vAH9OMfnaKTTzpRXz3y8OInXnqGdCHTUDEKUfIBXYCZ/PF28piDpzXQr4Ew0K/uZMRkVYDWUg3S+sCRBsZIYRJRLVyLwr+edvD4y0Erryj8grItjJdoxZzOQYUejrOC3mP6Ow/aQPPSTKpWID10mpz6FoiBT4xeJ3III3Yi8j10cJLB0OOe1wJSNqhNqzyY1juAj/BrIZzOAckD/B0fB+OEEdoWoAfyB2XkTPWxyI9gnQfhQLrgwafA0uFRAXsU9s4kDN4n4Ro26YulnIm8gR32M0Zqtbpq9YZqHL/WmdRrQF+zrnrMVK02VMdWhbfJ6pmaxf910sRRNcirqs4ue3VvVcuWYq8LF2vO3PmaNWueZsyerakzZmrylKmaMWuWpjw/VdOnzcSml6oXfnX4MdQYnlE5cUvK8v/YLqcuZqakFNDbHZOU49QS8oUtNln8ZRSsobfXw+vDipd65jigTGZGn0f539lLcSgBpyNaqrBlrX2MRgrgZZkKKOw419oHAs9fg3ip/a/JkrWcihoya6IvZbO2Zm116Y4Nxm96ybbbvqe+lvbfH1tnln1VlYnc1s3Gy85FKmOPxg6A0T2ksHfQ/4qXzoAtdlEYBtHibWE9ujbmqTSheUA5fXdXpzIGQi8OYOpzz2r6s8/pqcef0EKMvFIqaUh3N44gKfgGDM0HZotHokqprLZySb1M5FMp9/yzz+rJxx8p/l+Hbo7Hhvf0qISBNupVGf9crsuETcFz+LAepayKZjN4nnr0MU177jlNf36K/G96dVTaJBrMnVUT/RoMhpTC7nQCg6W6epWWL16oqc8+o0cf5O6DHcitN12ve+64XTOmTlHGQK+g24TxY7XdtlvroIMP0Kc//Sl985vf1Le+9U196EMf1K677qKxY8fIzNRo1NApCKGAwNFAGkx5fBBAFoOGfi3CAbyPNnPcYL7jB+OtMEJvDH5POQxGvU0dHDcInnZYkybi5R1yBjLm1MJ4G3kMZtHjgMgHxZtrLa6lj5f3sg7kykMH5lI5RaQeHqdw8Ub4wqSIFx+IIAEFJ89jkhUlI3JbkJEHZ/IiUJQZyHc6B8c7yAVD4GSR8vL2cxBCBiB6JjT+OnkkP6d+uTuJNfEWxr+eH4v8vNAjh85B4CIAlm9Ui5dErAUm8FLEFlzWtGnTdMett+quu+7U3cCtt9yiSy65RBdddFEBF154oQbhd7+/WBeQd/7Ff9DFf/ijLr7oYl18wUW6+HcX6ILzz9d5wNnnnquzfnW2fvqTn+rHJ5+iY48+Vl8/6hs6/Igj9YUvHa4vffHL+vIRX9WRX/6aDv/SV/SVL39dR371KB317e9wxHuafnfR73XzPXdr1uIlalrK7iio0tbpCru6OIdMluTyxU+SJMpZMK5e2a/Jzzyrq/9yjX5zzjnFMfEvf/lLXXDBBbqee8L58+cXDs7M1M6ir8kiD7+jKCt4tj7rxh3z4rTjHHI+AH1ChNeUs4iM8CahiNE4eFwD/GOsyXDASV6JIe9+JtjQE/bf7esL9B/2+KzwqqtkZrHUMWRukrQ/y9hgo0sHuydXHOj0v9cR/7iqBsu1441EwQp5ZEQ605M+YFCALox0nsT8DTpXQmSXnXfSButPYALv1cply7Ro7hyt9l+2Wr1KG3CctNGGG8oMw6AOOZXywW1GmhXPdttso+232VrtacLEvkiLMc4VS5ayGquqh4v7LTffFGAVaekAABAASURBVIeTqlRO5aslyfiHJihcqZS1zdZbq4ejsGpvn1YtX66F8+bJy0fuRLbeaksdcvBBqlRKrLia8g6NnOEuXbxID95/r67/21916003aNL99+n5yU9ryYJ57EBWF791vukG62uv3XfRpz7xMQbskfra147URz/6YR144Ou1xRabaljPUCUYd63WpwzHlCSmQXBHR+0KPammRL29zkQG3tjKK1KRrwPBwGuEBYB2x4GYNfTuGB08v8UzMgkwvdEeFCtex6+TVCsNM29710UMWA/XpGNBUxQe+HgZkQ+ZijgRDwuABolwoRxxpv4i7jjHRNc2GuWkwk9AI9KKRByBcs6nIBiIF2myX/h6ATgO0Hie0w3C2rRg5bQeogV6xzXg+LU8yC10BSNXydMe99ChiFPW4y1ofa0Yg612Qwqi1+E7kHJKL++ym+ygn508WdcwCV9zzdW66uordemlf9JPf/oTnXbaj4DT9KMf/aiAU089Vaf+8BSdcsIphKfqpFNO0Q9OPkk/OOWHOuW0U3TGT8/QaT/+kU4/88f6xS/O0rm/OVuXXHiB/nrFpdjvdbr/njv16EP36YlJD+rJhx/Q4w/dryeJPwbO/4jl9dddo9+dfw78TtSRX/uqvnD4ETr9pz/Ts89PY/feUOC4qokNZ36SEJs4mYZWMnbvuONuHXP08YWT+v4xR+v0M87QL375S52N/B+ffpq++a1v6EuHf6nATZ0Kr74qYyGXGdbpjSvCYtTRQC9+i/wXIwfTtK23twOOvGhT51nww66crVo0CQvtxM8h6pV5yrrOnNix7R3GHDrI6T8lDP8uRbYes8eSrBYfVx6qojEN424ZsGvkLeng8X8mxFZXWYs349e7qxCwbr+3chk26OTxOkdJu+JMfnjiifoOK/bPffJTOuzDH9GnD/u4jv/+9/WTM0/XzjvvWKxefLJ1IRlHXWamJARttcUWOvUHP9QPjj9OR3/3Ozru6O/re/A55nvf06k//KHe/973yncHhkKGRt4pZoEdACsrnNFb3vIWnXrSyfrkxz+ud739bcj+kD5F/DiM/zjk7777rvJVljsU362UQqKVOJ3nJj+j/lWrlPnfXar3qYlTGD6kQ2974xv0nW98Tccf/V19/9vf1FvedKi23XYrjR07WkOHDlHqRwFZXXleh29LDxntwRTljtKPLMQTC30lM1sDesHTam9RpxbaWsHLfAd5FVnwjUzIBANJhhoJpxmEIgO+g2kPWzj/Rj6tMkSgWquB0w2COzBmaEhyYJDey3qylS5oCw5iAorK0cN/eSyCa+VBW7wDdaN4gYeuQJOGtIj6Z928deODGjrO6QbB04OsHNdKD+rroWMpvQ5Ri8Y1bOGLdIus+L5IpQInGqMoQT9TqoVDcS9bJODv8XXL+g46Y+HSx92a/8dXq1ev5hh1hRYuXCD/y88LFy7k+GmRFnFMtWjRIi1dtER9S1ZqOQuppcuXavnq5Vq2bKGqK5eqd/481VhkadFilRYvVrJgocpAx9LF6l65XMM5gh3O5D8Mex6+arVGre7VsOUrNMJx5HWtXKby0gVKFs/V6jnT9ci9d+hXP/uJjsSpXPeX67R02UrllkhpUA2dF8P3VBzeZz77Of3pksv0zHNTNBf5S1egEzB/wXwt8N/kJ/7gQw/hIH/GTv3buueee5S4Y2JHo6LL+XijtBJFU/2/P4FsBy+UEW9KhUOh9aPzIs9D2l7K5VAKJWX91pvEzkuqefnK173usCoZ/3Evmv97dNpsszfWktB1r2K6VO7ZMWZDlVg05KullncoQgdel48aAykPotw5VCqVYtX/2tfspcO/+Dkd+/3v6jRWVccd83194uMf05677063R1W4m3D1EwzWYOSDz+9JAoa23sQJet//vFNf+txn9JlPHKYjvvh5ff4zn9KbmNi7OEJzRxJwPC7VHZEwJj+37exsk/9Zize/6VB979vf0s9wXD8+5SSdeNz3cSgf0047bq/I3s5l1TlnbutoU5PVl5fv7GyXcda69dab693/83b96NQf6qILz9OXj/iC9tpzN00cP4aWz1UqJax7MjU5ZnMw7l/a2CV53bO8IQczg5cUgqnMkVxxLoyzdTlm5mrL6z4IBaL4RGQ4kCgyA0UAki99Tf7P6yJKGSB/BrqphXfEy4PnO1iMovkLEE5pMO55XtLQw6LIb+kVSDsYoXJDP/EE8h2I+gtPr7ODUVaAk3uWwyBvjw+C41rgLA2/1QLPb+FhQo1hXeQ53sHzPGwB+hB5Ic4nntyxlGuFJIgjx1l6Ali3jMcdQL/kNTP6XzLayttrDSPawryS6/AMKBucTjzEt95yS737Xf+jD33wgzrsYx/REUccruOOOVo/OOEEnQD84Ac/kMOJLMROPJ7F2De+rX1fs7dKVKvMDmEYYQ/OYRsr6YDuUXrPuI304Q231Ce33F6f3n4nfW6HnfSF7bbX57fZVp/dcit9dost9Tngs5tvqS9uu60+D3xxu+30WY5oP7D+ejqws0Nbc+k9Nu9Tunyhnnv4Ph3znW/q7F/9SgvdmXGv8uRTT7N7OUpn/eJX6mfM5EmiSke7dt1zdx1xJDuan5yuX5z9C32dBdf+B+yv4cOH0yyZbrntZn32c5/T5VdcwT1MVf7DN5E20DqPmZFyIHjJCz7i0LijaWXRsIUjoQ+NeIEk3+3e2x3HboRZf6lZSUfc0NU+7CeHHfqDxQXZf+An/Dt1Gto+anKsp0+VrC1GDFdm/krGoNC/7kHMgAAEDYgxY6APxH2i8GhiiSKHoxnb43IpKGHFb2Z0tSnjAj148QFjqnAc5dvoHHo3slKpJDPjjqGplMnawKdFASnBeMWTcUzAtKCUlY5kwmLlT5IEOZ8kTdXkfDYWMqBEjwCd57kDgWhgy61ikg8co7muQu64CWP1oQ+/X99gQHzve9/SYR//iHbYcRulwY22iQ6R4r79R2zGDiQNHLMl4Fu8mlyWupwQqDf6FnwlWJvcaZkZtAk8Irggf1xNMytw68YTynsazooMjhASQi+B7OjljXQsEP7NBycrOsLrHgmLzHU+Bd6J18GtiToeHiaTkCd67IVgTJ6JVOS77g4ms1SC1m3RZMSNbwKtwUdMtgTwlYNciNY8ZoN1MLX0TyibKnd+FqB2Hgn0HgbChHxCn1yIGSCfZFxfIGeBIEIzbyty4eF8vd5mtra9aL+1ONgK2gIC3yAVP4cNHt6mRM6zhbNWHHzMpZwdsKLgC2/q5zgh38GgCYAVeIgI4VTspv0+7aMcjX74wx/U+9/33uKY9DMskj79mU8Xd2+f+tQn9YlPfAL4pD780Y9ovY030IoVy1TB5kZgzxtIev34iXrrBpvojeMmar/uHu2C3W/DJLtlyLRJrGszdsjbcNSzQzlo146y9hzaqb2GdWkPwj17OrXn8C7tNbJLB248Th96zY46/E2v06dev6des+EYjbSq+titnPebX+mUk0/Ww5Me0Rk/+bluvvk2GXKaNNF6m22o/Q56nd7xzrfr0De9Ubvutov22Wdvffazn9EZp5+uMzj6esc73q4JEybI/9+i008/g/I3088aGH+BtjYgUJsgMyN8uZe2MwfPC3wSGjyRYSPFAog8MzpD0Hjb5yXFZqUW8hFXJXn3D96ybzrDDCL9Zz5eo3+bZmO6hy7JmumNeb1Uz7MgN+gQjJV1Q7Sw/lUP40/r8l87GOlE8QzYQs6IynACxkBO0jIr9KwwHsenpZIYU0qSlAm/ySCkHK/zIoAu80BGfXImBjeRXKZIISM0MyWUzZ1/YTzIBhdCkPMwIwQfoJE/ZJeR6dHct9ikI2UFeJkMvp7nNsjsp3HsOg448HV67Wv3Kn5sNzAYDUMNiU/NGTJyYcMybDOgY/S6MrijT3+JKcEBOLh+nmdm8sfTjpeoCzqIx6wVN3CCqesj4vmATu4QgyWqsiqcMX2WnnzyGT3NhWc/6ZAk8icWnSL0kpqNXGbmaNKxALNW2pFO2wKO3ijXig/QoZOxMHFIk7JCKMEUGax8bR0Q+piVJRxIFH1ImaighDIGTnkiZaa8GZUT+k8cmUxpSPjCcqBuOe0vHtcho5/NEgVLlQR3JEYPJrRoUoRJUlKCPgE9QuFE4OWTdExh6EBapYLG9ZASbMvlR8IcKQaosC2X57K9rc0MXI4pQFPwQ547Eepg1C1Qz0Kmx+Fv8DVktiCRKJOgr9fboEmSigKhaBMjL8feHEopupmJlzZpyiS5/Vjw0BSSoJJDKYVnLrerEELRf75gevzJJ9kN/EzTJz+lrmpVW3V06ZCNN9Heo8doM3hMqPdrZP8qDaut1JDGKnVnKzQs9ml0kmlcWQWM5vJ8hOrga+purNaQrFdttRXqzns1oTto8zFd2mlstw7ZYqI+9YbX6p377KJxnUF573Jd+oeL9e1vfEs333irathYtKCtd9pBO+65q0aOGanhI4eL1tbKVSu1ePFCLV+2VJExsddeu+s73/m23DGWy2XNmTNbv//9H+R3KCXmBUyQto+UFWGm3B2z/s7DSQFU8jZXTqVim5R7e0EfG5SvKU2M9i8rb7ZVY2PIdT1dG33jXQcNffg/6ceA9TIPXfgy2FcJteuun2mMHL3JX7N6+8y2Ug+GmYr+VZMzzSgGxqukx7piisl4AOEOIxg6mam/v6revn7dc9/9+tkvf6UfnXGGzuSC78abb1G1WlMNKDERlZj8jUoEBqcPdocsz9RL+bvuuU/nnv87/ea883XRH/6oO+65V319Neqby4LJdypmhkFFETCpJMq5e/GdwMxZM3X5lVcUF4Hn/Y7yv79Y93Kp3sDYXUaaJMWgzXxyg5clAeOO8nwpK/jJ4kDNorye0YXIinJicvSJssyE0Ww0it2Hy03g2yrkdJJZkAH4HsWc6YTJxsOceChVlBE24RVoN5FXSisSuDvuuEvf/OZ39dWjvskRwzf0ne8drYsZkP6jltHZOPiojDk86vI6+YQpfwbV9jjgeAeiGgw97pAx+ZcY4DNmzdElnIVf+ucrdPkVV+ky4NJLr+SC+Er9+bIW/OnSK/Snyy4n70pdeeU1+jO0f7jkz/rDH/6sq6+5Vo8+9qRW9fahS5SZqVIqqU4/ouqA3FiErkMsKhHkDbtyVa8ef+Ip3XLr7XrgoYd1G5e8NxG/+i9/RZdrCh0K2X9C/p8v1x//dJku+dOfddnlV+rSy6/Qn9Hrpptu08MPP6oF8xeyu81Voh1z2rUlK2ptv0hNdq9SUKXSrmXLlusmVt1/Qf8//fmyoo1/97uLdMEFF+p3v7tQ5533O/0W8PC88y/QedjjeeddqHN/6/GLSV+kiy66RFde9Vd0f0TTps9USntWKm3Fj/Jm9QZ1zNXGka5ZLlNEssT8V0DAeXg/hAT7ixE7gh6KlStX6ddn/0qTH5+ktt7V2nbIUB2wwYbaBLohtVUqNVcpsIuIoV/R+pXwRKULAAAQAElEQVSU6qq0Z+rsCBrSXlZHOVEFIQmTseXwzGrIyyQRx7n0DG3X2HHD1d2Vqjv2a6z6tUGpqTfstKXef9De6mGn47uh2c9PVd5A56SiTbfaVptsuYVKnW1K4D+ku1OMIqX0dZ0j32VLl2juvDksbmrFXeL73/9+ff7zn1e1VtOdd9+lK668SgnjPVBnBzNTkiQKSdDLPhaVo28MDbKhiTiTHGeSVRSUArl80dekjfNaqRqaQ/7U0Tn6qEP2+ubz/+mORDzUiO+/8R1bOmBKlnfeUKsaU07ChIoRVWhYJsRXUy36eY04nxdE17qTMNcjJBhQXcefeKI++ZnP6OTTTtPJp/+4CD/1uc/r29/9nnpX9zHoG0CTwd0sJhkzU8DQ5nMh+d3vf0+f/fwX9bVvfFPfgf7wI76iT3CR/63vfldTpjwvwyjzPB8o1+oW33nkDMinOOM96qij9LkvfEHfP+YYHQ186fDDi7SvkJrNpoonSmYmYbJF4JWKPuAieNDFmxffwY/X1czIZ1pAlusQLMiP6dra2gt9inYAF2iHSPE8MzlNElLKpTjaupYvX63p02ZpwYLF5FVk5FGdYiJevbpf559/oZ6bMkN9vQwkVuXNZq5HH31cy5aukOT1NUJeM9oQGqKDbxyMEPpkSlC868YLBB9LEgb6/RzvfUcnnPhDnfDDk/Wd7x+v7wFHn3CSXgg/1NHH/1DfOeYEffe4E3XsD07WD089QyeddgZ9egzt+yWOBz+l3//hksLp1xqZ0mLVjSBF/xTtkw9M8mamZStW6uzfnKNPfPozOM1v6lOf/rw+Q79//vAj9fVvfU/f+u4x+tb3HI7Vd44+Xt8GvufygaO+/X0d9a3vk3+cvvSVr+uTn/2SPvihw3T094/TzJmzFXDQvvtJsJWMRYYrQJfJLCih3r5SPuXU0/S5zx+ur3ztm/oO5Y6hfsefeDLt8COdePJp+sEpP9YPAQ9PPOlHOvGHp+kHJ51G3o+B03TCyT/SccefpC8f+XWOSQ/TRw/7uM74yU+0kst1w5YD9c/c4SOf6ipgYwYIm/P+iITNZh3VcqGWAmVKpaAbb7xJd9x0ozpY/GzU0aE9OdraAOMbXq+pPa8rsYaKv22VNFVKTd3lElBWWykVmb4cUvGLj2byo6kswV5xAHU1NWTEUPWMGSFRro5jESt89a7SiDSqJ+vTHhtP0MG7bqnOrF9pgxLck3R0DdHW2+2gtL1d/gMVCfza29twHA16tikzH4sZtljTLBZy/f29OJRuffgjH9JOu+wsCHTFFVfowQcfwmG2Fj8ZTt1tQX/3ibIQyR0AFlvyHaIljBNTZCcZVI6VMLQ3NjquGNG1wcnv2PsHz5mZF6Dcf/Yb/t3q7brrro0hQ0afn9XTuWJrHjEOb/Co/FVRzRiNNiDLMG7JhDXJnwqrsWaWi7lCD016pFi9Llm6XDUGklKMnHuSvlpVl1x6qZ6ePFlJkigNqUocZ+R5Lh9cvjO45fY79NcbbtRCVo2Vjk4ZW+VyZ6eWrVwpX63eyQ7F5RiTRMTAnE+eu/0EreZy8vzfXaC7771flpaUVkriRFDt3V1auGSJfvTj0zXl+WlqNDNUDgpmMi8LBOqSUBlj8Bv1LOKWyIwcBxEKrIuidKEvuxKich9UrzGwcPFdnUOVw94hYfclmSJ9VSP/3nvvK3Tw3wU48siv6qijvsERwB9VZ+K1UGIw5po/b4EW4mTScpvGci7e1T1Mq3vrWrZ8lZYsX1G0fkRvBXPW1AVnTNRxrpPQ3cN1QQPPujjIlGM2N996m56fOlNJuV1K21Tp7FZo65BV2taAKhWJtKAx8pKObuWlsvrp2yZtFMhrKtW0GXP0uwt/T/8+qyq7T1H3RrMhf3KEmaGoJ8BbEjR9+gxdc81fi2OUZjRVsR/Rb5aW5XybIUXOoOyKYrminDyhR5aWFUutdH8z1+panfuFXt100626g51dkz4uwStDR6+rmVHfXIEJu1Fv6pFJj+pvf7teAV4xrahO3/VznFOl7/pZjffVM/V5uilVmxGQatDUXc+mqb/AgUfnQF/l2PHSFat0FTuqpcuXK5QSjqAz7w6sqqg0n8H6Sz7noZKSJBA36GKhmy8mLr7498rY1XUwmW89cqQ2pH27+larnR1A2V1FaI2XFH26QpuGWru6OAYqZYkiuCYVzmTKLOBM0CNJVMVIk852DRk7Uqn/4EmIslJKO0tJuawm/IdaUyNU1aE7b6ctRg5RqVFVeznV+htsoK6hPRJ9nNMmHTiVNvBmucz5Cl4qJKqOw5s/bx6nD1X1jBimD37wA2rD8cyYMV1PPfWU3MGjnoRu4nG7IHjpSzubEmphEvwjuskayItgS2jSHbP+zvmrloWzxg/f/GuHvPYbT5lZhPi/4g3/CVp2dYyaXEo7/tZo5jXvj9x/GinmqPbqtOPa7vJO9m4Oot9V45JdwZvI9PQzk1mdsTrpGa7Nt9paW223nbbcehuNHDtWdeimT5+uJCToTHksKwmBohg+A3/x0qVqcp7e0dOjTbbYoii3BTzWZ5vf29/PymdOwcMsUcaM7bsRjEiw0cKFS/SkGyztMXrsGG24ycYav95EjRg9UjGYVqxeqVmc4QYzBAujNBlaMK6U0Hwed3BmkcmvBVERZ+P83fDThAkO/RLCQB0ilTcFuTOZNm2Gnn76Gc0vjltaE4nIg5Wee26KLrrwIt15592aM3suZ8yrtGjhUl177XWaN2++fKIvMUEvx2HUmOxSHFFX91CNHDVGiFedyXF1bx90Jn9Q1wMcUIPQ+9+B6MDr/AailBmk1pq45/f29mvGrLn4kA6JyXm9jTbWxptvqU232oZwqzWwyRZb0xdbauMtHbbSBlsQbrFVQbf5NttqY+Kjxo5TE4Gr6aOFixYroS5NKp6USnLp3nZmLd0d4e3m9fY6NXEGQ3uGadPNttBGG2+m9TfcWBtstKnW32gTYNNWfONNiW+i9cBN3HAjbbnN9tpn/9dp7/1er/0OOFBbbr0dx6P9Mgu0/wK5M2lNXKaAfXl9JSOO3eAAJk9+Vt7O+AQNp4033nwLbbnt9tpup520/U67aPudd9VOu+6mnXbbA9hdO+/msId23n0v7bwHQLjbXvtot7321rbQ+4KlBt8l7La8DfwvArvN1X3nYdhQbAE9oLUPToHlgVnLmYj4PCbihx9+WIG2G93ZqfWGdCvlqKubRmyHztitiAZ0u0+TikrlDmU4w35fjOB8jToyx/MNMjOJNwZJxIePGMHEXlGD3Q0CnAuLrUSNBJvGfCocmQ9pVjWhI9UbX7ubOixThgNbubpX1Tp2BqOEnXIbzjOiXwgmgwusWyHxiHOpsWj0uxJRn+23354+3VApjr1ZnApQEUnBC1GK6N95jUVZojxPFamQhRphv6IIc6sr65ikrOvosSPG/uj1e31lrv0XORKvsHeJh/9WOHCXeauikissludFtn2JmcTkqRd0TC7RkXz+zuv5rU6VPHy5qoFnEBQMMKIi5MPcyfelb5JYoYFPGsuZENsZCEm5pKHDhqutq1vdw3q43O5RzqBauIDBjuNwLj7Ic2ZLD93A+hg4Vc5ZQ5KoZ/RotuUj1Y1TGj5ypBJwq1avUh8TVkiSIu1GbTAypK/GWaxiB1NCbnf3UFXaO9SD/I6uIdQyMIhyLV++XKignMEQKWMKTDAmEXcdICRG2uvslS0goUyQoK2zGwmJpwVOSpiEH37kMf349J9wtHeSvnf0cTr2uBNYId+Cg6mz+3LaXDNnzNS8BQvFfKMxE9djpTdM0ZLi6GrxgkVKiCtKS5ctUxMiovAuFVCqlJEtjhUywtaklNPnxOCXFXUplIGBlyvqAeW677q4wXg/7dzXX2NVnitQj2HDR+J8N9CIkWM0esIEjZowsQXjiY8fr1HAyPHjcM5jNWa99TVu/Q3BTdBo8CPGjFYDvZv05bIVKxQS2jUN6BZlZoR5EbpO3vZ+v7WMhYP/GY4mjnIcMiZMXB/HsUkB6228idYfgCKOE1kfB7MBTmUDHM6Ou+6uAw55k/baZz/td+Ah2nKb7ZQ1mZxplxXYX4YuLqfEDsFDyYomqvbXJfpxAX2BZsotaASOcH34jkW+12mLbbfTDrvsph1wJh66Y3GHse2OO2nbHXA2O++ibXbYEeezrTbZaitttNlmasfG3Zn0M+nWsJEMI2sy8SfIzwillm457dNkEVSAT65RypjEUQ8KFmKTn9FS2qVi0og0VU8wdUTcNA4gB0RaIUCeyB12aKuonibqC8IpGDyoHrIDcgK8fQgb8aSUYnOMA/oiQJ/QPzljMCfdgJuRb7RdGxzaar3afsMJGs4Oxlisrli+RE2Ou9IkUWBcdPiRLuMntSCKCLOT4GNFOqrJbrS/2qclCxeyux6tzTfdRDl3NyVk5PALlipvlpQ1Kko1RCHrkHEf0oIy8RbEJmMH3Y36GDufoFwxC1leS2+N9cpR5Z7NL3zjvj9cZP9ljkQ8Afi3v2bH5BNGrHdvScNuSbMhjbyWCbugP4MiHR1ZGdAbKoAOKIypMCpT68nVyiOklArQOk8ugzQOWInHMwammXlXAgKiIjQIlCHPZQQ6PEIXMHa/KM4w1JTBkDldpYQmrTJNBtbs+fMEeYsH9AnGHWHIQkhNH+x5VAihKJOXghxCWpKoX9OPhNDFj8SolkzQAgkjp8kgrmP0QQn1ccGUdb4hgcJklnAUslJmJvH61JwR8YFftJsk7+QkBEIjJ1HOOVm9nnPP089uq08hKcknApedw3v23Pn66Vm/1J33PqQZsxdr2bKaZhFec/VfOXZbqTqDKuZNyq7iOtGUc2Q0gYlrIhNlSMtazf1Rgl4BnXIGaJ2JpQk9CuAoGkpLlOG4I1ghEX0aKtNejE7aIzIRNZUwyOkItKeN6bcYndaz8wLHp3hjkZfT9o4X/DM1mk2ZBVkSaKNEGXXytra0BC6VQqLo/NE1KbcppBUFdhvmeGhNXjZRQl/LxGPwb8nPqA+IIm0WlADKY5EOxPv6+km6Po4zlUptkCdCMBCkQNzB0ME8nSoSpuWKRo0eQz9E+YIhRw8Ho10ybNBM8slLrGgjbeHplj3ChzRMhBkqTdvggSjq6nXMqacf3c3i3m72ooVaxC5jFSvzDLzX2Wn8b2U1Rf1or6IVCdPKQJtAZ6TrtKl4EgQ3OH5r51goQ2AD++zj+K+v2mCln2kVC6dVLB5W43xX9/Vq3pLFuv2ee1RKUnXgGMfAayiX5xUuoetJXbUkKrdUubxvSiqxaMoSFhNpJmpGu2bipEuBchgKjRCV5KaUReew4aMU0KOaBmW0aa3WsptgUsgz0cRqmuR9Vskb6kmk9ceMUQe0q5csUHXlMhn6J3lUxUpqo+2CUsWcfiEdkVFnmxdlkjO1yNHsEiia2nqLTdTd3ab+xioZx1X4GtVWt6m6YqhWLepSdUmX+pe2q3dxHR6DVAAAEABJREFUSY2V7bLqEGR1q5SX1EFbhIapnHXEbFX7sg4b/9uRPdt85n1v+NnN73nNkf36L33Cf4re+++yPsvXtsvzWmlaYm3FwIhMFMLIDWNTxBKiq+vgWkc+OeCv8VkXSL7ca17GYSCTIlF8BpLCpNdEPR4lIzsyWDMciRslGHDoQEYMhP4miVYyeFr5ktOLx8XlWWQFxDopzynXYphRp4z8ojrwz7BEr2qAn2G0UDkT2qDJ+AFySqADRWQMMSkgw+SPmbmmii5MRUlHrwN5Ec8ZMA0G84IFS3Td327Ur359jr5/7PE66aRTdD0Xo2Sz+moqMHnNnj1bS5atUE6bjxw1VpWObo5PMvVX61y2V1WCxmLkOKqukNAAjNrcgkqcgyc+KaNTjR1CxupcPGvaA7w7uEAdS9B5m1JR6tSqi4g5GLxgr8FnsLyHg/hWPNIOrTqbtXj4StP1Q4Qa6BBol0jfRdrffxLLV6M5E2MGNDgLr7EjzAhFH/jfKcuadTVx3k3KehipQ0odh/X0yPV1Pq7zYFM7zvV0eRlOs6O9ojTQJnRoDadbrfar7rwKeXU14O1yHXyh0GzU6ONMFc74A3VYvWpVYUtV9KpxtFIHSqVEIZjMDFFROfbgciMyfBeUJIwN8iqViurwZw2iHHlNHHaT+kTqbihc7e/TsqVLtGjBfC1k8bNs2RLVwNGI8vpWmfwLfSjb39tL+1UlZFWY4CuswL3PzUwBqHNfRtPozjvu1Rmn/lSnnXymfnTy6fr+907Q4V88Ul/4zOH63Kc/r68e+TX97fobZAEdcQLlaFhwEJVRIwQ1Qwn7xcHjMZI8waUIZ4EdMvmXuEgvi4dOjxm2hiO1kCkPdeWlhipDmKhxSM3QlCxX6u2A48V7aM1j1BxgxOCAojorFUgzJTHTjGnT9Cy7pilTpuihhx7R9Tfcor9ed71uvOlW3XzL7br3/gf19LNTNJsj22XLV8oXCjXuffr6+jRixEh1dvVIoV3Rylq0qKaLL7pRPz/9Mv30tMt05mmX6yenXalf/uw6/fZXN+vPv39Qt/5tqiY/vkKL5+OwaiP7+ld23FNJxhwzatim3z50r29Nt//C3ciadiZCr/L9D3jN3pOtN3HjOy1pvzKvt8XE2iUmggKipIgxslIQM7BPnDHkRHPPII9q4PHlNGD+ua8xnnI1WcHkPijNpNYrf4iyGky1mMtwH7SOc4gMgCJUVJ2ynjYGj5d1vEOwIDNjgmnIy5o5N8n4J8p7tUOSyMt5XMHkj/PyENYyAwdtkeYTADByIMrrMXNSwPTLX/4KR/JrXXn1NXrsyad07wMP6pJL/sy9zWxoKQ2/PlbXPlm0c6S25ZZbcz68scoMwpzJq59VaGRicOdT564IprR/VEBiEhiy6JKgs9ctYRImU14370cPHV+tVpkQo6yof1ESGpMxzcg54ZxEP3s8qvWsqTMC18bX5g3i2ioldbSXlNX6FWn3mdOf15RnntSsaVM0w/9A5rPPatqzkzWNSWQ68RlTJmv6s8/o+Wee0tRnniY+WTOmPKuZU57T7OnT5JeypSD1cM5fZ2IvJyWqFNEC7aivT+pmJjMTGUwyI5SCr5SxiUULmKye1tTnJ+s5548c/4ObU597RtOem6zB8Plnn9aTj07SLTf8TTdc+xddd81Vuu4vV+mRB+9TOxe97qSGDh0ib89IH0gmM1NATpom8rYlqY022lClxJQwsS6cM5M6PU2dJ2v21Oc0A9kzqdes55/T808/qScmPaQH7rlL995xm+657WY9dO/deuDuO3U/4LhHH7hfq5YtVTkJCuxAujs6JO90wCQFC4yLqLkz5urh2+/VpFvv0YO33q37b75bd9/IRHzTbbqbRctd19+oedNnqoyzbNCZOc4jc8Bt5FaiHVP6HhlNU1lB7mxSHEKKM0k5CkuobwEuEwfQzKvsNmpSR67QJfXnfQopcersdBYlvwOE/CWvmamtrb1oO898/MkndMcddwJ36I9/+rPO/OnPddpPflbAST/6sU744Sk6EfjhqT/SmT87S5ddcbWepy7LVqxSpa1TlrbTJGUlpR41sw5Nn7Zc06f3adrUfqCBs5KmTsn1yKQVuun6qbr0kkd1ztl36nfn3qu/Xv3srGnP5ieNbtvx7H13PnyR6/PfDuE/qQJ7b/e55SOGbXRura/tSeXlmLhlsG6JrGakRMYGU3xz8DlmmJPHYkc5RhKLvET/3CcK1nIn0mC1FhlIMiREKUb/EIcgTVOtXLlSueNA+ev5hdrQF3HIiVKciX2AzswxwtnUW6te8BGHBZGzUBKCfNtfSksyM4DuIhSP8yRQgKaIF/wNxeRzi4ip9SCvSJhWrV6tByY9rD5WykOHj1DnkB5FS9XbW9VsLtCTpKSc3cvSpcs4KmpQH8lCoqFDh0nB5E7ESCdJWiz+GOeECKaiaUiRHRVpowRnQneJlKRcbZWySkx6DXYAObuEDCcUmTAiu7a2UoU6JIoxyCwIIUpCibQVcRgQRwYRrydNROylbyvPZZU4gthU7ZUg4zx++eIFrATnaN7MaVoyf7YWz52lRbNnvhRmzdDC2bO0YNZMzSe+gMl44bzZWFXUBhMnaOTwYaIJVKJukT5ymzCjTVBTDqiUhETrrTdBY8eOUpqY+rjvWrJwHufs87Vs0XwtXThXyxYA8+dqqcO8uVoyb46WEV+EvGefeFTPPfmYPHz6kUlaTF5bOah7SJcmTBwnX7i6rTXYcTSadcmkJjuqli5RW221Bc6sx6fpwhEs52hr8Zw5OJOpmj9zhubPmK4504jPmKEFM2dq4axZmjt9umZNnYojfUqznp+iOVOf10wc3axpz3M824eAmsaPG6P2NvrJ6FHqHvMo16UsqZtxMYFwAw5w12eXtT6T/bj6Ko2vrwRWaxzpHqBMX5TLiXILUDNOc1NK/6fwSjgCDTiKAA/DKSAF2zH6PSin0dmwyJJQ4ESPKGmTpR1Ky3iTWFZsBuw2ykJgpyO45Mh46UtzFU6t1V4G/5x6GMeCuZoy7h+JY4cNdKtlKn6abv6iJXp2ygzde/9D+sOfLtUxxx2vs35xtpZyEjFsZI/KnamshKxSoq6eYRo5bqImrL+FJq6/JfdwG6rSPlppZaSS8kjVmp1atrxTzz7T0PXXTR73y5/97a2X/uWhcZT+D3v/MXXCP1bsX1PKzOLBu3x1cnfHxBMa1dJixURYUEsYnRxbsbVft44ihWFgDBEokv/EDzphdBFoGZ7r4xNXSwQSoxQw4nq9Dg2JVsbar0lu5Bp8SLfKr6VtcMHpR2SOd4BEZsZkHpUkqZI0KXgXeeCdlcc9TGQqBrcn/h/AHKBlrKiaDOAyO44J622gjTbZVEMYAFWOr/z3ZMyC2jiqEjN2zhlGEgKTVaaQJIrIbcCk1mzKL7mFkkkSZFTDj1UCsgud8DCtwQpCuZPJV9c5xyVZ3tTzPmFxjEZXa+iQbg0BnLIoW1CbgqXKmWQk6oYuesHjfYHQAZyXWxfa28p6+1vepNfvv5+6OsoKsaGQN5QQtqdB3W0lDetq18ihnUCXRg7p1Ohh3Ro7okfjRwzV+JE9GjdqmMaNHqGJTKIbrj9Rb3nLG7XxxhvKf+ehlzuBlD4JtIfLFY+r6PEQTBtusIE+8fGPa7edd9L6E8drGI5ATKSBKS5Bj5BxXANYs6pBUKMqh7ZE6qqkGjNsiCaOGY78UUzko/WBD7xX++2/j9raK3JHUion6uhol2jfjF0D3UM809bbbKVPfuIwjejpYpVPvyGnxDTZHqRhne0a3TNEY4cN1Wj4j+rp1gjqPmxIu4Z3txNv1/CuNg3tqKgH3NDOiro727Td1lvpEx/7qIZ0d8nM5DK9rkalA85jM5zsm7bbRu/aegu9Z9tN9PG9ttPhB+2hrxz6Wh35pn312Tfsq903HqdYXaVGvV/0XmEzLSeSc/TUpG8y0RjKk1wZdygZBpVZkHAUGXbQpI7+gxAxaVe9MlSLrUMzm22aVi9pVWW4+tmiNKCN0dRyOm4fDioe4xvMv8KeG6QkX/iN5o5qw0020hZbbaVtttteW2+/s3babc8Ctt9pN2221bY4hwkyFjzuXBYvXSlO93TZVVfrd7//vfbdf199+auH68ijvgp8TV/6ypH6yCc+DXxKHzrsk/rsF7+sI752lD5/+Jf1ng9+UHu/7kCtt8E2LDxLaja6hsi6DvvLFTeecvLJJ4+nTVsKFtr9d37osf8sxc0sbjxi2+uCOi9sVEOfcbSVYFhR3B0wIeBTBhRGdXc28j7AcCwjlg/k/XODyBBALzk4Z6QV8SCXLRVhjMpYdedMuIN0TtuCKMe34i/8YkQYOHUbKOe8Bd9WKKVpqpTJSzxOS6B1+a8bL/Io6BO8x18AZsWZb5VdQYNLRYNn55Ae+U/qRPKMNq5zsVqr1pWWyjKzongJ+XV2FK5HCImSUqoSR15FHB4FEe1T524gNpuKrDDFxNnWViYeCz5jxozW8GE9DKAquKaqtV51dXVoS1bS48aOk0/CDG9o4YZYM2OaLCIgWu9g3Vup1vflcH2c+48ZN1rf+vbXddHF5+vCC87Thb87R7+/6HxddOFvgXN10QW/0UXnn6OLzyd+/nm64Lfn6Pxzz9Z55/5S55/nIfDbXxP/jc4+++d6K84pwRG5daWVCivZjBqLusQXgDvMcjnVGw99g0455SSd95uzCznXXHGpLvvjRbriz3/QlZddUsBVV/xJg3D1OvFL/3SxLvnjhbr4wvP0u/PO0XnodtjHP4bTHaIGOxK3oybtXK1Vi0awYIUOormG4STe8Y636Y9/uEiX/vn3uhy4DJnXXHWprrjsj3Lel4Erwj/9Xh6//NI/tvS57FJddfmfwf1Bl1+Kblf+WVeQ/tlZP9Gb3nyoQirVcR7B+xyZQmA5JOpB7kRrauPmam0X+rRnd6bXDJN2H5pp166obbqDxpdN5TTKbUeUC/QvAeOGlMfZxbkjaSaZ6paraYGMcgFlxn9bCEpCWX3sRiYtreriJ6brlw9P0Qk33Kef3PygbpkyX/XSUMZYqogNB8ah1nkGx4OZye1WAaUB/+XD1x9wgPbeZx/tttdrtP0uu2obHIrDjrvsptfss78OOuTNevs7360DDnqDttp+e63iLquRSU8+NVnXXHu9evtIhDYFdMutrKTcLgaI2AKpxsKqxngocVG/weYbat8D9tEHPvZh/c/736P1NtpAffVqsqJ31VvPOusXp7/vfe/b8phjjgn6L37+I5Xfddf3rMCizre8/b7YLDWTpIzt5RhCTtgcaG4Mwp1JJGRomxrg6Vi+L/f6IKRwMfDMWmV8MjJjML5cgQJHHk4ihIChRkEKlpCvcyBY8zoN08uatBMHDLYlg2YmPphp5qUdWhh3QhFnkrMKa/Fp4f2bsisJSUINPfVCyCmTeB46eo6ZIdYkXvGQlBl1IO4DqJ8J38yYqNs0aDMAABAASURBVKUEJ2EhUSktCbGFIzQzlbhsLSMzJb+4vGZA5Owqcgaoy4vIdDAzuW6JBRbVNc3i6GQhF7uGpqVyoqTQK5cvQzfZeCO99c1v0q677qQddthW+++3tz72sQ/p3f/zDnV2VeiTTF5OOCEhL3rIDBALTSVvQ75F6PFB0MDjaY96mJRKitynBSao0aNHasMNJ2qTTTfURhuup/UmjNUEdhtjwY8ePVyjRvVoFDuR0aOGa9yYERrNbmTUyOFy/IgRPRwZDVNXd4eMlXKOLlmeF44k9/Y2gYkulhpHgDRtk9OYIUiVSqph7HjWY3eyPnI33mi9QpcNNpigDTacoA03mLgW0G3ixLEaO3akxqLHSHZIw3EMIwiHDR+KDNoRaUkSFJw5GKPFCOSC3X5Evu/8ysj1emyyyQbabPONtekmG2q99cZpwvgxGkP9vK4ejkGOyxvHkdyYMSOLvLHEvX3G44zHjRurceNHa8TIHtXqOC6LMtrUf0qwxi7ckpIyzp+smauD2XV41lQPdB0c7Q2trtQQh9oqdTWqKrv9UIUqY7VKuZUh1UruHBYy8S5s79DCtg4tBVanFTWwx6iA2ZiSXBJt2qR8n0lLKP/gvEW6d8kq3b54pa6fuUiXPfKULr37QT23ZIX6k0RZMBn2axQt3lh8i493m/9AhJkV9u5jIKcBW2CKIVFuqSIOM7OAFaIHurZ1dmvCBhtp51330J5776thI0crY1X7zOSp3Lfcw06D40AOFxWwZRxKI/eyzqekUAYHX9/VN7FttmLadqdtdcAhB2jLbbcSosrVRt9b7r77ziPuv//29bDhNarrv+wJ/6n6NrtGTO5uG/MLyzpm1au5AgaQ5+5I3MLQms6UEiImsZoxVkdywDj0dx7zAYhFBQYkwTpUcW38hRlMYJKZyZ91qNTCSJ7l/MRjGGARBxnRwwwDpVCCcScYOiSKTDaSyczzoEKeb+ObTNaijHjADsQk5+cg6MiChFziZq3yBY6Pyf+RbSQGXsgGYgTo0br3yRWg9Qkx44IaNrCOjFnwwQgzdXV1qpQwIJoNudpZ1mBVzKWncibJinzSooTa/TITIW1popXLlmrR/AXy/4lyvfUmqofJ0Lx7qEmZy9d3v/t/9NWvfkVHcSTwla8coTe/6Q3FZBUZskiVWYQySvRlZDVHTVpptR7EtCJ8GXCFzoMhqDXpYmKlDaJlyrnAjfDzMPddLQuOnCOn6HgHZMvB48iMgNNG6tkKMwm95PxcG5xK9JB0jkIR0OADzqOt9swViEQmwhzeGcdNQn6O/Xo6gnN9HKKa6NmgaEYdsG/0jejk4LpFJqBYyInK4Wc2IIgSniaQozweC9ocDZ1XxoTZKOIuN+bIQK6AiMwCqG8Repp4Tj9HZOcFTYtHDj7lPsCdCCekaiLDf4Td49RSgQVdyh1DhXuLUtNUwcGUSJdouhL6ltDdzSBnrPaHRLNxRA8tXao7lizW3xYvAZbrpsXLdNf8JXpm2Wr1sRMRM2yC5gGdDfnGwqZORZfhsGauXK6+cqoax3yrMM56R4cW9PdpEcePDTe4UknRGwR6f9e0Fnq4TXk7DeIsmFBVGQjmf7ncnLK5TDGgAfmRceC4CK7S3qkNNt5Eu+3xGg0dMVKC9tFHH9UjkybJd4sg1MTxhYSy5HkZB1lAJ3DwtFKqalbX6PHjtN/r9tdGm23CXU3ezkLvHTNnLnzbscceW9F/6RP+U/U+7HXHVIdtsPXVVu+80LL2asp5qSnQfyYRSiYBFoVB81EuNxY+L/uaWYE3M5kNgKzArftxTio+62KlFIN2fI5RmmFshJ4WPMxMhZESap3H2RiOq8JkmjDhelak3CCZl3EjzLmMznEmAVqncb5mJjMrkkW9iPPKyzuYmQLQwCEU5SB1fKRwRqO4bI97aMEKXhkyPB0sKAU8NDNVWD3lODkv36w3OJIapra2ipoM/OlTp2gBF8Fl9K+UgiqVkpoMho6ONm237dbafNONlXMZvHrlCnV3tusNhxykb37zGxrJ0ZbLqnE04o4iLSUc1XRqGOf2Jfh4e5Zo0xIDT0ygBaC7in70vmQ2kloY2sx55aQ8J5qgimvA0w40iBQE1SC0SglKFVhKu6w16ahIW7X4+uRJPnm5Mr4tiNB7PqrQ9nCBJep4cg14uxVg5AOeEZl0o0+EhFgHGS3egrMEk/8FvM1adIPlnOsA+EJqEAZQrSCiY6ZInRxyZLkezicXeehWtFOLWC2a6FRiEBXguzrDXmQQ4TzNjNaI8I0yI0596kzqOY4nUL+E0mwEFWn4yL1F0yrKrE25r/DBBeV8MyU4qH5YPr5imf42d5aunD9XVxG/fPFSXT1/sW5fuEKPL12l1UlJDeRnOP4sVJGZKWAKCWOkuxw0qruijqxXPaqqJ+tTR3212rFHJMqdWJoFxUYuySugFzxUh3Ea0UgteAGJKfd2g6hoWurqmkeDH/o06fS0VC7qOXbCBG2/ww5qa08U817d/8DtmjN7CrKqStImiy2Oc9E/KoMeoCyv8mjkmULifEoaO35D7ff6Q9XRNUx5KI1euGjRBy688MIJ+i99wj9L738Fn9dtdFh11IQdfpnmQ8+v9Vo1UZsixkJ/YyoRyIE4INqID0T/XwFGYgatiY5uEdrfKWlGjklmplKpJH9iHgVK0a2jQGCcrMBCSDylnHhkwBUJPgEHUeac3YpSkplp8InwcDCzQhen9QjJQRJl8MqQGT0D7CA90YKXX/yXy+gGL7N1eEMQgdYLf/IFH5arypj8c3YdEefSqNYKZ1DhYtpoWJ/bK+VUZSb8yAQwY9pUTePSPIN+2622VieXwO2VkuocX2zM8dGXv3x4637g3F/r3HPO1te//lWtzxFOZKJxfh2sIF3HUpIqMTc3U4oT8daPtFWTi/6WjoNfr4ODp3M+rVp4vUnw0hJeF2Ivfp3mhVmDfAYonZXDQPKFQYvWeQw0dZFdpEEU4WBZhETasgDiBSEfpynA6QvwWuaFrTgekuL1+FpWrfq8AFdQedmByP/HwMwKm3BeL1fE8WtggMD1WAOUdzQaETjWdSBFP0XAwDLfillXiYwTmyY+qCn5iYDloE05ORkQyY/sDsWEGrAj9guyJKqWSquws9VpUJVxUWPR0mhrVx8l+7jPayKgQZlmaMjvUSJ04vHd7xDwe603VvuOHKa9K0H7d5a1Z2dFe3I8uH5np8qUFa7LAkIoM/gakSKLUPQLHUIsFlGmejHHKyJf8BfjLRJGQifIyYEY3YPciVKKY7+6NthgA22x6Wbs4E3V3lV6/PFHVOtfRa1zGcKMcoVcpaKlBoBWYOdlVla9KfX1Zxo7bn3tvtc+Sjjyi5ZuN3zUqANjdI1c6n8X+Oj+j9b4oJ0+Pm/MsA1PSPKua2Kz0is6wxU2Ot+8w+k40VWWpxJbbo/rZR4z79oIpRSY4M0MKtIeepTUui8dquj8QZoZK/KKLDhhBNN6i1SM8t9B6WC77Vgzx5rM0JAJx8zkK3DPczAzD+Dd4mNmmB1x+BSOiFRBwMfTGRO+h1AUOTl0ZvBwBKHndXd1w48CpDOCKHgOkNAopCSyOJaqYPxBJQtaunixFs2bJ3cogXoVDok29R3CaM7Tt99uW/l5+sYbb1D8b47+X/u++U2HqpPB7xOLDCnAhPFjtcP222j99Seqm0v1EKSUCcDlZXkmv7xPcLRmphBSHBfDt0mbMZrMgpIkkRRQ0whfClQXfOuNJBxaqbVfx70QYFeMR9rBwyhX15EFtGg96vmEciCOeCcnKOipXhEWzQKPopHpU08XcfTxki1+sUDBquingtxjgzQUKuhg6jsCqB0DCIgFROjXzfO093dRDj5rQ5dSaInMVuiYNUBbu/w16XUisGmliAzycxkF4DAKHHXMAY8joGgDE/9gGmighP5CBHywtsKRNJXjOKLlEhCZjHMPQ1MRMOLGWErh3xmksSxIJrIAmihpfQdw67eXNKIslTgODNArJHBJVGNH0kDXQPnOek07DOnWezffVB/ffAt9nCOnw7bZWm/baktN7CirRAkkKjOYrvMaeg8mzYLMIHAYQHo9HQw5plweynXwgkAOubOg6rIkKEF3Q78tN98Sh5riUBPNmDpDy5euwL6bSskLZshBlgL/nAZQIkOm96ugSTixqLGL2nb7nTRk2EgOG9U2a9acAx966KF2yP7r3vCfrrGZxdftefhsyysnZ43SzcpKfnyqVmdjzPSysS+1wsmk+n892IogFzwLMjcghyLxgo9TycdRgTULhTNxAxnk4Rl+TBQx8gar9qFDhyqEoIK3eVlMBmJP+84kSRIvAs8Wb8c7UIAJNVXCaj1nsDmuRSGyDPoWL/G08mKBd1qX76v8YT3DyFWB9wJu9CRAiKEh6owu8G6vtGHYUs4xxZzZszVz5gziGfKDRo4aoVI55W6krqHd3frkJw/T1792pI7kfuPrX/uqPvbRD8svcyuVksSuIxaQK+dcO00CfBqIzEUmDqROW1jhRF1nmkP+52ieevJp/eH3f9RJJ52sc845T5MefhR5DYo4RaAsYaE8Ua2NR9rRwbEOHn8xOH4NQO/tICbEwbBwgAUequjAh74j1mqfIg8cZZx3Ua7AScwncl6BvME5xmlaIEhpXxE6J8o4vkgRb7VIkWrRgSjEEkJOhsuksKeBIg9UKw88PJyfQ54jh7xIG9GdcogUcFuI0fNagKCCr+PgQLIoJLn+g3SFAHkrt8BMZvQBvMVDcqDewmZMBs7b0NsiARMZc5mlajpg9/7jvO5MDIszZRJOJuJgcgpmIYGurDJlNu/s0sET1tN7NthEHxw/UR8aP17vHj9Gb544WnuM7tHw2FCJ8RQypGTtTNYA7YJRqSORKvV+9TRrmkBHTAzSGOT1oFSJ41R8EfTCPL2A/s4T1+AjuskrGqwIBC/B1+BnRfu0aJ0kY8wEryeLuwzIyerpGaGNN9xMgUXscu59FnJnmNA2PiYi92NibIj6KPqU1ZSIN7N+lSuGpBq7k5ogVzt3lBM3WF/NmIdVfat3njlzpvvZNXr+t0TCf4ui73/T6Q+p3n5cs7d8rzXbc8uDDKN18DpEvL6wDl5PvghCkR4cXG4cbjSMMnhgFUWuf8w/amGC8iJmChTw3UXCYCOqkOdKcgnbEnbHRJprSNcQpYXDMPmgjayoxOMGWGE7X0oTNDQZq3VfoZXI87KuQ5lJvlLxoSCZQSOBjkIwaRKmImzRZ3JTdGNNoS2nqbq7O2UGkSgH+GtGGoBLwSsE09Ch3apwnOU1a9Y4weYyulIyvW7/fbXJJhsysdfh1YWRNzVi1EhtvsVm2marzTWeY4TOjorKOJt6o06rRJVKqXImskgrNTiqKpXKtEeqjHp3cuTgx2i+Y0vZjbg+Z5zxE33hC4fr/Asu1v0PPqLLr7iK+EVawmrO81vg2rZigYAa8B14GeReO+/DF4OZUwIkEv9+AAAQAElEQVRMViZKuhEAzJtCRfS1FtBnBa6gCeCAgo58RBe0HgI+WTgInnJ6IAeijHqLh7Ke9vKEgzSReAGU81D0ek4ZMeFEcBqASLnBuCgjaF6AW4fO8Q5O52Fkhl4D8Clw64YD+c5/MC/3fJdhtI/LK/gbTRpkxDFL7FjKvSy0Hua5p6VIvstzGqOs27SHOXWrc3xZBWpANQmqpqZ+dqb9aUl9SZuqQMPvURgbKbYxCvlblCraHgezIzvUXVFhpyRq60qqjdrL6uAOsK1pKuNMEhaIJfYbKTIr2F7G8Ww55OpMTGm9qjYUDNzrdSCrvdymRq2hMsdKXkbobJxWWJ5IlI/omnv9wYv6BeaPRBFqI7dFkUZqBM+EipaIl6Png8N5tDPOjLBCPcohKGU8Gfy22WZbBdKw0qL58/EXdXGVojKOtFRAU62wQdhUZ9mUVVerg3HXlorTArTA6aw3YZzamCfaKm0TTjvttA30X/iE/yKd486b7PtYxcYfl/d23W/Ntqr5AFVTzO6KaVQTQ8stFi6GMaE8MNVFaojxRFbSAQOIxBk9DJyajM4upgRwQSYjLAaOGxwmFiylcGCARY0ZM0puzH2rVsj/BIf/pvD0Z57RwtlzlVrQ+DFj5ROnITigV8B4Tbl8lTO0Zwh3ECX1LluuqU88oecfe1zTCKdRPkFCO/cKIZSUJiU16xllAtgWdHcNVU9PD/i6Zkx9XnOnz9D056Zo4Zw5CoqqMKn3sCuyom5RBi4gl+WZzAw+rdf1GM8K8LOf/qR23XU7HXLwvvrkYe/XD4//rg772PvVyUCGofrcWaRBkQHrK80MhyPaSWoUF+80kVImgybbc8abVvc1NH3OfN14+z269sbbuIycpDkz5ykNZVogdTW0lIvVxx9/WhXqEiodyiyV/z8ai5et1CIuYCMq5ugcXHeqnVgQXSe5APL89dVgdEISZlGt/qQEuGAl+tPjiWq1XNVqVH8118pVNZzVSmQs1+IlKzR/4dIiXLBgsZYsW0V8pZYuW60li1e2AD2LNOGSpSvJX6ElS73sMuLLiniRxgEuWrxCCym3CFhYxJeRXr4OrNCiJSsptwroJb6acJUWLVq5BhZy6eywaNEKcK28VrpF43HXexAWLV6uApYs1aIly7R4KUC9PN/xCxehA7CYNl3MSnnRIugcSHs7L3oxzvMWLdGihcsAeC9crsWUX+Tt5CF6LV68SvPmLdVCaJZQ74Ucj65kDBjjzTupSp8tL5U1izEzp1TSjCRoKn3/XLNds7MeLah2qi9W6N1cWdJUvzIVx1Acc7bRj9asYnZ1WbMGREUm/wQnUMqlYHW4V2WWu/UpY3wbZXJ2CUnAxTDWUpXkDJui/9NyMVYtJrKspOCQl6VYUsTmcsZY7nQZ44ZwxtPP6slJk/T0Y4/q6Ucn6ZlHHtWzAzB50iOaPOlhTX74YT1L+PRDD2jypAf19KQH9NTD9+spwknAlGnPiSpj600998RjuuP6v+mmq67RHX+9DrhWt//1r7r12qt161+v1m3ALVddpTuu/atuvvIK3XjVpfrLn/6gW669Rs8+9piMHZlleYrP6sbM/+tehu6/X+djjjkmfOlLX6ocffTRZY//PY223fY99fe9+cRbgoYe0egtX5XVKr1B7Wo2MowQcwpG0RaYBZm14r6SFQaJVZEf5ViRZxidGARFmpzitUjQwuQYdORTYlWy0w47aKstt1C1b7Xmz5mt5yc/rRnTpql39WqNGD5Mu+6ysyIXjbBFTI6BGenoYrTFFpsXR0QZA2YJq5elC+Zr7szpWrF8icaOHa0d4N3Z1VEMhBCCMlZwQg/nNWLECL3jbW/XBuutpwZnxqtWLdfKFUtVq/aqZ2iX9ttvX41iF+ETbYqeEe2j/Gsy4kWUTys/0Rve8AYde+wxxRHWe979Lu288w4qpym0pkCb+WV/Qjqj3uIpMUGIqcDIM4Mj0MDaTaa+vqouvexyff/YE3T8CT/UD354sk488ST97Gdn0Sc59Tc4BI64qjidqsrt7dpsiy20/obsghjQTWDV6j7oIBt8Yw7nXKiswOqVZNEuXjdHRhB5HmUWwOfonBTt5erOnjVHd991jy699HL97Kc/16mnnKaTfniqTjj+hzoB/U4++TQdc8wJ8vDYY48Hf6KOc92PO1HHHw8c9wMdf9wJgMd/WJQ5Ftyx5B9LfhEnPI70cQXdCTru+BOgP17HF3wIjwPgfZzDMcfrmGOP07HHHKdjAA+P9fSLwPOOOeZYaFpw9NHH6OhB+P6xOvpl4Rh9/3svD9/77rH63nePLuC73z1G3yW+NjyaNLjvEA7Cd7+v733v6AKc1uMeOnz729/V0Ucfq+985/vA96D5vu665256K6hG/8zoq+umabN15fR5+tO0Bfrt49N11v2T9cuHpuiX9z2jC+57Ug/OWao+Jv86q/pl7DzmAyvZiTeY3CPjT5lk0W3FIShiYxnRnDEbCSNTdQHgpShhj7JMkUv6iMPJQ1VZ0q886VMe+oivVrPUq2baqyz1tOfXyWtQsqkSiyVjcfnsU0/psYcm6eF7H9BD9z+sBx54kMXQC+FBcA88+JBa8CDhg3rwIdIPPahHHn1Ej+Bo/PdwmG3Uv7pXjz74gB7HAT38wP2aBDwCPPrAA+AfLODxhx/S45R/4pFJeurRx/TMk09o8lNPas7sWcobTWXNpuV53kYl/59vjNGOOeaY9N3vfnfy/yR8FTPDqyjrJaIefPDB0tZb77DT6WeedtT5F5573uln/vjXP/3pmZ/7yEc+O8Eb6yUFQJhZXurf9aGSdR+dasQFeb1reTntVhBWx/bUbS2yYnEQuMCkQxlFY3IDPC5wUqpixUKYa93HjdVBYl5XwgDwv/66+Wab6YgvfVHf+da39d1vf0snHHu0fnjC8UwU32PSOkn77r9PwSRDhwxD9VVbUR4HtzkXht/+1jd0wnHH6pvf+HoBR3//e0xkRzNhHa93/c87VGKHEaB1sBCVwyPGKJ/Y/+dd79RPf/oTnXXWT/WjH51K+DOd9bOf6swzz2CAf1vDhg2XmVRny+9KUIw0CCIGSMQlNZu50rSkYIkSdkE+AYcijHKyYIG8QNwUQqqFrFpvu/VO3X/fw3rkkcfU11tVKa0o5lFNCjvu2muv1yLoSuWKSuxY3AE89fTTWt3bJyE3g3YeZ8k1djxpqaSh3O8MHzFKCe0aQhADR9FnDGj14ieil6JSjggRB22UGTqGREaYw7vG0caT3MWceeaZ+v73v6/TTz9DF1/8e9100826/fY7dO+992vSpEf14AMP6aGHHi7i9zJ5PPrIE6QfYTJ4XI8+CpB2uocffkwPc5fj8UnEH3nkcer+REFXxCd5GoDno5Mm6ZGHJ+nRSc5nUhH39COOH4BJLnMQwE16hfAw/P8xeKSox8PU5eGHiAP+l3EfYvJ8YfhI0Q4PMmEOwgO01QM+iQKOewj9B9N3332P5s9fqFKlXcbR0jL68alqQ4+zMJuUVXTPyqA7l0XdvTLq9mU13c3OaQaTZA59g36bw+LrztnTNYlF0dKkxMTfrjTxuTMUve89nhH1Hw/O6WNGAOM0wQocyIhuy1AxlvPQVI5DyUKdUwl3GFXlqYf9LSeCI2m6k3FnA00GvZKoBsdKbos77ryTDjjwQB38pjfrwDe8UQe+8U0A8SJcNz6AOxTcocQJD/LwkDfowEMPxe5LSkuphg8frk995jP6whe/qM87fOlL+sLhh+vzwBcBjzt88Ygj5Okvev4XvsDx7xf0Lsb4yJEjvQ2st3d1p0deDpgT7MMf/vT6w8eM+vSpPzntl9fffP0P9txzz/3jE0+UX47+1cTRO6+muLWyvFHe+96PHrBo8bzflNtKR7d3ld7b0dX2IQulk6+++k8/f8973rPhWuoXxsjL3v/mn04e2b75D7P+rourvaGaqFKsboJMTDVi5pFPelrzkOMzrtsiNML4o6cH8iN4B4uOKD6wyEjkKpfLijGX/zLeW9/yFn3h05/R5z/1KR32kQ9xVPQxve2tb1LAASSlIMaLQmqKlkmWK7LsamcVtusuO+lDH/qADv/S5/X5z35Kn/nUJ/ThD39Q/hNS48ePVcJqKceBZP7z+zgVVy1JTCXA/9Dfbrvsore++c364Ac+qHe+8516xzveob1f81qtz44lICVQwPXUwBNCItDoHWVG5cCbGU4g404kQ8cSgypq2cqVKjEpiFarVRsM7JJynM4N19+kY489USf/6Mc69oQf6Acn/UhXXPVXVYv/m8VUxnGsWLlKHHtzrFTVhhttoo023gSH1lS9kam3jwHNZO96LFm6tMAFztUzGjmEoLTEREI+/kJyRf0bW7F8nXQSAv3ABFBvyMv5rs3LuCNxXa6++modf/zxuuH6GzWLnUm1WtXKlSu0cOFC9fb2Kk1TtbW1q1RqK5ypWao0KatWa7LTy7R6db96gb7emvpZZXvo0Lu6Cr7KLnD1APS+IOxd1ac+L/e/QD8OeJBu1crV6Pavh1WrerUK/YpwpceBwdDzingfNIP4Vert7QN6XxZWrVrFLrRPfX196u/v11L6c9mSBepbsUDLVy3Qwv4lWpLVtKRa00qOPVesbmjpqqoWcS+3tN6r1fVVyvqXYzur1c9YmtzfpzsXztMc7HF12qa+fjoeD2Ki/xlHeQFi5EisCwvAbMh1CrfrVOI+JfrxWWxTlleAdqymSzHvkvJOhaxTiYd5uwSdYpny2JwFZdjUSnQbOXGchk8Yo1Hrj9Po9cZr1MSJ/29grI0agDFOO3qMxo4dK7fLJg7TbW3TTTfVxhtvLA8dNtlkE+4jN9HGm2xMuLE8b6ONNtIgeNph/PgJ8vEbY7Rms9mBsi/7fuQ9n9rw9jtvOSvLmz8qV9LDWIQeuWjugnMO+tSX3kfZ9GULvUrI8CrJeYmYN7zhbZus7u/7fDM0t29YX1toy6zSUQpt7W2dtOchN91w25fYxvmS5SVlHWFm8aB9vjxzm/HbfVvVjqOy/soUy9pyw+rIk5tdzHMmolwRW5VvpzFAD6ORa5lkTQyQkK8GH88inoArs9rwH22NTPI557SlJNHQ7i4m0pJgrDQYxzkN+Y5gyJAhanL8gzRKR2S6UMnMlOOIcibOhNZOmVDLrOLL5ZICRi2enGMtxCpH3wQZGFNRLlImUjaYT6iZvGyNoy6nNfOv5DzMTAhEj6pQibgIEWYw5zWhA7yyLDKpVuT1nztvATuKxarhQPyvBjufMgPd22oxZ+lXXnmVpkyZpv5aJsaJVqzoZaV/p+ZyP5IkZZxFTauYgCL8E+o0dtxYdXV3q+Q/OgxuybJlTOS0kwUt5szezOT18frlBkE0JoBcOQJz8sC88IUmp+45eue0S6FbDg/KiYXAEs7//Tjt178+Rwu5A6niREaNGqXtt99O7/qfd8p/3+VL7CQPZeW49dZba9y4cfL7J6MtAsHmUwAAEABJREFUpKC3v/0duuWW2/QEd1dP+9k5uxvf4Tz11DPycBAmT35OL4Vn9dRTTxdlvfz/Bk8++WRB+wx3ZJOfmayXwOTJehaY7PBy+a8UR30mPz1Zzzgg8xnSzzz9TCvt8QI3mO/hs3qa+rwcPPXkU7THk0W+x/3//nj22ef0/PPPa/Jk2mryU3riuaf0+DNP6MmnH9ez/qf2n3lak59+Uk+Be+LZJ/U4+Ccef0x333uv3vnRj0gc3U6v1XU1xzvTcUB5V7fykApjwAZyeidTil14V2dgPCRovVEyEAkX6CkQgIS7kVIzVblZVqlZAspK84oSdkpJVlYCLnChb5ydGbbTVm5nLCUKSSJjwOSM20gYDfsyqRW24jm4XFG5NACtOKwUGMNmpsA4dvvUOo8ZjNZJF1F0L8I1n6hIPd2+I7bu416Uy3MuedbQrI1ccskl5etuvvZ9q/pWHZy2h6727jauICtpb3//xs9PnfG93bbabe8Y48sIXsvjXxkL/0rmf4/3uznnmzFj+m71Zv9ueWim6206Vm96x4H6wEffoxGjR6qru6uSlJLXX3XVtdv8b42z666fWTEy3fmcerX07bxevj2rJ70Wg/eJgsUCPNFq40SyVN7aOdtjWY10Uyow4mn1tlFOisqaTRwH9BTIcCYWTAGo1WqUSJi8M6UpxpqUcCS5QhIohYG4QdCnEUMXxhushB4pAB0zc40B1Ghkik30kymxIBGaGcZFjDT1Jp7J5QXwzWamBmfN4skw/jxHXghqsGJ32jxvchlfIpcXfS2Yc5SZIdfkT8puYAqTwMW//6NOP+NMHc25/jGc///thhvlK3VvI5dRpX6LFi1WSEtab/2NNGHiRgpJRX2s3F2PnAk+LZUVQgpbdDfqTX1DSNAnU19/FX6N1twARS8r0Rx9DZ1EC/mbcRwY0M0C5aEp3paaRTTyNSMPXIazdd0ynGFKW0+dOk1nnfUL3XDDTcrI81XeYYcdpm9+8yh993vf0ec//1m9+z3v0gc+8H4d8eUv6bjjjuP463QczNe0yy67yH+7/9Zbb9XZZ/+KncIKjgmHce80SqNHj5b/UUpfbTqMGTMGnONfDKM1duyYwkG5k3La/w2cbgwr2TEu48UwarRGO4xEDg5x9P8V4O+O9QV8wL0g/RIZ1HXUS2Hc2PEaP3aCxoweC4zRyOEjNQZdR44crRFjJ2rEOACa4aOGa+yY4eT1aOSIIdAOo04jNBK5I0ePJ1xPG266pQ777Of1mtcdqIb/bS527A8uWag52Lbfv+T0tTFluyPxP8USiEeLfDEGjMZiVFJATihOkj1NiA0EZvcSu5sSYUJoPgdgkyZsCFiTZszlXP4bXsoaEadjSp0OHs7fcuGsYguIB+SFiIwBSGRyCITCpn0sOrTGYC4zY9xCrBc98Ilq4c1sIHMwlALjwMxk5BC0CImv89opp5zJQMzeElUrDx81RB9kvnzbu96stJwqi3HiwiVL3/CNT3yDrdk6pV7FaHgVZa0RNXv27HK10b9nbtmopC3XdrtsoZETuvW6Q16r/V6/t6rVfiVJMn7+/Dk7nn322T5jrSn7cpG3vOUzfZ2bjLsyWuc382b7FTFr42K+rMgEK9UVrKGEmkY6v7BMeixJ+FgTdhkgmbkR5Mx13o/EIfTO99WxeFIm1ibOxc/hzznnt/rxGT/VL375a91y6+3q7asKBpiKYRSJsJsiDCFxeyvSTY6Onn9+mq648mr95Cc/02/PPV8333qb5nL+3HBDVhCloY8yC5JMAQPz7bNP8DNmzNR111+vX/3q1/rteedzCThJtXpTDXQyM5mZ/PHdE6p7VCB5TW7sCbrUuF/47Xnn6U9/+rMeePgRPT99pp5i5X355VfKV5suL6KLy3N92zu6NWH9DXEoG6tc6RDzv9x5JYnXKy/4isdwKmitkCRyh9XLUUitVqU9IvXJB+gi7UBbwyRvNihFCao5oHaRjnxFqSLg4+04CGZBBsydu6C4E7mXuxCv14477qgvsgN5z3vfo+2231ZdXX5CkCuhf/PYUJoGTZgwVrvvvps+8tEPc3R3tA4+5EB0aujaa6/Rz39xlmbPnqksr8t1aUFOPKJBswh9cdECrZPWQI/ZS0KT9PJgMnulkFDm5cDb4+XwjouUQQd7JWCUeSn4JOkgHqP9JVMIyFCqhNV+iV1B2X/6iikWjUS2mOWLNilDU/b8ZknlnBTxDdbbUJ/9zOc0kWPRJcH05OoVerp/pVakiTLGWO4LBhYrCWM3YCsp9hDUhCV9Qjy6cwmmeiLVK+1axQJpVUeHlrW1aXF7u5Z3DdWy9i4tL3dqZaVbq8pd6i13AG3q52i2mqRqcPTZDEEN+OV4D+NYOqFfSpIKiMLBDEJcE3dHFtAvYRfhDs+dTwqvte1jMjOFJBShmWnt43Er8DnzkEOgHmbGuIgKIRSkjk+SJCsS63xuueWWZOnSJbuEUrphtdmn9TcdB4zV/7zvbers6aKFYjla2PnmB+8av06xVzXaqsGrKlLiLLu7d/XK/ZOykuFjh2j42C7laT9Q0+sP3kchMZ8Mhlpiu5133nnd+v/wvGfbY+tTDx71QPeozb4e60N/1N+bL01DKZbLJSa0BlCHS87kkqqUluUTphtBoDONHGHAHtDbYiQU8zHTn9JSykSTc6zTpx+ffgYXZ0fo1NPO0PkXXKzTTj9Th3/5SJ12xpla3VeFLiqHT4LB+iTok71hJDW29BdeeJH+53/eqyOOOFK//vVvddzxJ+rjH/8k6a8URyBRhnjvDmOiyws+rmNIEv312mv1iU99Ul86/AiddNJJwMn68Ec+osNYjS9YsFAWMEjKu0GWGJAGKyNtzhH5Xs8MJ7Fw8SI9+tiTxV1Jz3BfNY6FwrS6t1+z58xFbqYkBNXZWXg9zFIlaUUpx3IKiZoMAufjkzgjgKEo5VTU5WYM/JacTO0Mav9T8EkI8ryOznZ4NyHORXVwSg3l0Ofs9jqYBJjv0aP1xlZQfP9/1L0FoGVHlS78raq9j123dnf3uHuIC0SxYQYnCSHECCFGINZRHB4wMOggAYbBSYh1d9rdvftK93U9sveu/1v73NvpJM0MzDT539v3fKds1apVq1atkn37toiwXsQ6Hukd7/i78ctf/hKLFi1m8w4zZ87Chz/8YUyZMon0SicIghysB5ZHbBso47VkRUU5fL7PSqUSmD5jOk8wt+OCC89HHzctv/3tb/Dtf/0mctksxy/PPnEe02FxJOHRUYDx1xAhjpNK+/rXILHu3/zt/pt6OMIjQj7Em4vkzVlxTsS+O8b+PogIRP5rkGlME4f8MtzRe1SJFwkUrA3QFqFmzHKJy1nG04IhjS8GCebPnTELjz72GDJ1dTjAsVrUuA8HrKCLFY1NcayFYxGCQwYbFeDxmtkijBcUQFAgn6zx0Ma2VtY34ler1uB7i17F9xcvw/eIf1uyHD9Ysgo/XLQcP35lKX5C/OLlJfjVS4ux42ALsmzHcfFqbKzHjm3bsHHtWmzesA5bN27ENmI7rxV38Mpx55bN2MkrvZ1btjAsYtdA3uYt2LtrF3bs2EH7pHS8LdDN5po1a7B+3XpouGrVKqxYsQLLly8nljG+HMuWLYNed+5i3d3cIOo7KJ8Los51EYGIkJ9HI8TrnrtvvLuMc+qEXNBTLYkAw8fVojN7kL6zDJOmjUUhzBu2PxEuGE+77B+B17H4hyf+f2mUL5xGBi6oCyWPQcMruCPpRV/Qgeb2/Zg2ayIGD6ulUyj4+ULfqN27d5f8rVq4V+6NrlxwV8OsuRc+6kc1twV93qreriCX8BIOLoJH44t4VaSTwJckLNKIaOj0h3EThgMpRhh3BCB0hnplYzwfS2gELy9aQkcMdNLZ7qcTDziRDrS04Ec//jHWrlkLGx+tAXBBcXTe1pPYOF5l3W/wNFN/4CDEemjv6oYTywVLsHzFcvye1zV5XleJANYaeDE8WDqztrZW/PJXv8RG3nmH7IOxPt9V9MWL13MvvoC7Pv1pXtV0wdGYAaHT9CEisIQAiKFxorOziw65B/rCfQhf+I0dPxE+d3d5dqS5uYU6j+BTPn3/oItExMr6a8ARDKeyg1jyT1pYhh4nYyqZhBESsSdJ30Mc1Z2eOC4CBYQuQMgdZmVlZVynq7ONk3crGvbvRcIzKOGi49FjOPYLhx6Bg6EKyZcMlX9EXQaFEFt4inqe7zkKPJHpBHw3F9RRo0YgkbDwfMeTGvvmW/p7x3dZOWT44r2yvCIOhfwNBEnfx8jhI3D7rZ/EMfPnoaerA7/6xbP485/+QJksW9bWFRFto0Be0ZvB/pId6Cv/LogIRP4+0JjYFGWgTounI44D45p/ePq1+AD/It1r+f91Wvn9faC/4wbamYA6KCAyETiVEBhBYC0C2r4zDo75jnTwItJFoHUiyfLjFhyDt191FVxZGfZbhxd270JHKoNeUoQ8QQS0Lw4AF5CQ84r9p40YasIRkVjkjY9O2u3m5g78aWsTfvrqNvzwpY34wV/W43svbsR3XliPb7+0Ad99eRN+8PJm/OSlrfjlX1ZjD9+vRZynlsa9bvlKvPT7P2LpX17AEuIvz/0ZLz7/Z7zwF+L55/Cihn95rj9dzHuBaaX7C8t+97vf4qWXXkI+n6edh2hqagLfa/DG4iv4yle+gi9/+cv4yhe/iK888wy+8oUv4MuE5n+ReV/96ld5wv4+VnHB0c2ZpU7Ytdg+PM9GGj8c25vry8RgEo+DifLqJEqqDFp69qG1pxFnn38GjEdqcSOCIJzxwQ9+0DL1ln/MW92ic0727Gk4xfpeFUwBg0ZUQpIFBKYPrV2N8JIhjj/+WFBxQusbTsdW/vfKOHvIeT3Thsz+TiYx6MMmKP9Wvi990CLjEFkYMk7SCeZzISK+0xB4dBYA5QKnISDarAJ0GY7ONkknVcB23tN39tBZ0eCnz5mN4045BVNnz0Q13/HUNzRg4/r1MEarsxk6UGPBtKDAnfIGvpRsaW+H4QQZzPvlsePHY9iIYaisqkQvr4S2bt2C9vZWNu1iOIR0xjkiRCMXrfV8OZpMp1BeWYlBfJE8dMRwypWgE01h8dJXsX3nToj1ELkI1rJh5xA//aGIxMl2yhBw0SlwEgIWSfYlEhPXUzmULOLpA9A+RJRFwC86BM0hT3HUHxCyT077yOKA12xBIQ+91lK4KKQDcOCEgJAPqMUZ06ehJJNCSLp9e3bG/06HUmIU+6HvEETIKKbF6x52BxEXZmNMPD5//OOf4l8a0Lx3vetdmDt3DvMjRNy5qtMkGeITD+uArZdXcCFJl8ScKRaEfQ15TSEifN8xHB/72A0YMWIEmpub8c1vfgttbe0QEejkFtIW1aeyvRkkg4gcEYhbpL6OSogjPiJyxPxiprat5X8PijX/1m8nEUK+eIhMCKfNgGOk4DtCEE6hOqScIReYUBcVwjAtRmA5F971ztGbWrAAABAASURBVHdi3gnHo4cn3w0dXVje1IJ2P40O4yEvBpye5C0IxNKKPDgIbQtcl0IkeIVZ4QEnTh2Lfzn/eNx6zTm47brzcOt15+KO68/F7cQd157N/DNxyzVn4ebrzsKN774UU8eO5nIVwVKGaTwhnXrGmTjhlFNx3Mkn45RTT8OJp52KEzm3TzzlZBzPvBNOPAnHn0ScfBJOII4n4pB5p55+Ok488UQYGp7lvKvjSev666/HRz/yEXzgAx8AnTo+wJPz+5l+/4eZR3zoQx+K8/VE/b73vQ/z5s2D1nVFY4OI0Ka52uH1T19fV3UhyI+PqJnh4wYjURoi7zrQ3LkPs+ZORUVVKcQa09PXPW3X4l2J19f+r1JHr8wcPVZ/G6dt27YlGhoaptEhJDKlCTrIJI2yF+IHONC6D335dhx3/HxYGhQdwJjS0tIhfxvn11MtWPDBQtR82rKqyqmflbDy/kJv+mUXJHKO5pjgy2OOGIzYePCgZioSM3B0ppQNTqgaYxBwV2x8n3IV4NHoS8rKUFZVjWR5KVLlZUhyd+1o6i1tLbw64w4lKMLR2eZzffFi4icsDHfMEQwyZaXscxkHv4IvJWsR0BEebD6ABh71e/u6+L6oh465L0ZPTzcaG5u44GQpm0FVZQ2qaqpRU1uLyupqRDTAKHLQo7L2weMJyloPmqfGyWJ207FusW89vb3sF6D1DGkj9tGJRRAvLohpg7AAa40mEPAaiq4CkVY3zGPoeQI2AVaFxz4JHCIOlP6dr4MHmmAsuPhmUVZaAi1zXBFGcuE8+8wzMGLoYMyeOQNnnnka3vPO63HdtVejqqKci7mDkDf6H5W7P8qAXBziq4GlS5eRzmDixAk4lQ5AeatYQEQ6lTRk6LgYREgm0pShkn3x4dgBw52scwJDAR35iRiccMKJOPvsc5BMprB27TroYsXhB2CgNKpPQIAjAny03SOBDVAvOCpgM3/356/J/F/l/92NsALHRnXVDxNZOnrDzTMRrwSGI2OohX466t9Rsc7RJXKejB45GldddQ3qRoxGZ6oESxqasL6rB908Lec4TiEHl2dDFIzHzaYlH/Jl/SSvvjKFLCrCPozPWBw7pBInD6vEacPKccbQcpxNnDW4FGcNrcAZzD9lRDWOG16HuSMGYXhpGibeDIUYMXYMRk2ZgjEzZmL89BmYMHUqJjA9keEhTJvKa6Rp/ZjOUMH0VGLyZIwbNw6e50FEkEgkMJ4bxWncPOm7vLlz52LBggV8X3dsP46JfwFk1qxZGDVqFPQXPpLJZHyyEdojFQoRUViNH46KiqqhEdwQ8YFR44byJqeNOulBc8d+jBw3DBMmTwAnkuns7Zrdlmwrw/8Pj3mr29y3ZUtVb2/2uDAKpaqmAom0gf5mlfCaoqOnBS3tjZg3fy7q6gbRESRKfL+k7n8qo/57lItP/PT+OSMGfb2ifNi/iEt/PcyhIZ1OOX2R7GiUxujgFVtwDCJ6E4UYEzslQ0Nx4GTgZsHQIYnxkI9CZOl0U/ouQCKEnDKtrQexbesm7Nm1A7t3bsOuXduxb98u7N23G61tzejp60FS/2QJj/TqpEHNC9t2vArq6GzlEbk+pt25axt27NyC7Tu2or6+Abv37EYf7/MpGjyflkQ5PC+BdDrDxatABHBcUELuuJ1ON05CdWIiAoqNgccxopNY2DDnI4y1iDSidCT0uVA6pq01oFFCNBBBpH3loujYS8uFhGphm3l4pBvEU1mKfdI6+/btRWtrC6+XCqiprcLQIYM5fsIJZqnHAj7Adz6ff/AB3H/P3bj5phtwxeWXYsqkibDUAag/tgRQfn7xw55Q/JDyMMGFtYDnn38BvVwM9SQ0c+ZMTsTBlE0dOWnpnCLCWgHtircjDik6J99PwNGBiXgMDVkZuHhhsfC4mGYyGbztbRdAfzPJUUH6iwjt7Z2wVunJixsJUF9vhpDXW/PRMfn7Wyr2FUeU/UhlAy2oPv82CKtYkhpCTymOYwjOBXAM9ZQIYQ4Rp6lbq3rnWBS4eXK0K1YHOPZnnn42zjj9XL5ML0Ezr7de2LsbreQJL4UcbS+yBqFYcjUx+MXtIOC7CJLNwfK0m+SmJ8MTdynp00ynCzlkONEzXDRSnKdJLlx+lIflfE8aIMVTkVAAvSqlaIxRSsqki1dkLSJDaEg42kKoaQXTr5UbGEs6+gvLUESgYUg5ong+hrS1CBHLdQwdBdewWB7FtCLFOp7nkS7EwCMidiDeH9JXVs4gt1SyxEPd0EoYvjeJpBdNB/cgnUlg7vw5EPbN8wwvL4YO6q/3lgZs/i1tDwu//PQo3zfjaDdSPbgE8EOoMeaDAvTl6e592zBy9FDuwKtgjLXpTPrce++91/vfSDljxn35S09+ZPPUwSfekc+WvKNxX+evfGtcMuEjpKFFZC4i0AGPB5/GwOtetm9oZYDhT0RvUyjQcTsBCyCeRQ9f4HqeT0NwOMD3IQUabldPJ3qzPXyv0YHObqKni+9ZClCn29PbxZYAS+MJghCJZIJOzeNpJMuTTw7d3azb2wMeZxHQ+Ht4Ugk5SXN05hGlCzmBYIRlIUQEhotLSGNVOYxnYl7WqLQSl4sIBh4xFpmS0rhNYbeE/aHnhf5dMZ/vLVJJLlQk98kT7KNlO9neTjRyQdzPBS5P2ctLS5ApLSVvj2MVYDiv3Goqy1BRlkZJ2seg2gqcfOJxuO+eezBi5AiEnOQRJ1eKL9m1/8OHD0ZJSRqJhIdk0sLRsVirwqiUDDWAi7/BfrMrbEt48urlC83VcZuZTBLz5s2l6AHUYYU8AXrUp4hwkStA5TfGcrFNkz+5cCxF2DH2N6TOOdlQfFw8bhMnTsJk7jCF83ctX8Tu27ePcoewFqxP7XOxjwbAtvQ9kC6wMQby3xCGvII5EqI30P3NaTrBKEaAN9Zx5Pm/B/up/Mnrjfz/apq6cBw/IIT+1hVQ4MgV6IgLcFJARIBwCCCkAa/EIBH1alkeQTzAeA6lJSn88z+9FxOmTsHBMI8dnDtL9+9Dh/WgfyDSmiS4/4I4HbUIARMFTs5QQF4e7dfyJER+fBdqORcM2/LYjsdQWMkgApimEBAB8vpbhv22oPYgxrBcwLUuRghQYsfaimJcy7Q9DRUhq5ArIsRCxXYZcePhyNeQn8JaA+VtmCZLsGkwh7afgM4JpS3Q5+n7FmstSQQiRTBRZMyIfp5++unEgabGU6kvWzu4EjbhQG8JZ4Wb1G50djXjtFNPRCZTQh5eDV/mn6v13mqYt7rBrVv3nOg8l0Yqh/JBPoSLifiWzoEmR4M72NYAeCHvLY+HwKGpsXFSSUlJ9dGQc/bsd/eUuvlLDu7LvSjOR0TnIjrY9K6xYfQPpjoKYYOGEqgdOhppgS/ZNM/BwZCOnoYvbH0Y/vjG49VODursHQ09sg76K4fOAGQNNbQgn0PC90hNLhHgc5K4QNiCR2N0POoWEDtFyqOGBj7GArET4aQVEahhapljPGReRGh7efJWeWjLsFoJgAh5G4OAztwxDCl3aXk5vyPOLYcgl4NhmeEETvLEkeEJw7OW9IiNsjydhk8Hs3/bRrTu3wGT78XYkcPZhxTlTMJyMR06tA4f/MB78b73Xo3bPvFhfP7Bu/GpO27BrOlT2T7nA2VwArDBOE2twPM1g9KoYg3ghLkkcqoZYQYADbjWQxDRsUfUTR56FQhO8fETxmH4iCEAp5OmhcQhJzKchcBDGLi4vk9dkwhFnTEmLm474oIsFCHiLlZpysrKuZhMVUG4mHdj584dDDvQ2nYQHZ0taG1vOoRmxg+2NuEQWg7gYD8ONDdxl6hoRNOB19DY1IAYjQwb69HU8GY0Mk/RoCFp9LeMFJpuatrP+vUE6zcxbNyPpjgsxhs1HqOB7RZx4MB+bm6OgKZ9OEAcZLmi+WA9mpsbiEa0tB5AS8vBI6CZeUcAT9sH25vRzLC1tRntPJW2t7egjXktRDvRwbIuhu0dB9FKtLG8u70NHR2k62ymHhsZP4ja6lJcc+2VKB1cjQbk8XLDPmzjO80sMogCH14A+DTuiG6+4Dv02QAFLkQF2lAER9N3HD8Hy01RHxewPP1IxCGnlaFgaCk2QmAEobHkwFy1AbU30tBoaFWAcI7o4jMAkC9of4fD6XxzFIah5kf0C+BjOW+MtbEcRXujVGxDadT2jdDg2JBjH1w+4txPAHQO1vMZCNRviBGICBztMgwLKj45Fz9RlBycy/UOB3KoGVQKSZC/TVJuj3pto702c2NXi2FDh/NmIPQWLVk0/ZVXXkkXa79131T1W9fYj3/840RjU9NJ6ZKETfJ6q7wyA+NRRXTUhjtrsYgnSm+uEzNmToVQurBQGPvss89OPlpS6tVXdfWQbo61Dm3MlhHoQPMLCqFtqi2xeegOXlHgkVoNhWMOzbeQOFQ60Bn29fQionOOq5K5GohjqPygu2M41gAfxzYY8COElusOXo0oio0z6qcjGQVzhPTnaLkjL/2HVMK6GnesU+DRHiIwVJjKKKKlYFYxjCiHiKCc73gc6yd8Gzu1xvq9KHCnxnWB7xdKoPyFPPQu95hjj+FV1SCMGj4EkyaMxQVvOw/nn3suyvnOSKTI11AZ03mnfNEF5+P0007GsCGD4HMcqTQc+WHfqYfXyjV9OKXyVWielgm0DWsNpkyZjIrKchx33DGoqq6A8lDdUEvQh2piMFAXUBEV4DMQav+MDh5l0LqaTiaTGMGX8GUVpQg5kXfs3BpfN9Y37MeevTuxf/8e7K/fg33UVX3jXr7b2o96OvgGOnV1+IdjwMkf4GKiaOJComGMg404eLAJuui8EQdbmtDMRUlxkIuS4gBpDzazTpzW8DUMlB0gT124DhxswEC86UADGg7Uo/EwHEqTrlHBMs1r6O9HPfuynw78SKhv2IsjYX/9PtTzPV/9QL39e6m3PUVQX3tVb/v28Kp3d4y9+3dD8/bs3YU9vPrdw3R9wx40EI3kNW/ObLztogsRcjzqaZPPb9qMNj+DXmOhpwLHsfE4eEJbBgSReAi9BHptAt1J0iVL0CYJZNOV6PFL0JcgGGb9NLJeEjmb5GLiAzR2HWefvIJsL5DPIkHevEuGyRbejD7mHQbpLUAB5jneVOjJItR5T7kizsV8voAgCOINUI6bvCyvqPv6+tDX10v08co2h96eHvTy2jvHDV2S/VVbdHCI+ZCHb7nDxmvP8uWLp3JejTZ+hLpBtH0TwkkIGKWJsGPXFtTUlcdzxFhjAhce/+qrr9Zp6VuJWJy/t8H/Kf0LL7wwPJlOjM3melBaUcIrkzTAmS4iGoDqRHdfBxpb9mHshNHcgQ5HuiRdu2n9prlUuOAoPVVVVRH5FbnRCwlbjhcQ5jBJ/66ODOqvoM5Kafu4WAgdsS4iA4IIBIayW2uhRuNoCJomOyitxtXxkyEG+IOPctd24nzWN0ZgjWGSCwnTUAYk0jpG2wAQh9zNCBfC+hMtAAAQAElEQVQuw1QMpaFMuoiJ0pGHykLy+CPC3BjkSGOv5MmkkgtKnhOoje94dm3fhoRnQH3EfytIT0YRry8qKirwT//03vjfY9z/wP24//77mX4Ppk2bxolSKBp93AEgkUjEbelEUmhCpNiuxv8nkP5KjrtAdomLRyXe//5/wQc+8H6cddYZSPJ60LE/7BV1xmnYL4sGjl9snouQ6edSDEQkztNyxeF6SsZ/Aiai1gP05Xp5jVhAvtCHiPtYhxARd6IaOoZguggqnzVUBgXZYwCaVgykB0I9hSnUGDQ8BPLRk6Zji45xhVB8oV1AlRGD7YkCAHfkiOOajvprhAwVEbRt5TGAw9MR9RYSA6G2q/1TmiNhgMebwwgBrzEVEZ2x8hhAyHyFlr0OvLoNkEfAa8CAuo0YQseY84ZKxoUXXow5xx6HfCqDDa2teH7nTrRzbPJcA5TeaHcDgQQeoshDlqf7Tc0dWN7QgsX1rVi0uwUr9jFd340lDV1YVt+BZXtbsWJPM1bvbsDanfvQ0p2FE63vsHzxYvznT3+KX/3oR/jts7/Afz77S/zm56/Hf/7il/jtL36F3zBU/FZpGP9P0v/8Zz/H7373u3iBAGU7cOAAvvWtb+Lhhx/G448/jscXLsTCQ2CaefrvaxY++Ti++MUv4Cc//Qk3J40QEehG0BoDY4zL5rM6iNDHOScvvviXuZGJyjKlSVTUlPKdbQ4hdeckgJ802LF7K8DT1+Sp45DMJMSz/qif/vQXI/EWPzTZt6ZFR6UsX75qciaTGtpX6MEgHmkzpSlEXGHFAgGvVBzf5jkqZdferSirTGPUmJHgLsL3Ev4l//7v/06TOjqyRhHfbvCOdWAAOZbFAYXwB4RAn0iNXCOcfAEnQhgVON9CxAsFjYd9ip0Zv/hxNPAoDrWKQrmII2EYsZ5AJ4NC88Enrs82PM+DgkQQYWn8YR3SeNaDNVQQ5NCPIz/HegP0nk30lwGWCxuYwmGPMG7Id3BdHS656ALUVJSjJOWjrrYS06dNxk03fBTjxo0llbYZsR8ByspKMHHieAwbNgQV3LWXlmboxH0iCRGJ21H58zxV6g7L57uWJHdZxfbxv3hU2mJ15RVycQMiDBs+GKefcSpqaqvZfrH88G+VZQCAcFIKROR144HDHpFiOScv0pkUDK/fQnqEAneZGgY6bsYg1JD5QhsoIqQ4ASI6weAICLnYHClf8yIuAgNwh8WpcbYQxjwd6x8OrfffQds8HIfXPzxOw4XQAA+H5ikG5Pp7wgE+Wv9vgeNcj/r7HdNzPCRGhLT1UVFWgQsuvgKpuiHozJThL/v3Yw2vyXoSEQo+kI+JfdpeEhEXkvruAn65bDMe/9VLuOe7v8Y9//qfuP0b/4Hb/89/4Fbik9/6Ne749u9w97f+iPu++Ts88I2fYfWOJgReOYxXynH0kSKfJBIQGF6cOhS4SOf7ofEi2D5HKE871LSGAWl8vnPVeSsi8QZL4ym+Hyzle0UNU7wqTvcj0x+WVZWhsqoCJSUl/XMecV0aKvSJOK+drsSaIJ555plEY2Pju8U6v6ImA5sUgCcTRRBkEUkB7d3N6A26+N5pLErLMvD9ROpgy8FzWF2It+xj3qqWVCk7dmydypfSpcmURVUdrxUclaEOGhGHKoDQZzobYmf9FvglDuMnj0dJaYl0dnUdzx3AqKMlKx1fRIVz8hYXgPj0QAmgEAenoBPhIQCQ4nhkkiloLOBLM8cdqoB0HHhN69ir8XDZiHmyBPo4nho0VIeloZYj5gI+EWlDhNzVqVEaHr+1KIqdCSUxAhGB8k3SQIU1tE1mMeYQsR4gEBGooYZcYEK2Z32fjvS1YXXshxqqo56DIIfLLr0Yd9x+K+677zN49NHP4b5778bUqVO5u8rCUgZHp2mtwHAsIjpyofNJJDymDV9w5wHtNxHS6Vprabg+NBw42kfUCYn+dx/2SUQQURZHXTvqxOfVnGG3VD6VQaFxx/69EawKY9iBN0gxIJshI5Vf0yJsh32JqD/ppzdi4Hmeqg0aF5FYz/xGDE0XY/y2pBkA9cS6RjTtwVIGa6gfo3EPgMok1J6JAdbWPBGBIY1CxEC4c4Yz7CLzGTdxnoWwvvC7GBoYsYTHHEPYfhiAdICGCguQP5jnaNAObJ8n3GIoAPMRlyutMK0YiGuoODzvsDj5gDyLYJ+4F+GQQchTVGYNYzlYR99pKfQNtmPXCJIjdLRlQu0n6acwafI0nHz2edAX8G08oSzesw/1QYTeVCn6TAKR6oM8LK+ThpdncPrscbjqrLl47yWn4j0Xn4oPXnwGPnLlufjQFWcTZ+HDl59OnIwPXHEa3n/lBZgwajjCIA/9hZ/5xx+HM952Ps7gNe3ZF1yACy++GG+7+CIuaEXE8YsuwvlEHNfySy7GhZdcEuO888/HaaedBrUVy7mj18PXX389PvLhj+AjH/kI9N+baBjjox+J897//vfzlP1+fOCDH8QVV16BwUOGwHGuQwRqk77n65xX1UCfpUuXDktlMmMCnkIylSk4G8BLApZ1aF7QudEX9KLh4F6MHDsMQ4YORjqdMfX760986KGHypXHWwW1lLekrRdffFE7No/OKZMqEVQPKoPjChshgqEUXHkR0uGBi8nB9gb0FjpoWGPhJQxX25LUihWrT7j33ntJ+b8XN4rEidD4nUCEk4syOM4C2nTsQBjlIAlYCDAGRku5U7dWUKAhgvRWJSFhRKceMV1SVgo/kQDILwb4sJ6xFgnN5+BH5MV5ADAf4sDmWdMhmU7CT3oAaSMgzlcaR16pTBop7mpITWMLtLQfgMcrKksjznCXA63AiWtUmSg+IgJhO5oyGmdrFeWlmDd3NubOnokRPHWk2K6js04kfS4WOXh02ppWJ66srBFeZxSolxBUGRx5gDAsVGes0MkkIhSfjgtvfkRUDnlzwX+b4yg/4rb5zf6HcY2Q1yg6XpoHygJKFRe84Usgr8sZkFkzHQdbodeT+kctnf5qNREWQrS1daC9rZPoQmd7Fzr60dnezfRr6OroQbf+OXeGh8c1r7uzG10dvXF5t9IQnczrjMMeFMNeht180d9L9DDei67OXnR3Ed190L/m3KthVxa9XX3QeC+vaV4Lmc/yYnqgvA9dzCsiW4yzfpzuyfJlLaFhTw7dvQpN59DL9JGRpRw5YiA8PP5aXi959fE9QhE59PXm0deXQ6+GCsb7SJPjO4dcTJdHbx+RK6CX6OP7he6urtiGFhx/IiqHjUArx28z+7K8pRe7JYUGSaDTJhDS9hLcZJTkunHsiGqcPXEILps9CpfPHIar5ozClZNqcM2UOlw9eTDePpVl04fjwpmjce7s8RhdnUDSZAFbgPC9reWC5PG04Jem4XHTlkil8UbovyUrIsO5SGSINEHaDONqV44bObWrZDIJyznp+z50w6rpFPmmSKunlBTjmmc517VeX7YPIhJD8+AE2Z74DAYHJytXrjk2kU6l9MamXE8mKUEkEXTeiQgpHAKeTnbs34qaIeUYNZq3OVx8U8nk6N/+9k8TVaa3CuatamjDhg11kXFjCy5vy2tLkClPUCkhjDpoXjlZaxgH8wL05DvQ3NqI2bNn8GSSRnlFud23Z+98PqmjIa/lQIbcjeoVkg6K8oxDIxBjISwXGmzEgY1gaBRJlFdW0qmGnCC92LNnF/bs3Y19RDvvdn3fw3C+xI3rsS6rcZCVl6EjdKisqgTZxfEmvlg9QGjY3NqCiJOijA7e44ITcHECZdAFRdt1IkjQOJM8FenLvMYDTbxjrecL0Xq+zD0ICKifDPQ/1VH5DRuxbF9PO+ATcaET8tN8p7wJmh/0lAIErK4tqYN2pAaUTvmISJx2iKAQEYhIMY9OWETg+sM4k1+aZnDEj5YpjljITJEiP0b5cVSBtuWg36AEiqJcju2GECmWkDj+UBTmu/640hQRsUCkyFtEDtVTXjExv55//nn87GfPxk48n4vwg+//GB+/6ZO48aZbcNPHP4kbbvoEbrjxFnxMccPN+NgNH8eNDD/+8Vvx8ZtvIxh+4lbc/InbYnzik3fgE7f045O34+ZbmH/L7cy7HZ9keAvLbonD23Eo/MTt+AQRp2+9E7fcegc+edudxKdw+52fxh2fuvswfOaw+ED+4XmfwadI/6lPDYR3M12M38W8u+66B4q7P30vBvDpu+6D/q+Kn2ZeEfcwfS9RDAfo3hjedfe9OIRPky/r33UI9+GuT5Pv3Yr78WnSfobpz7Ctz9x1P+4m7mLZncy/8zP34FN3fwZ33f1pfIbh17/2NXR0dyNvPTTwCurXe1rwjRWb8N21W/GLrbuwMwSyiRR0HFO08TKXR2nQg0rJo4TXPaVRlukcyrjxK6VvyfBFeSYIkSRtgnMA3LRG3EDRHyEyYMxBN3lOaGlvgObHpycAxdlA2v64iMQy6JxT+xYR6AlL0yIS25uIkJof2qLKy1j8Uf8jItCNpubr3BPR+gVdUONK3/7Wt5MHDhxckEh6Ij5QNaic8gbxjAAM4AjWcbw9aGjZj0SJgf57E90YpZKp2m3btk358Y9/bOMG34IvSvMWtMIm6uvrx/ieGZdIWakdWgHjUykcfOoCQoenCo0hDgXXi/rm3Rg6ehBqB9VwN9XJdyrBrK9+9avDAZDb//oT6eDpgFoaLCDQNPhwzPkt8UCJcBxoYblcDscffzyqqyqhL691Edm8bi128gV2b08Pkokk3zmMYz3QmELoIgQrPGlFzBOMGT0G+htDhtpuPngA+/ftQ1NjAw42NfHuNIOK8nJkeAJJ+j6doiD+EUEUOej9ax11EEUR2js60FTPhYSLSm93F6hPVFdUoaqqCn7CglVYP2IocX+0L9pHxwmkPNUKRQT6CBPxqUWJmOH6Q0b7P64/fGuC17dP6bR5yqrBa2VF2d8skVL158Yk8Rf10J/HQHmoDnWiKzSuf0ZF/9+WtWvW8ZqPO1WOdyd3wgcOtqGpqQVNze1oOsB4PxoZKjSvgeX1jc3Y33AQ+/YfwN79Tdizr5GbDEJDxV7GD8Mu5u3+K9iztwG7FLvrsXPXfuzYsS/Gps07cCRs3LQdGzZuOyKORK95GzZux/oNW1lnK9at33IYNmPtur+GLYfRvT6+Zu0mrFm7Oa67hvXXrGOaWM381Ws34vVg2Rrmrd6E1auI1ZuxivEVazdg2dp1WMn5tFqxejU2rN/AU1oX1Inrn1bZFgBreHpZ0tGJV7kB297bhx6dt9w4eXTxSQnh80rWZ1z4Hoszj+8nQxguHpabNY/2bzl/hCGnIBJ+khcDBha8DQhoHCFgOfbqA4ST9HBonuf7MNbGEIaxYaltOkDL1ZbUpnSuaXrA1hznGLmTXCBGEJepHCJQeq0HznHNL3DR03o+r7l4Whbw2b9//2CSzurLZ+ElDTfgPsQHdLNo+68MKQIXwwAtHQfR3tmM6dOn8B1gRn8hKBNF+TldlUx40AAAEABJREFUXV0ZsnpLPuataOWGG25I1g6unUallIcoYNTYwdBjppOIuoxgjQ9dTVWZxgjEi7C/aQ98vhQ94YQF8HwDHg/Hbly3Vf8ipvxvZebRlCZktDmoAQgdqce7WHFqYBY6UOAiAm5bmOI7iQwmjB2Hd1x5JcaOHI3hdYMwuKaaYR3GjhiOKy+7FMfMmxfzssbC0AIEBgPQv9nzruuuxzFz5mLUsGEYOWwohg4ejKGDBmHuzJk449TTkbQ+CpwwXDXB+YAo7yA0vOqKClx+yaU44dhjWXcoxo4exfrDMH7saJx+yil47NGHUFVZjog7r4gTSg3TiIEaqohQBoE+jl/aJdV5EYDjj36z6LBPTHlYWqNHytP8o4uipMXveHAOsT88T8DhIii9Rg7RFCOiPRZAhF94/aM6UShvvZoLqDNOWNIa6G/4GG4KHMevAIc8bSGCRWj8Qwj64wFndEh7CVkecFLH8TjtcWJb6L3+a/DjtNJErBeRbgDapmOeMx4ceUd0biF5Rgy17cAZwCaOCOOlWJQ+IsRLQlj+Goppy928TaRh/DTLi3lKY/iuQsNivYH810I2QhmSxIAsxbhNZFik/FIxT+VTxOF5Gi9Ckkqfgcd6PuElSlm/FCZVAkkT1L9J+LCeB1/h+/BSSbi0hx4ToZNX4F1EN31IaB1nWAhdJLyQ8UiAUBBRZyEiFGweoc0h4oYVjhsFTirDxUTnicsHepsOLzBIOg9ewYI72HgOOdrEGxHyZKP1oiAgTQDHWw0FBPGcF5HYHtXa1L50DlproaHmKdTmtMx6Jt6QcnLDWuHCUIARA8/SBgCElFE83pMx/s2vfXOk9WV8rpCFvnxP8uQBE3DDGkDEwooPgWG3Q2R5Mmtq2YeJk8Zi1IiRSCSoTJjpX/nKVyrxFj3mrWiHV1ylhTA/P5IoVVqZQVl1huaQ5QQKOW3dIRHEGBqDg01YdHa1oqllL2bMnkaDiEBHWdPT2zvjb/n/TQ4xPELk3nvvNU1NBxMihqYgCOjAO1vb0d7chk6ii3flzU3NaNhbj+bGA2jYz2ulPfvReqAVx85fgPe9+z34p+uuw7+8851497XX4IPvex8uOOdc9HX3kEcL9NqrjXw6WtrRxbv2ro4uKM8JY8fin971Ltz44Q/h/f/0T/jQP/8zbrnpJrz7+ndi/JgxyHFHnCUKvFfO8l68kM3HsvXxuD996hR87EMfwqdu/SQ+/rEbcPstn8Ddd96BWz9+M8aNGo225mYcaGpEy8FmLkh59nrA0apudYgFIsJ8fpyGQr2D+ic0yWxgIDIQ4rBH8xSapaFC40cfKqZCOTsVPwbl1ZAyal4RxT7qJNW00v930MktIrSlqB8hunu6ORkdfDqtMRPGY+ykSRg3eQomTp+OsVOmYtyU6Rg3dTrGMxw/bTomaJyhxhUTp88k7QxMYjh5xixMnDkLkxgqJs6YyXzmaah5pJl0KE46TU/vD1k+WcH6U2bMxpRZszFt9hxMVpq4DnkdFk6cMSNud+L0N4eTYjrKpOFAfYYTY5B+GssYn8S6kzQk3ZSZbPNwxPFZKOYPhIfTUG7Kq21pnydrnLJPYr3JxKRZs6Dh5DivWH/irJmYyKvryQzjPrKfUwmNq2yTuLGaomD5ZPZvEsdg0rTZGD1hJpCshPPLEJg0/UECjguBDS08LiIeFxEvBDyGNjQ0ao80Cp8m4QF0vBCBgcLBiKPzBrZsXodlr76CVctewbrly7F+2UqGRaxfvhLrl6/qh8YVq7BhxeoY61euxhrFmjX9thTpaQCvvvoqXnn5Fbzyyit4+eWX478qzPfFePGFF+P4c3/6MxYvXoxFpNE/R9/W1sZFQW0ypFyUz/O4MEWWdm26enonhFFU6egta3jFZfyQe8081I7ZQfZTSOsYjbjvLaCpdR8ypQnMnTMbYRSKc9EYnrBH4y16zFvRTqYyU9fa1jwhcAUzdMRgJNIWjjsM3SFzfKkQQMRAdFcR0GvwaKq/56//Cnnq9El8J1ANP+GXEFOWL1/+Pz623XPPPYlvf/vfzvnzH597ezKREv1zCstfXYZvf+Nb+MZXvoavE1/70tfw1MKn8OjnH8WD9z2ARz/3ED53/2fxxKOP4fGHH8WvfvZz/OE/f4NlNJa//P4P+MW//wRf/+KX8PDnHoxpHn3oUYYLYzz6COMLH8fjrKv1//X/fAM///GP8fwf/oDf/8d/4hc//Ql++N3v4qnHHo/x5COP4YmHH8fTjz2BJx9ZyPYewdNPPI4vPf00fvBv3yX9T/Hb//gl/uPnP2e9f8PChx7C7TffjFsVXFju+8zdaGxshP5ml+6MoKrkTgd8RITf+mHIBYVFWkxD1DxCMxgUP6QpRt78zbpQvLnkf5zj3rQaHN6+ThiyZptK90ZSzeOsog25N4G1Dn1EJJ70mqGTcQDWeohA55JJYBhPfYNHjsCg4cMxiO/AqocORu3woagdNgw1RO2w4ahhWS1RTGv+UNQMHYZqnjarhg1hfCiqhg6JUT2U8WGDoWE182IMGYrqIUNINwTVLK9mG9XMq+nPq2G8WuMaDh4S09Ww7pswhHx5uq0+ErRujCFsg9A4eSht1aDBqBo8CFVso4jBqGY7VeRXTA9hGWkOK69i/SOVV5JPJdtXnpVaX/kwXTG4DpVsR8OKmGYQyplXwXjp0FpUDKljm4NQWzcYNXVDUT2I0LqsU1k3CBW1dahQPuRZPWQYampHwNgSiM2gENB3cBER+grRKyIahIGDWgw9CK+2QD9CGiRpFlx0uHsHT3qABWDIR6lDhFEeu/Zu45XfaqxbtxLr1hCrGOcCsU6xag3WaVqh6X6sXbEKA1i1YgU2b94MvaIKeGpp48KgC8h//Po/8Itf/AI//elP8aMf/Qjf+9738J3vfgff+c538L1/+zc8Sx/yy1/+En95/nm+d90X17dcRCL2RflYI4lnnnnGN56dmA/yZcZz1EEZxc9BTIGnNsM+Ip7nYphtBfmoD81t9Ty19OG0U0+CEYExZmgUBWPuvfdeUuEf/rwljYiTSemS9GRnnNQNHQSTYL9MSBOIICJMELGzkDjNVRX5IIt99XtQXVOJBcfMRU9Pj+GgzX7hj4tGscLf/aFCvV/84j+u7e3t+UYQhhfS2UoURgh4V9nS2ITGffvRxPvshr37sXvHTuzduQuNPJ3s27UX9Xv2YseWrdi/aw828n53z47tWPziC9i3cwc2r1+LjevWYev6jdiwZi22bNiETYxvWr8Ja1euoUGuZf46bFy9FpvXrsfOrduxdsVKbFm/Hru2bMM6GucW3hsr39XcCa2l8W7gHf5q3SXRoNeuWoXlS17Fi39+DiuXLmd765hegiXc9SxdshjLly3DEi5sK15dildfWYROvldx1KyIxDoSKQ4x5x2dpgE3cjHiwtd9kZ4T9HVZr0v8d+WvIz5KCeECwXbJjfOM38VPcQHRfg1A6dhrEkVcPLW8iCL9wDfHPI5GvD7USauJZDKBgPrK8Rokj5CTsoACr1Scx3Z9D3nqMc9onk0VCA3zzAuMoKCT2DjkFcLwv4H+G4VDYJuFfgSsNxCPQ4mQRxEFhvqLGW8C60aU50goUAdHQsB+hJRbEWnIdEA+BcVfqXMkPsU8h0N9ofwq76G08jsCchIix01klnNf24zHiAYZ6dw3HgLaao6DkmXdPo5ln8aDHPK5diDqgjFZeF4e1g8gXgEBkfdCZH3HF/IOvYkIeV6J69/vonTkEqj2aEMhAY6uQ64QohA5nkQzOOHk03H1de/GNe98L95x/fW46l2v4R3vvA4KzXv79dficFx53TVQXPfud+KKK65AZWUlEokERo4ciQ984IO4+9N34zOf+QweuP8BPMQN38KFC/HUU0/haW4Kv/D0M3iYeQ888AA+cfMnMJ/X4yLCRSDg4hAi4fvSl82ln3/+1Wrre9MSiWQiU5JEdW05nOQg1F0YFhhyAaWOjAg0L6LFtLUfQHdvG+YtmI3Skgxl8jN8nzq3u7s7TVX+wz80x394GzxGrpqe7cunqgaVompoCj2FjnhnAAdIZHjvaSHOhxMPns+jKZUU8CX8gY49KLg8Lr70cnhcuT1rhpVWlIylEQr+zuelX71U0riv8ep0iGHVYR9Gmh5MNL0Yl+/CmGwXxua6ML5A5DvicJLLYlzYg1H5HowNezEBvQw7MdH1YIQOWInFoI4WTEIfxhU6MTbfjcnIsW4PxvT1YhzrTQ7zmMC7zHHE+LALo9nO6HwLxgedGB92YHBHEya6LozMtmFMTnlnmd+LUdkOjI96yLMLY/u6MLqvA9O8HMbkm1HR1oAplH2y62F+J0bmSIs+jAq6MMqPUM7J5IlA73dVRao3DakzDY4S3FHiczgbDinlPjwHKLZDcwDoYOM0nV4c4rXntb6RnsSaVhyJTvMNr1OtteB7OJSXV8Aag/henJsLa2y8q9MFR9+nGcokIhDpB4ph3DqbY0pzIMJYP+IyfrGY34d9WB6xT/SdCAWIDMeJCXFsMzIQLuYRaYrO3pFnBH6BAh0RrIojgosbN24oAgyLiMSBTRDyunqxTJSlWFak/VviFJjyOYIcBIgQEpSZ7SOGxl+DiIvbBWkBx/5HRAiwnotCaF90bLgjh/UE1hp4vPJWwAMdbp5sQxi2ohtOISO+LkFIneWF5QN9gD4O2h6zydfEC1UkFtaz0DnRk8shXVKBRKYMXjIFo0gl4SeTTCdg0j6Q8eAyFj7jiZSHZMqHn0nCK0sTGYjv037KkecCBSM8NRX4/rISyaSP0kwJSkpLUEqU0LFnMhmk02mkFIkkEp5H+ViH72NUF9YD+Xvooe+wNpnZv3/XMD/hTyq4PpTW+siUe+y146LoYj1YWDZJTXBhDKgEob47eptwoL0elTXlOOa4Y7gB7/V6urtnbdmypQJvwWP+0W3oiaC7K3uBbxN+aaWFKe3hjqIHUGNxXDxCgeVkgvMBKqjAXaMYILK9aOzajo6+NsyYNRclJaWc8PnKvq6uOR/84AepepL/HZ8uLygLe3OzU9m8mVVThg+dOg8fWjAFNxwzjZiBm46ZjpuJj81j3oKp+NgxU3Db6fNxx9nz8cnT5+BW4rbTZjNvJu48cy5uOWk2PnXWHNxyipbNxe1nzMWtjN9OfOp0pk+eg7vOnIc7z5hPuvm4nfFPnzcPd7DsrnMYnjEbn2H6TubfdfZc0szDp8j3zrMYZ/mdZ89jO/NwxxnzoOW3k17xwLlzoXLcedZ83HXuAtx59jH45JnEecfjfafMRYWE1CIVQ6drIHDUp6OD5XxjZsTJiCKYMq4YZxQQTnoFBh5hZACMgsRaHoNxzTpKENF2yJNyvo4ls3jxC3YC9EMEMzilDBP8MI0iKJswPwZZaX8VxhjoIyIYSGvoeI2q+alUGhMmTIBvLPK9WbQdOEhbBEwQxfCdQKg/wwlrQgchDNVkmY7BtMc0byAhwYIAABAASURBVCGg+QrrAI96t6xrGTcaMu3RqD3KATpN3xoYK4SlQxD49NzJyEMC3FBFAucZykvGpGWE/cchqIo4tHE2u30o//C4IdFriPBa3MX90X6AsutQmlg+AyFTYb+E/X09WIf8hHiND9gjgFL2Q+MR4xq6Yns6HsrzEMK4DY/tGrbhEJAioNgFImA/AvCqgCHp2G/hS27hDtxxLCL6hwIR0eMKfYYRHxHDEEmGSeoiiZC6CyiBY38UkdIYC8cNaoEjkjM+T5IeqN24DX5BxCCgM1ebEG4uQHrhWGjvQgHyHhCfUuFiu/Ah0BOiLva6eDnaV4Ev7K1nEXIjIiI8ReVAgShXCLAfjv0HjZVFEBFYY1gcQRdPap15ltC8EAE3n56XYGsm09cXjeGJojrgZnrk+BogGcKJhbCPhnyc48LCeJxnuNBYhy5uNg927oMkHU4+7STKEEhnV/vYXC43Am/BY/7RbbS09A4JXDjeeIIqHtWSGY4SrTjeWYihclQCKoZ5jkqPM6gs3UW1dTWjpesgBg8ehLnz58NPJFJUzvTyvvKE1vp7UFdZWuOLqy6lcWVyDqMSlRglpRjBMR+LAsZGeYxGDmN5lBwveYwjJicFU2NYhkTKYArTkxlOyhhMLvEIi0klBhOZnsRdTBFMk2Z8AhjrRxjLo/g4DYkxA2DeGC/AGIZj6ZHGMBzAaBsgBl+4jVawbDRpiyiwTgEaH2nyGGVIG9MEGEbenk5AGhotCU4NuV9JIgLpj/+/Fbh+cV8LtV+OfXwjgAGaYhWSFCP93xGdmOFkFhFomEj4OP6441BWUoIUd4p7d+3E3h07kOvuRl9HJ8JsFkFvLwo9ih4UmJ/v7kKuq5s0Pcj39CDLdLarC3kiR2Q7B8q7ke8mDevklL6rB2FXH1xHH4L2LhR4HdnHky2iLB1QB3L5TuQK3cjx9Jrv60EQ5FHI5xHkAwTZfuRCRIr8QBghyr8Z9El4PRzpqJ0CXWmBjitg+AaAaagHDQ0XTdIwBCGRgYaGcUQWCmHcBAZCXpI3MAULOwDmW5bbwMKPvMPgw4Y+edkYwsVAYbgIxGDaHoZi3OcCy1KOW9oIEBSg4vRag65UCq08TXSkS9CVzKA3UYpeP4Mej/BL0eWXoZPxTj+N7oTmJdFjLPJ0+qCdJH1LXfbC43zxqCwX5LggFFBgusB2VO9hNqQNOAj7EXD1CLVPLsWX/gkkXAISL1zKDbE9OfIVEc47B809ZJ9cpNX2FHmOp4iB53NBBB/y4DcEhhDwKh9coErbOtrmBmFQEZkCRo0bDl3NyAYigoiLlPInGzjqRu3ccYMUSYD9B/YgF/Rh0mR911wLz3jDd23fNQNvwWP+0W38/ve/Oa2ioqwqsgXU1FXA0hC4deGiTdVT5xEFcMJvKgIKcKJQKmtpdMzfs38bskEnFiwovjfp6umeH5QEdaz2d30GDS8ZLDab6Cv0IjQJ9BUSyEkpkKpCgQZX4PE2pNG5VCmidBnCZAn6xEfWJpH3UsiTJp9Io0CaHPOyHvM1L8k8GnOB9IVDYQkKqQzycboY5mjoOaVnmPfS0LjmFfmWIJ9QZJiv0HLWY1t5IkveSptl+32JFPr8VFEu8tM2836SaR854yHo1wpVS9NGbHwiAgFi4P+xR/txuMg6QTWtoULjA9D0AIp5r6+tZYZOKQgCUCW0RYv58+fhkosugkdSXQh2bt2G1UuXYc3yZVi+eBGW8z3UikWvYCXfT61cshRr+G5qzbKlWEusXr40pltD2tVMa34cMr32DdCy9UuXY+PSFVj36jJsWbkSm5cvx4qXX4x/o2jJqy9j2aIXsV75v7IEq15ejDXLVmDV4iXEq1jFtlcvZtiPlQxVtiNB6VaTfs1hWL2kv+4ihovI841YvAyryHM162hbWjeOax6h7a3qr7OSMq0kvzXsx1rqajVlXst6azT96nKsXbKcelrOcAXWvlrEuiUM2Z+1fC+o7wnXLF+JdYxrWl9or4/fL67Ber4nVKzTkC+91xM71m9AvrMbYgz6aOObudC/3NSIP+5vwB/2NOBX67fj2RUb8YulxMrNjG/Gz1/dgJ++uh4/WbYOP1u+lmWr8B+Ll2IfF/YAlg7ZYQ3H4Lnf/wF/+M//wB9+9Uv87hc/x29+9TPiWcZ/hT89+x/Er/HrZ3+FP/7uj1jM/h/ge1WfC6/NRbQZA0OZBmwtnmMicd7hcfVlnvXgccOiV12gDRa4qIU8fYGEushEXBHUPhP0Q+mSzImFILjYS9pUWXkS5VWl0FOLLiZkDl1IXPzrziFEHLO4wHC2ixXUN+3t/+shEzBu/HjSSjLX13cKI//wD932P66NV155Jd3QsP/YQpRPJPiOoaImA94fUJccBCrXcSAiKsNJAG5zICjASQjOa0QCWF+we99mhKYHM+fOxIjRI5FMp0ev27zxWPwdz3Prflw6anzpBYlqZ7IlEda3N+PHK1fhh2vW4183bMM3t9bjW9sO4JvbGvANxZb9+Oqmeix8dXOMJ5ZtwdMrtuGZlTvwhZU78dV1e/CNdfvw9bX78A0F44fCOL6XZXuLZVrejyI980nzf9bth+IbDL++Zg8UX9NwbbHu1xl+ZfVuxFil4R58dfVefG3VPnyF6S+t3oWvsPyrq3bhyyt2QMMfrt2FHi6UjhqMeCqJjZQ7l4Hw71DZ/x2kagj9k0wnmkIF0/5oqNC8AWiaXY+Dv/altCISFyufQYPq8N53vwtXXXEZRg4ZjDLem4suNmEAyyuMJGkTpNb/T8OnLm2cT3st5CE8OQzAFArcoRPc1YL38cjzuuMQsnA5nkhy3eSURVToQ9jTAz9X4EmlF6YviJHsi1DSG6CsvQ+lnTn4Hd1I9hJ97QzbkOhphd+PZG8rUnyX9mZ0wutug9fVBtvZ/np0tDLdchiUpg2mswVoPwiwHO0aJ/TUxLR0tkI6214P5iudYxiRfgAh51XQehBBazPCtoMI+UI4aDuAGOQftjLe2oRCSxMChvmWRuRbGpBvbkD2YD2yB/ajrx8azx6oR/eBBnS1sR/Gg+FJo4mnsr/s2osfrFqHH23egR+s24FvvrwWX/3jUnzpd0vw5d8twld/vwRf++MyfPlPy/GlP61guIzpxfjm71/AlgNd6Il8QJI4eKAN+/bux4GmA+g50IiQbecpR3CwASAMFyw5eAB9jB9o2I3Vq5Zg6eK/oK1pL4S7/4inmb6+Pi5MURG0Vf3fQLM80WazOfTy6rS7uxcdPIW2t7ejnWhtb0NLSytNhPZBj6f2GgYRFwQPIhYBbayxqXFyd7ZrRjbokeGjhkBMAGcjiDXQBcX6HukdhJttcVxa2C74OBG097SgvmU3vITBxAkTkUpneNXVd/o999zDnTOJ/oGff+hi8vWvf73WWDMnQNaUVyeRKrUIXR4hFebEUDEOEbWpJxNdW6kWFKe5IY0DdYvm1n1obNmF4aMGobqumnnGbti86Zxvfeu51N+iF+ec9DbtmTdqQuWlI6fWIltewK6oE0to5C+2NeOPjQfxx/pW/GF/G36/twW/39OC3+1uxm92NOEPTP9hTzN+t+sAfr29Eb/e1oRfb23Erzbuxy837MMv1u/Gs+uItcS6XXiW4S80JH7B/F8w/Dkd/LPrdpJuFzT9LPOe1XoxmMdQ+Sh+uX4Pfsn0LzfsZbgHv9qwn+3sx6827iuC6f/YuBe/5kL3G8rwnxqnHL9h+e8278fzW/Yib32oUYmoJgXGmBgimsb/04+j9BxPfgMaKvoT/YGD/sSJv/Klday1rF/kobvFKZMn41N33olPf+pT+PAH3o+3X3E5Ljr/PJx/9pk494zTcf6ZZ+L8s87EheecjYvOPRcXnXceLnnb23DJhefj0gsvIN6Gyy5SXIjLL3wbLr/oAoaMx+FFuOzCYvyCC87GBReeg4suOh8XvO18nH/u+bj4okswbMiweINluUBVBAGGcI4MM1kMRQ9GRN0YGfViZEhoSIwiRjA9POjGCGIg1PiIQjdGsWxUQPqwByNZHuczHKnp16ELI0Mi6sEoYmTYzfZ6WL8HI5SOdZTf8EInRhAaKkYUujA86MJQ3hgMZX3FkP6wGO/EYNIMyncVQ9YdnO/EEIbDmDcs14Vh2Q4MzXViKBdEheYNZ/5wLrhFdCGmJZ9hlEt51eZ7UB0FKLEOyUwCJmH5cjyBBJ1ryksgbRNI+gmkvCTS/UjxOimV8JDmtVYF6cpZfxDP74O5GAxiW4Mow2DKVMewOtuJ6nw3auJ0N4awvDbXg7JCD1Iui/KSBFq46Cx++WUsfnkRFi1ajDVr1oDvJGJ7amttx5///Gf85Cc/wU9++jP8+7//GD/84Q/x/e//AN//AfH97+OHP/gRfv7zZ/Hss89C//1JT08v9N2dLhKOcxV8EilPjA/jpQS1wyq5mc4DxtFXAgHfOYkYtudowALNVJt2TKovzbo+bNm5Ll5Mpk2fBo/6gLEVGzdum03W/9CP+Udyf+mll4YZT8bmORAVg9Lw6f6NKoU9F6EihM1zaWUScALhSzYQDgInDoWQC4/0YePWlagbUoWJUydQSZ709HTP6+lZP/hvkX358uVeLmy+IFmeH3HB20/F+Hmj0VciaE0QmSQ60hnkyiuQLatAX2k5cqUVTFchX14ZI1dWyTyihPkl5ciyPMu8LGn7mO4rKSO//vw4r4I0lQRD0imfXFk1cmVVyA6AvLL96GXY149sqdYjmNZ4jukceWiYZ90YpdUokF9YWYuwohqoqoUQUXkVwkwpz3bUHYqGN6AfERmI/j8b6oThDHqT/JrvmBuHGjkU708wPfAREYgI9ESiebqohLxqMLx2qK2pwuWXX4abP34THv785/Doww/jMWLhow9j4SMP4/FHHiE0/kicfuzhz+PRhx7Cowwfe1jDh0n/EB4jrULrLGSdhY8+1E//EJ5Y+AgeeuhzePiRz+Oxxx7Fgw9+Dp/93AOYPnMGjAlRmfZw5pxJuPrkubhi/gRcdcxEXDNvMq6bS8ybguvnTcP186dCw3fOm4p3zp9GTMc7F2j4Gq6fPwXXzZ9Mukm4bh4xdyJ5TMS18xhq+g24fq7S9GMO6Uh/rYYKjbP8Wsp1eN41zL+qH1eTr+Iahtew3WvIXxGXz5mAq8nnHaS9hjyuY/w6xpVfMV5s91rmvxFafv3s8XjXnHG4bsZovHP2BLyL/b+Kfb+UMl28YCquWDADl8+ZhitnMz53Ki6nji6fw7imNT53Gi7VfOLtc6fgKvK7dvY4XD1tJN41awzeOXM0rp0xBldPH4+rZk0mn0m4ctYkvH3WxDi8jLo/bvwwVHgFgItKIml57VQNk0wCxiLg4m+MoWk6JBIJeLzKKqFPSCVT0EUilUrFvzxUWlqG8vJyooIoR01NDaoqq5BMJhDyygv0f2HgEJ8+uEKEyKOkMoHqQeWIJMfiEDRetulBYBExaegrDXwY5hgRviDD7gtXAAAQAElEQVRwpC1g5369zcli/KSxqKiqpByp8sUvvXzOsmXLfPwDH/MP5I3W9vYFxndVzhRQPaQU4EvkMAqQotJ5CwPHH4iBJz4k8HgHmUTIF10ed9e6UhvLBcX1Yvvu9TDpCJOmjoc+Cd+f+PWv/9txdCBG0/8VWrN/qsuFrWeaVI83dFQaV119HmbTWEJeSyTYztwFs/Hhmz+Ij9/2Mdz8qZuIG3DzHTfiE5+6EXc9cDs+//hn8eBj9+NzCx/AZx+9Fw8+eh8eeOw+3P/4fXjg8QfwwBOK+3H/QuLx+w+l43yW38+8+0l7H3H/wvtIR8R595PH/XjgsPh9LH8N9+P+x+7F/Y/cg/uIex6+B3c//Gnibnzm83fh08S9zNe40tzLMpXb8ngbcnUOVcFUjMhrzpPJ131ovzS+12X9/5LgOB6xXYquFhJPVCWI2C8Nj0QvIuBHi2OISBwqrVYTeS0tIjFPEYE6AuhDS6JvQDKVQGlpBjXVlairq8Hg2joMqqtFXW0NamurUFNTCf2fHquqqlBdVUGHUI7KynJUlJfSSZSgvKwUFWUaZlBOPgpNV5SXoaqihjRVRDWqqmpinkPq6mCiHJI8TVTzNHDGhBE4a0gVLhlei0uHV+PCUdU4b1QNzo9DjRdx7uHpkZpXE9OdN1rjVTh/tKIabxtTU8RYpsdU4bwxlW/Cucw7n+VvU4yrxgVjCQ3Hsz7jmn/BuCpcwLy3DaRJexHTF8aowYXjiXEKrVuLC8fW4qJxdcSgftTh4vGDcPFYhmPqcMnYQW/AQJ6GCi1nSP6XjC3DO8ZX4opRZbhidBkuH1uJK8fV4u1s77LRlbhqbA2uZN7bx1XisjHluILhOyjflezv5awfg325YnwV67HumApcO7Ea7xhbjqsnVOFqll1Lfu8aPxxXj65jegiupKyXThyMs8fX4gT2pdrLQqIuGD/E9GNnYuaJx2DB8cfhpJNOgi4YgKCsrAznn38+T5sXcWNyOa688kpcffXVuOaaa3DN1dfgqndcg8uZd8lll+K0007D9BkzYK3HzU0Ij6GI0B4FBZ5MnQ1QXp1Buswg4jVXEBVgPMNyw8UHbM3ynXwKCZTA0WeCC0xs5wmHA7zNaWrZj9GjR0KvcY1Y09Xde8LKlSur8Q98zD+K9wc+8IFM3mXniCfp0sokKmozEC+MJzHXEwiKDw8giAID31Ep2QSSyEBXaMurCD22GV/Q0LwHPdk2jJ84FmVV5UikUqUN+/ct+M1vfuPjv3judfeavnzH3MD0jYmkG56fRUWlQWW5j5Rv4hW9nJN/+MhhGMa7yZGjhmIE4xqOHDUMEyeNw5Sp4zFl2kRMnz4ZM2YQMydhOjFl5mRMnTmRmNSPiZii+TMmYMqMiZhMTGG8GLJsuuZNYlkRk2dMgv7rfg2nzZoCxdT+UOPaxvSZUzBj1lTM4M5rOndbs2ZPw0zFnOmYOXMapk2fgslTxmHytAmYTtlmzZ5OHdNRgst0RO1xQVFn+l+o6P/6IpVf8UZBNU8xkH8o7gZyXh8eKn99NlNC6KcYFr81rXh9KmKWggGcGq5G/kaI0CmEAs8kYcUDyMgwz2gTLoA1gElYtPb2oItj18l79K6CQ2sBaA2AlhjFdAt3sJqnGIhreAiFCC0K8mgmWng10hKSD9F2BLT357VTvna208q0hm2Md1DOjsigndCw0xl0cEfcGVl0UrbuPPAmUO5uylgE0EN+ik7mdzLeSZ7/FboiQRd3Op0xLDphwdmLHuejN/KQDQkNiVxokaUsA3l98NDHen3kkaWsOaVVxHV9lnnoZX4vefaQNgb70010UGd9zO+DQZZj08OxDXjSoNhwzEunSngSoYFx/KyXhNBHObZljc/xM1CfJWLheT6MLaY173BAAP1NriRPJAlewWmZkEfAd23kjIBzFhJx4YhQUZOCl3bwEyA/IOQpKKKMVhJISAlaGnvQtK+DvqwEnvEorUHkQvRxU7Jt7waUVicxjqcTGBEWznxq4VPjGf7DPuYfxXnrnq0jK6sqJuaCblPOF++ZCh+RBDCGTVJ5AgGoOIGBCRJo3N2NLWsawCtUGOexKIJzgCq2EPVhF1/Ejxk7AsNGDIfneRKEhVO/852f1OC/eC5fMy7dG3YeIzYsiZADJAsxOTDNe8gIBQ5aQHkiY+FoBBE8ymgJQUT58pyI/EDF0JMS5zgUHC9ISHYEz5ZQHEpzEoEQApzEccj4QPlAyFsNsBHEYT8fLVNehxA3ytZZLpzo4ISWSKgSietq/Rhaznwj1KX2hVV0F08NQkNhWoHDnohxZvP7/95PLB+NwPWjaBCvl1fLBvI1zmX09QR/S0qoT+oOtAGFMCzCgKb6JlDVMdfDy0TII87ll8bfCGYrI2tMbDuGnbOEU4Nie3mbwJ5chH9buhJPv7IMT76yBo/zxfITL63H4y9tOCKeeHkDnnh5I6Hha3hq0UYM4OlXNpDfejxNWsVTr2zE67GeaS1nPmmeIp5me09pPcafYvxJyvAUoeGTL5Oe8WdeWocvsexLpPkS04fjK5TpKy9vQhEb8eWX+sG2v/DKJnxh0X+NZyj/M6RVPL1oM3WxDU8sKuKpV7bhmZe34osvbYnxzMub8cwrW/DMoq14ZvEWfEGxiCHrPfPKZii+wDpfeHkbNHx60XY8tXg7nlCQp8ZjLGPeis34woqtLGcfl6wjv7X46str8Os1O9BcSKEnR68epeFFKVhugPVGRf2Z2l3EcdQrUw3F0BY4tjrkAv7EtqApwBoTR8IwQBDmETE0pBcR5qv1cmaaCDbpUFVXBpMIkS/o8uZAMta3MJGHrtY8lrNPi55bj962LKJ8yJYM+AXeBmHn3k3kwVMUr+4SKQ+ZkpLy5oPNswGlwD/kYetHn++9995rdu/ZPaIQ9A3NF3IycvRQKiWijwypEA/q2PQfQcUeMQKVk8SGFfuw/KUd2L+jBZY7jdhBUMF6XZMsSWDb7o0oqU5h3ISxdJBUtrXDlix5cfp/Jf2+7j21YZSbZYxLEuDywVdvOe46CkSEHI+NBcvFAwaOiNheRF1HZEr/BTUKEYEYqokfiJDOQb/VGQjpNFQMxC1L/xrYcxypTOsfEWzNUGpLYSzjVtsjhG0wu8jLeLCUSxxg6d2sKKVjMTOUjvRq7HFKv5j+33ze6roDIg/0IQ6pj9eF1E0xDZqNOwSVlaphMMCF0SN+hLmHg8k3fKhavBGI9ftaPREDIQ7PF1ZSxHkeOAdUxigeMwoKUxAMqxsBFyaRRQk2t2axrKkXyw7msao5xOoDPVhzsKMfnYfCtQc1fji6WFZMr27qwCEc6CSPrn4wfnhZHNe8TqxqasfqxiLWaH7jAI92rOkvW8P8w7GW9GsbWM5wzWHh6vpWrKpvw+p+aHzV/lasVNS3YMX+N2Ml6xwR+5uxYl8zlhFL9x+EYvn+A8x7DZpeXn8Ay0m7klhRfxDLGg5gBelX1TdjNeuu3tuCVftamNeM5cwrooV12pjXhqX7DuLVfayzrxWL9hzEi5T9L+z3iw2t2NSRRWvBIrJJGL7EBwocvwIXgjws/YfanoiFcOwTvMKP9B0IHIAB29CYQERg6XMizk7LegqBPvotLAdE64mDl7Ioq07DSR6sBo/0Aj60pyg06GopoHl/DzoPUo6cQbyBZZO0fngJg5bOehxs3wfdgKdL0jDWprJBfv7NN9+cIpd/yIdSHH2+u3btSiAozM7ls4OSKYPBw2o5CA7GxOrgxGGv4WDpQcMghAt4jG3JI+gBOlt4cogkVh5Aemu4wQ/Q3NaIkPeGs2fPhio3lbTVUb73mKeffjqJIzwcYOnobBsJF02GwMIZ0AcBbFO012TiWAB9nE5wRpQgBjjcESiiZjKMUKwSsYaL84QUZBWnhYTFuJaDeYQ41hGwGQgQA6zDbID0ioG48o7BjDgkRawqntzAOohdUMhYCCcRQRlIyG9Shoi4KwIcrG8hViAizOeHgQi/GC12XiP/74FjGQut4eGIM/kVD5l+UQdMsqtFzWj8b4fqSfHmGkfmprR/D8DxixDplZbnEHEcA46r4a7x9FPPwNRJ01FeWYOuXIS8n0LA6zAEglIIKmgHFexfhYaImHYoZ7yc4x7DhSjnG9k4ztNseT8qKPhrcHG9Snbv9RBUso2qCKgkvaICQFV/vJLOq4qIaZTuUByo9iRGDW2u2rOoMgZVnK9VjNewLI4zr1phLaqJWuuh1nszarTsCPl1zB9EfnW07TpeTdfRUdby6rsuhkFNgjIomK5mWQ2ddTXjVQmwDGxLMIgyKZ9altURteRTo7Ssp2nlX8P5pHXr/ARqSypg/AxyyRLoP3hsp39yiQzSpeUYOmIIkmnAegVAAjiOSxiGQL/t6U1AyLEwhnNRDPOF6P+IIOK4Fa+0qGDGDee8pUwiEvNyyod5ZeUZlJQl4azy5uCwHZBeGFre3AR9BkGfRa7ToLcjD4kMxKmPIwcJ0ZvvRH3TbkyYPA51g+vgewlTWlI6adWqVaP6pTnqgTnqHMnw+eefT/Vk+6bmg3xp3ZAaVFSWwCFgieNq7iBUctwwFZPg8T7XF8WKsTxCRlmhv7cw/AERcWKAE6+7tx2trU1YsGABCoU8FxtJep6dsmnTpioc4Xn++fus5xWmOQlGRuIQQQAq2+OqnuIRtYQvrUpyAo1b1rcGbM0VIYBVGTlJDQ1DFIzrQJqYk4MTRcTwcDCP5Y5OImIYxWGIiIPrEJHWERq+HgPlkdIQmo60Lo01ZBjwLkyv5AqMKwKGIXWi+QHpA/JXRNbBcuK5fsOEY8f6PyLSH9PgsAJN/l+Bw+U7TKDDRNWJq4joRJVC4woOrCZBcyIOqxDnFvkW6eKMN31xKPEahHEaAy0B/RCGQtvBYRAnpMMh4LBHKMIABrKFjsBEAU+PeagDCTgfAp5UAjriMy44F1//1lfxta8/gwXzJsPmWzEsncdVx07DTSfOxm3H9eNYhjFm4bZjZ+FWvgi+9ZiZuPUYpg9hJm4njeK2/jyN337sHObPxW3HzI7rav3DcTvbGMBAvqY1rm0MhAPxT5LfjQtm4mMLpvdjGm44ZjoxAzcOhMdOx43HMX0swfDjx8zAzQtm4Jb5R8Yn5k1HEYeXz8It81hvPnmxrRsWTMONGh7DUPkSN8SYxfyZuIn8YzmOIz31cxNlvJk6+gRl+gTjNzJ+A+M3ks9N5BmD7d5CfX6CZR/iu8nrZk7FNL5LLeVG10bAqKEjcM5Z5+Hss8/F7Hlz0B1kcbCzGb19fThw4AB9WghHP+Vol02NjWhra8O+ffXYu3cvdu/eDW6uY+zcuRN79uxBU1MTmg40xmF3Tw8i+hf1acbQ7mLDCVFdXQY/SRszEa/DAugvDDnakIjQN/koZAHw9QACiyhwSCeSMNaCpodcPkvr6uO75n0oqyrh+9UZ6OzsFPrLkbu3b5/onBoy6x/lD6U/yhzJLghsRVKW4AAAEABJREFUbaEgJ4lvvUGjy4FUHzuXQ+wk6QSpDVJ5HACfLt4iyAXQP1/gIgcxHkR85PmygvOVbjOCl/SQzbejsWUnRo2rwxS+eO7q7bW5XG7qc7///TAHpSTL131cCiY7hyjhXQI4g8nXEgLfgmEBfPMCiwgGAjYNx9CJMAQ0w7DEEobJOJPeirYFJ5oBhq4Y4bdTI+gP/7tyksWfgTqaGIi/FjJXDEQRyyCIF7g4XRSA4kBogErjRBCxE76xoAYBxgHKp/pW2QjHvoILD5gnABdtIQwAAQhxgsOheQrHMg3fBLVJ1gFfXiIOyUvzlF7DGEIxLMA8AcvR/1AGNgZmI+ZP+eMEaeIooEUAvx30IR8NmBYhv7g+R0NYqopggFgGNgcmYvL4SzOgMdFvFsVsSFNsxzFGPvwu5us3iWKeDDVf4xoeBh0nHqCLOcImFFqVYZzPULt/KM7GDMfOwNLuldBBeJwtBHkk+eJ99JjhOPb4+SgrK4HqpYL1R9KTTWLZZO6kJ3MXPZnOZQp33VP9CIppPjA9QTBvBuMzfIcZPPVMI6YSk5melIgwwQ8wMRHE4QQ/xASWTbQCxWQLTOYmZLJnMImY4gHTKNc0OrFJ2j5pNW8K85RuEtPFEJjIk8SkhI/JlHFKwkHbm8wTySTapGKK8TCFfZ5iBJM49JO0HRtgsgnYdvg6KN/XEGICN1BFBJjghRjvRZjA+pMo78QYjvUVwATyVtqJtO0JxESmiwhJk2d5AePIbxx3+RPY9iTJY7LkMIkYb/MYS/7jaEcTOZqT2O9xaQ/l9DwSFmiNQHPLQSxeugQvvPIyXnjpRfz5D3/Gc3/8C/7wu9/jlVdeQi8XBGHdpoYG/OiHP8AXnvkCvvaVr+DLX/oSeHOCJ598ingSTz/1VBx++Utfxje+/i384pe/xJatm7hY0AZS9IfkIeLxBibiFVcCwjELkQcnNGg2+oFwweJiwDxD+zGUjyE3xnz9Av0VY7GUhPZRMN2ob93NBa8Hp51xKhzHL5vNVyVSmcn33XdfAv+Ax/wDeGLIkNpJuUI4ynJQBo2uQJjopTJCRBxox8GKhPtpEYhLQPh+ROj4wiCgKiPo5IKqTSxCPQ2IQT7PhQh9qG/cRpo+KudkRGIkdDLaiTflqndc9aZ+mGqvLkTvbNg+E0V99K0RHNt0wgHwPS5uBUQ0bGccHNtznPkRDPlysrPtiLRQ50MIyxjQvIDICGkE0IzDIE4wgDeWaXqg7PBQ8wdweP5rcQvQUZvIkLeJHb9l3GqeyhQBhrIK+yQwsZPyjGUMpCcE8aNHawcSC6EhnaM4kEZigLIjTg/kFUMwn9lwEAKUBTG9MB8K5jMHiEMDxKGQjihKAQyESk/EdSMHnRBOHKVxcKSKoX1iRMiHRcwtsirSMskxYTEjzOcuDayt0LyYC/mDdSkkv8lFmNK+AnHacSIa8mA2Iu4GHXkwqYVQWWJetDnAwZBIIayvaYVqQRHna8UYWjIAR5tVSRwlUwBsGBF5OdI6JxTNktiSv+EpBUjTeXjMZyaCQoFX34JQkjChoIJ6KmFeMkbIU3SAkqBA5IgsMkGOyDOueQxJp/SlGnKRKglZHmWR5txJcw5kHONRDukwQIYo5fVMCeddKZHiLjzFvHTMP48M66fpTDPUk6KEac1L0WultV22kSqESBUCpFlWUshRDq0XoLQQoYwvhEvzEeMhSsm3jCjlNXVG66sMMfJIR4TLQ/kq0loet1tACeukXQFJ1ksznonlDZFhPM14hjJk2H6pQttjP7ROSVwWoVTloqzpMBvzSLA8xf6VUtayfB/K+GJb+5SkXaQjQaYAlFEen/mcTYg4LiENsaK2ApNnTsHkWdMwecpUzJo2G/Omzce8WXMxeeIk+LwNEAD6K+Rnnn46Lr/8Ulx00YUxLrn4Ylxy8aW4+BLisotx6aUX44rLL8clF12Os846B+MnjofYCAH7GPs740HfE5dWeBBDgZQxF2idGohAczL8cnCsE0mB6ZBrjQ+PvtTAIKC+Iks7Mj1o7W5Ec/cBTJgyHjV1NeD1W0lnR8+0b37zp2n8Ax5KdnS5OufMgdbWc9Il6XQ6k0RZRRoRFQUex0zkwdeZiBwcDdvRpesECzlxuDBwCjsKE7Isgken6FkPsbOksw848dt72tDW3YJTudKWlJaDp5fqSLwZ3d3dHiu+7pMreBPz+WCc5/vwE0lARyPygSiJyKXYBvXpMqzDPH6LCEA4MAQf5/jFTxz052kQw0GvzkCJB6DOaAADeRo60ijtQNnhoZYP4PD8gTg4OlwnEIcCUDzEaaFQAyB/B7UyByMCYw1CdYikB+j62A8RMoI+cSagAUEurA1AFxnyK7YbwTGt0Pw4JH/H8mI/iuVaBuYjzo8QsU4RlKY/zliRNyLoE7fHdikoKKpW5QIJqHSKQzSMOOiP1lMwgx/nwHEDSwi2G/NDsY8R+xnLyFJHJ0A7ZA2lI+IY2+GOOaLj0Hqe50GkWFeLY3ojUP2BodKFYQihPoVpEYnpwUdpXeQovwJQ2Q3LrTGwxsDIAATFH5AWUDU4h7gPFJNlYP9Zm7xYCkN7t55P+wREKBudHw8SSIYWCV7NJguGIeNMe5xPHueNDQEOeFxHNUWfCMe6gIDDEC9KXiDQK34/DyT4IjnJuj7hkafHa1/DSrqhA+cYxQO0rsIJotAR5My2QDqSkK+AOzQ6sAJ8Oq8E3wP57JjPfigS1HGChB7t0HKOG9IIHR9AYdmA07nIqMoNsiZpLD9ZQOOvIYKhjD7764f0HSorZTKsb7ihspRHF12jG1IY9tvC0W+ElD1yqmfqgEy1fx7l90mXiBJIhAkuXj7hFXVLvqpHo7QKgBwA/WJzKCktwaSpkzCRGD+JIReQcePGYSyhodqM4YKSTKUwbcYMzJkzB/OPWYATTjwBp51+Ks4463SccebpjJ+Ok08+GXPnzsWMmdOhf7G6vJw3N2xE2JiIgQCgCaGMbQrljThe6j4NLG3LY6cEEalCbswhDmKAgJ2NWCkSgaPy4psX48enkoPNezFkeCVm8/oOiGwQhfMKhWY2yoaO8oeiHF2O3/nOd6paW5rnBGFOhg0fhNKKEvjWh48MLB05OKhC47NeAM+LAGojiAwNVkURppkHdps7pZA7Hwl9gM7f85Jo72xD/cE9mDx9MqbMmA4/lbYNTY3HtbS0lLLKoY9zzmtp6Tjd80x1xHvqvt5eiAjBNtgeaHgRX2KFXNMdBwmiVSMGjqmIYaQZMRy/OdY0VMCxhMn/0cf9D2qxH5xknMw0cI0fAiVRUUQEKps6UrABunSEbCdioWOZsJ9wBiLsoCOgAJ+BUKMRv1hZGRwCsxhX5xzHjEMcF4Y4jFa0bj9eF1ca5hsChJaxrshh7SpjQkQgUgSTVLLWZSCI+x73mW1qCIYxDb9cxL4zjJjHFsAk6TVFGTm5WHTEj+Gk0wJdLIIggIbWWtoiJyoLQjpCzVM6ywVHaXRR0TyVQURieaFjErI9tuUIEAOhlilcXE7ptIz0wraVrxgBmeDQw6SmxVjk83lQBCaFMvlwSss+Gjpmw1MCYp6AoaV64sNSdrGcP0RI2hiWOjSIeRgIbEhqOiYbg2mKxBrkHSEwEVhMqpC+KULEtljMUAjyEcBQbm3HWAtrPBhhSD34nMe6YMCRhwI6Qg4Bx1vHAyZk5ShuJ3S8CSA9WFch5KPQuMIaAxEDE4cCpiASf/Nmlvlkpe3EylEFUaciHhc0i7i7bFDnQUA9M8o2Kb8IBJYwUL6GccM5L9SbwjHN7oLOB/wqRgUMhWAWP0YMtG4hX0C2Lx/zzfNkxC0vQH14CR/aXiQO2rbwqjCeatZAQwdHkSMOWxG6iTHso6OcsV3Rz4H+T1QWsG2Os1CXqWQSRlLwTTn7mAEKeg3mIVB+ErBpS54cH2ugpyf9D8tgBboJ5+EKJvCh71IaGnZCTB/mzJuCZNIX2vOkIUNGTGRTR/1jjjbHX//6F1NSaW9K6HJSU1fG0wOvmDjwhrsBU0gDeR/GsVk6+ZC9VoVzfiCkcsFsEXDwAQuPu54UEKQQ5hPgTReyPH42HNwF/R3sY46dT0IDP+FPGjp06AQc9izf8e8lYdhzrHgF3hoXkEonyDrkZOFQ0KjBXZLw7lRMBKGjFBqCVhfKUATYvlAO0ex+CNOMUmAhWA0M+g0JfzVkDbyR1mnmX0HRMIv81GAjuEM/0BhldDS2OFfib6hgcR9Yls1l4QwNjHHHAhfrGlqV/WcfmBanaQflHWqcSWhKmMNCF4cR4snLfN2xCdsE447lEcs1DsoD5hmGhuVxyLhVkI7DCZVLhA0wHZKWXPnNNJgZKxCUSyHMETgl5gRxdIwOA8JpLcDFfQJCAKonlV1LIvKm5OA+BRFpWHzEDydSXB7zIWtjfYixKHDTUuhfWCAS1w3Yn4BOw3JBGXAAIgJdVNQJCARWPBixMLDsg3kdVEBxr+UZ0pAl6wMaOicIySMEeynk6xxi2Rn3EwloOwVe94S01dCoE8sh8kJEfoSQ+ilQP/pLGXk6n4AIFdRDyLEJeKIK6bgd80C+IgKIAdge2B7o5CPyDEwOeR5ZAhvAYztWQmiZM9RmP7kjT6YQMnRaF2DXGGMnLPkJ+xjxlJAznKMql+fAgwTy5BEI5WW9iHQmXjwsQjhERMj6BcYCQuMhF0pHqG4dy5RKSMeqKNpQAC/+ldwcNVngAkJO9CHChcXSECzrxHZH+fTD4YXaiCKkDAXyylGmLB1xluk+6i9PWbXvei3kKCtI45y27BjT1gkyYhasn4DlwmFpD+wyDMOIbWYLeapW4vES7T/74Aw1I6Dc8Rc0X08ulqcX3axofwz1aymHpzZIG9IToKFNCDUEQn1kvtehub4XuTaLBCrApgBWjDjGEY8r1iJut4AIkrSIKKuJDBLctEshw4UoAT2Z9GabMXfeDGR42vG9RNIzZgH7Kfhrz/8wn136H9b8K9X+8IffzwxdoSZVYlBSmUS6hCbASYnAQ2+7Q64riZRUQXhstcaobqgEV1xMwP7FH6GxJGHypdi7tQ0v/GkDhPfIaui79ukLqy6cfOpxSCQ4mQ1qN27dfKZzzqL/aWtonOpZmWfECngCiXhUBq/YhFZA9qTSSVMAG4CYAKoEQ4tRw5TIwUQsigcWkEM/No7pIAvLoLw4cPLfgXRKO4CYvj8vlodxDY9UbsRSNovDfzRPmOMoA+cRHGeLIZVh910A9PT0wokg5ARjBDE9dSDwKL+NHR5gAKYkbls0RhiIGGYXIdq2grSGdEZDQvqh7TsaL6irIgRx+Lo8MI9DQEKqFQ6Msz4Ywgm/BRrGYJ+gD2U3tAuJZSE968bl2o7W1XqEo96VHxxZxFAH0A/WoT0oN4Jt8FvTnu9RLyFEBCEFCrmLUXR0d/F9XBO2btuOlatX49Vly2MsW7kqTq9euxYbNmzE5s1bsH3HTuzctbS8bYMAABAASURBVBvbt++K4zt27IrTu3bvwe49e7Fn7z7s7o/H4W7m9efv21+P/fsbsL++iIaGRjQ0NMVtNzUdxJ59+5DjDlgXNkBgDceCC4LlBsgiYE6EAvN6rYdemyCS6GPY5yUYFuNZL4mcn0bOSyEbQ/OTyFrm2SQC8WJTEzosIV9Do7EcOEMdRtRvTnz0CfmRrk8scnR2WW2Pi0WvJOOyXr1CYbqH9/Q9dHO9JsXFI4WI+cIBMeRnGYLjVKBd5lgv65Ksm0bWS6OX6PMpH2XKUqYcZS74GcRy+0m2mYDm5di3PJ12wXIMOSlFChA6fWE8Yl6WZT108j2ej27K2WM89DDsMwn2l/xNmuk0usm/hzrqJbrJs4fpPl5/59kvighDPQj1EYlTkQE4iP7Q7oth/I2Ipwh9t2tomxEXjYg2RGKISOzDHBPxaZT2x+hrH6ZdFCGivekCFDEdsX5IKJERHwprDFyUh+WwaxstBzuw6LmNWPr8ZnQdiJA0JRRNYIyABsw6DPnRjYMuyDQVbsBLEHb6qN/Vie72HDr1/4Rqr8e4SaNRN2gQPOuZxqam437zm98kcJQfin30OHLCShi6i8XAKy1LoKySgxr0wuclXmd7N1784zr85Xer0H7QwQQlXFAsOH4Ajc9xAMFBMeBPZCH5FLatacSiP27C9s0N6OvJA9xVtHftR0vHPgwfXosJfHllxCUONDQc+/LmzTwLAuvW/TjR2dl7cT4rlQhLIVElF6ZaHhWriXIizTwLRwOKXI6tcpIKWTMmEWBoEWydUjBPLQ0CxI6OquLEgDMQdc4DiJ20R6ojA1pOWkOAEKY1LwbTmhejPz8u78+PqAfHNh1DEBoqlN5wwgt8gOUqj+NdRcCXkH29OejuxMWLCaBGKZTfqsEqrVjKr6C8HCiB4Y8PEaZVBpYjjluI1mOeYZ7VkBDGheVmAMaH4U7MGI+hBxunEzBxqGVFeJzglnSW9RQD9S3rgTo1lA3UtyFEDIwI9EfzhOVguXABAcuhIQwQCUCqOA9gvwBw/GiHjLz2USpN6SSOyZkQttHT24fv/+hHeM9734fL334lrrr2erzzPe/Fe973z3jPP/8L3v3P/4Tr3vluXPvOd+Hq69+Jq667Hu+46mq84x3E1QTjb7/6Klz5jnfgyre/A1e8/e24/MorGb6DeDvxDsRlVxVptOyyK67AZXwBeynDixleorjkMlzEF7TXv+tdWLt+AwydJP0NaKS0XYFlP4UZBcrcyXFsNCns4vhvox62cdy3FASb8g6bsw6b+hw25xzTwBa+K9nOTdROOvzdkkQjnXd7Io0cxyYiL91AWdq86lYXpXYuQgf9EtKVYr/NYL9JYhf1voO2tz1uy2Irjx1bNU7b2O2RJlGCg4lStDPsE59ONYLjrtlJhMga9HHhaLEl2Ccp7Ag8yuWwmbKqvFv4gn4Lp/UWyru54LCN8mpbKus+m0KDn0ELF5cebgIC2gN0cImQsqu8rck0GlIZ7GOfdnlJ7KBtbQ8stuUMNvcCm7KCjTlgY16wqRARIXY4i93w0EidqC7zsU0CQr5FA4riuKa1ydgenUAiwOdRwLJUx8KyHvhY5qm9qb06ngg1BBeNUE+7hQJvVHJEHgE3CboQ6clLFxHnIhhj4MhbFyUmyQ3ME5AlIp6UHY/anR157NvSjmUvcBPdK5zxHmVxSHAMXRBRGsDzKW3k2Ks0XHcSqxftwgt/2ISNG7ahs6udm5U9qKmqwtTpM7hkQjraOyd3t3SPxFF+zNHkd+utt2acw6xE2pOS8hRswkH0KEnjyhWy6OzowoH9OSz9yw5EfWVAQKdDpxC5PIxFrBgrCUjoo6eVRreqAbzZQpJKT9JgWIC+XDt279uA2qpSjB87krWdccDx33/6q4PvvfeG8m9+87fnv/L8xou2bGyXDas7sW1DAds3hNi+Nodt63uYbkV3B2BdBgEHo7m5FatWrcbmjVu4+9yAjes2YPOGLVi7ej1WLF8V/5npl19ZhL88/yIWL34VL7+8GC+9WMSiV5bilReX4MUXFuGVl1/FC395hVhE2ldIswQvPPcynvvjC3j+uZeY9zJeemlxHH/h+VfwF5ZpPS3T8IXnXsGfSau8X3xxEV4h75dfXoJXlyzH4kVLsezVlVi2ZAWWL10VQ8tfXbYKy5atZtkqLH7pVSx6YQmifAAjgo62ThrTFqxetR6bNm7D+vWbsY5Ys3oj1q3byL5uwgaGWzdvx/q1jK/fRvrt2LxpJ1at3oSNm3Zg04btWL+OdddswQaWb9o4kLcVWzbvQpwm/fZt+7B1825s2bgTm9Zvx1bmqSErr40bt2PLpl0EQxr31k1bsX3bLmzdsiMOt7D9XTv3YAd3/LrL37F9Jxr3N9FVWV5vhmhr7cCePfuxifW2bt2BHdv3YOfO3Wg50IIkHY1OKMcdY0R4YmDZd+0/Dj0OTmghtBIRAUjDeYdcLo/vfu/fcN+992Pp0uXYryeEgwdxsLUNbd1d6OzpQVdPH+PdONjWjub2dhxsbsWBllYozYHWVjS1taKxpQWNzc2obz7I93kH0UAeDYxrXmNLMzRef+AAFA0HmljehEamG5oOoJGnkQZCaQ80t2Dv3no6Eo8OhvJSVEdHE0Y+HHfveS7GnakS6OLxrRXr8dTi5Xji1RV47NXleHrlOjy+bC2eIJ5cuhqPvroaC5evxWPLVsZ4iPbz+Kur8FXm/XbXPrRkStBH3QUmCeEC0xUY7OMi8nxLF766Yh2epE09uWQlFi5awTZW4fGlK/HE0jV4YvkaPM45sXDZCjy8YgUeXP4qHl26FM+8ugTPbtqCRsoc+AahdeCVPVrogXdS7z9g2SOvLMZjS1dgIe1XZXns1VVxXNMLGX9k0TI8TnteSDt/esVaLGT7X1q7ES+2dKCNjjPPhQJE4Az6uNnqoLzLOnvxVc6JJ195FU9RF0+SzzNLVuPJxSvxJGVdSDzKvjyq7Wo5+/Ek2/ka6f518SrsDj10sf8FnuC4UiDkKU2EukcRFB3Cn5aDLVj26lIs4txftGgR/cBiLHrlFc7HV/HyCy/STgvQam30Jd/+5rfwzNNP49FHHsajDxEPP4JHHmb40ENMP4THHn6UZY/hxz/+Mef1Egz8fyjgE0VRPHdF41yYqrgA6F8f9lwlmnjS2LWpnn7TwaPcvPHjwmJBodm2o/g+UPBQv60TW1e1It9TQLY3QMCFbV/DPngclwkTJgG0qZLSkpFf+PoXxrGZo/o5qovJ/v37x1jrl+oRLpXxYPnGIpIQxheUcXGprqniCm2xd0cHdmxqAfIZuECoCEMn4ICIfQt9rrAl2LP9ALqaC3SOBhPGjYOxBs6EED/Cpi1rEXlZTJ4yAZmSDOv7ta++uuKY7333z3f967ef/eb/+cZPZ37hqX/HY4/+HA9/7md48L4f4qEHf4RHH/w+nnj4e3jhz2vIrxT5gsFiTsYvfvnLePSxx/DE40/hiSeexkMPPYIvfekreODBz+NTd98X4+77HsCdn74Xn7nnftxD3Hff53DbbXfhnnsfZN5n8RmGd9/zWdz3wOdjfOYz9zPvs+T1GD774MO47/7PQ8sfePAR3Hv/55gmSHv/Zx/CZ+55AFrvc59/lHHyIp+72NY9934Wd9x1D+6578G4rbs+fR9uvfVTuOW2T8Uy3XnXvbj5ljtw552fwT2s8+UvfRUJOglQleqUP333vfj4zbfgRuLDH70RN3z8Fnzik7fhE7fchhtv/ARuuukWfPSjN+HGmz6Jj330Znz4ox/Hhz9yEz7+idvw0Rs+gY987GbceMMt+PhNt+JjH7kZH/nwTfjYjbfEZR8k3cdu/CTr34x//pcP4YMf/Fg//SegfJTfhz58Qxz/IMP3s/yjH7sJH/nIDfjA+z9M2hvxz+//ED5Eud7H8P0f/Ag+8MGP4gMf+gi+/e3vIuKurBAAP/7Jzyjz7bj19jtx08234uMfvxW3sM/33vdZ/OQnP+e1lYO1HpJ0uCEnYMTJQyvixxSdMmNQhcQhv5yDiOA/f/dbLFz4BG2AE85FKEQRvGQCyZIS2GQK4G444gnBS6fivFRpKdJEqqQUiUw6hp9JIUZJGol++AyPBE9p06RLpeFpSB4+obz8VBI24cd32toHRxkRPw6Gs4GvBjiHfDpRh1e2bsO69h6o89+fLMVO8bEvWYL6ZBma0pU4kKlAU2kV9iRKsIu7+10M60sqsU0s1vdlsZaLYbsLEXgW1hgkxCDJ/nYYixd37Ma67hw28aSw3fnYw8VmFx34Lu76d3kpKL/dypNXVDt4ZbSV2EznviUHrGhoxt72TngpH0nCeh4ylRXY1tqO5Qda0UjZdvsZNFGWhpIKHMiUoyFThkYNSyvQRLn3+hns8dPYytPDZvqFdbyNeIEyNeazcPrek3y9dBKg/jog+P3GTdhQyGMbZd9mPPY5g/2sr7qoT5WjPlWB+jTBdvZnStGQzsTYHgJb+vLYwA2J48IKz0D9lNBfCdmbBNOIEMJBnzxPFY16JblvP1pbW9FQX4/GxkY0NtTzxiTLk0dAhy60xQAJ60G4WylhW6XkXUp7KteQKCGSfB+WSCRZ/wA3devRQB7GCKwV0CzZooDV6esEiZSHceOGoaerl37Qw5a1e9HbBi4mGbbhATyxeuy7hqAv62kLsXnNPri8B0N9VNfWIlWS5OanGX3IY/ykCSgtL0NYCBLbt2wfiqP8mKPJjzvIGWVlFUnqBsm0Dy8pAJf3fJgDNwAYO3EEEpywIV/Cb1lbj46mAIYv5i1XS0M1Ghpmgsfr7o4Cdm6tR8gjcCaTwKSpo6GnnAABrG9xoLkRHZ2t6OnuRBQGVJy1e/fu/3hnV/bd1iuttoka7okqAakAXBVtZRCd7BCIK4dvyxjnQpI3XNR9iJ+Asx4MQ5+TyvpJpGh4IQxsKhPDMPS4K/RTpYCXgpfMsF8WmbJy1vdhaRziMUym4rTyStBwlI/YBDw/BZ9OxLINpVVn5acz5OHBYx2f/P1UipsNoXPKQMs80huWGcoTiUEyXUJjsyhhm8pDPB9iPSRLmE++XiLJtA+f+WqNxlpoewk6v9BYeOwT/CRCyhMaHzaRhvGSRArWT8OyTx7lcKSRRIo6SUDi8iQM6yRYbjSfdbUeWOaYH5kE6dI0/DIInU8kPiI6QEsHJ+Qr1BeZI26P9D75+CwLSWO0vUQSNlMGJNOAn4CQxlif/NLI8eSo+gb157wko6UwlFv5NzY1409//gv27W2E46Si+YANQzhuh3wxXv/ozs9aiyyd6p///BxtJ0I2n0fdkCGYMHUqJs+YiakzZ2HarFmYPnsOZs6Zi+kzZ2MGw7kLjsG8Y4/DfMUxx2HeMcdi7rHHFkONEwN5cxmfe8wxmKNgvdnEnAULoJh9DMNjWMa8eQznklZ5Hnv8CZg9Zw5SXGCEvXCx6IzR8Se4GSvhfMqUpdHW14ssx6GxvBSOAAAQAElEQVSQLsWE+cfg5LddiGPPPBvHnXEOjj/jLMw/5XQcc+oZOOmsc3HSuedjwelnYtpJJ0Oqa9Hteegiv3RFKapry3n1kUF1RRo11RVIJFPooRfrpv7qJkzBnNPOxnzWXXDGmeRxBuafRpDvvFNPx5xTTiFOxayTTkfl6AmUpxQ9XHwMbb66phqDBtWilmFZeTlMMsNrtTQ6uUkcOmEajqWMJ51zDuW+AKdS9pPOOx8nnXMeTmCosh535rmYz3b8qlro/xrawcEU3kJUDK9GxeByVCuGVCNVXY6WsIB2dcK1NZh+6imYrbKy3yecfR6OO+1M6uQstnc2FrDN+aefgbmnnYYxs2ZT3hRy1GErx760rgo1wyjziDoMGjEIdUNrUVlbSfP2aVKOAAbV1eGMM8/EWeecjVPY9zPPOgsDOOHEE1HCOajjVVtbh8svvwLv/8AH8N73/hP+6Z+I97wX733Pu4t497vxz+97H+PvwT/zGvVqXpWOHz8BoOHqqcgJ2J7o9IUYwE86jJs8HKWVPmgSaNzXhd3chEsuA4sUwLEqFHQ2JCH5JPZvb0ZzUxccN2IlpSkM5auAiJ6wlb6yo6cDdUPqUDOohtXEa2ltm0gGR/VjjhI3ZSPbt++u8fyk0TvBRNKD8UA1OUQ2pFGFGD6mGoOH0iG4CM2Nndi9rQVSSMHjizyhIYNOwTcZ7N7ehIONbTAm4gI0CDVDUwi9LEKJCEFfLo+NWzbzJekyxrlrESf5IHdMPgqHhNaTMZOmYOqs+Zg57zhMm3lMjNlzjuOd4VxYOjiPjmvy9Onx5J45bz6mz5uLKTSyKTNnYPjoMTA0tEAs5h93PE7kJDr9vPNw6tnn4uSzzsE5F17EvNORLC2DJJKYM/8YnMWJcOrZZ+OMc8/FWee/DadzspxCwx4yciTynAyjxo/HCTTkU886G8efdipOpmErTmTecSeejJKKSvDKGKedeRYu5d37hZdehkuuuBIXE5dddRUuuuwKTJs9Bx4XmEAMTjr9dJx2zrk4hW2efMYZOIl8plP+Eu6cA+7OnREMZdvjJ0/G6AkTMGnmTIydMhVjJk/FRDrMCdNmoIzOJUedl3BxGj95CiZOm4bxxETqZeK06ZjA+ISp05AqK0NkLOqGDceU6TMxiWXT5s3DFMozhW0qlD7L2aQ6Ga/lLJtKJzx9zjxMmzMXSjN15hyUlFaiN1tAKY/v6rgnkd/YKdMxctwETGR8/NTp1P9YwPMh1se4SZNZfx7LZmEy+U2bNRcTJk/HkBGjwNs8NHHHu3rtegS84tLJ5vgV0bbAKakG+VpYTBlj4hL9JYVW7tCztKMEx3Do8BEYxP6VV9dATyA+naLCplMwXOQTmQxSpWVIl1dwrCpQWlGF0spKhm9GGcvK2b+yymqUx6hiWMX3h5UoraqMwzINY1RBaUsrKlFSVhbHHUVVpwIRwAAFGyD0C0AyQKLUQ5Rkr7hDrxhch4/c9FEsfPIxPPTI5/D4k49i4eMP4+mnnyAew+MLH8ETjz+CJ59+HPd+7gHqcAp5OfQhi8gPYEscwSYyGgr8pMCZiDTAhW+/DI99YSEeY93Hn16IhU89RjyOx59aiCefXIiniCefZHrh47j44sviDVc3hS74CSDtIfAFUsp4ShDSFvt4WhQvwfdP78RjlOsxyvnYwod5MnwYjz/+KB5/4lE8ov8J2eOP4XHyvv+z92PWnJkcqxBco2DLU/DKPHgloA6EY2GRyPicf2yHOpo5Yzo++8B9cZ8Xksdjjz1EOdn3Jwjq5ynyfJLh42zrhk/ehIphg9DrA91eAH9QCaTSwq9KIF2VRrI8jURZEpHHqzqE3L46zrsk0qUlMUrLSlFaUc6NZAlKOWZV1VVQuzKcI8K+llVWIk17qSBNJeNVNdWoqa2FvvxW1NbUooaoKK/imJdDb3FCHj3j6zUB+2wJA1hBKFlU1nmYOm8EclEvEvB58tiLvo4EclmOF32UWIOEKUehx8fW9XtQyIWIkOc8HYbyGp9jmuemLIuu3g74GcPNis/y0LDdeTjKD6U+OhzvvfdeyfbkUyJGClGIdAlXTgkR8uRgPQ/OFpAsC7jLGw0vwckRANvX70d7UxZJWwKfO15rLIJchF3bGlDgy7kEDX3qjOE01m4U0AvnGVBXsNzV/+o3v8OKNaugbRViB+okx0EZPHIEzrvkIlxy1dtx8ZVvxxXXXou3X3MtzqaTnz57NgcIGDthIl+ovhsXXX453nbppVCnffW7rsclpJ8wbSp6CwWMmTiJC8MFOJk7kpO5MBzHReWks86M680+9hgacxrDR43EB274KD584w340Mc+io/d/HG89/3/go/ceCPe96EPIhCgoq4G177nXfjYJ27Gx2/7JG6+9VbccMvNMe0td9yO8ymr8y2Gjx2Dj9x0I95x3bV41/v+Cde99924/j3vZnvX48prrkbtkEHIUpcXXHoxPsp2PvrxG/HRj9+ED7HtW++8EwuOPx4FTtqkOr9kEsNHj8QV11yFq971blzyjmKo8cuvupb512I+d8IZOvdQDC6+/DJc9c7rcQVfJl/N8B3vvA5XXnsN6a7CxClT4gVx+JjRxfJ3vZP0V+Dt116Hi7jYXXnddbiKL6fLqqvhEsl4ob3mXe/BRXwRfSnbveLqa3DZNdfEOtZduJdMo2bIUFz9zvfg0quuwVV86Xz9P/8L41eT5/W48LIrUVFVi0g8Lq7n4PKrtZ23c2yuxoWXX0m9/DMuveIqWLblaDNLeXff1tWFLBeGgPoxpmjSr10V4dCjeY5TNcerkV27d8NYC2M85hjkuCD1caea5wKri2dEPhEnqy7yoRhE4OTmxkAPSzRdnmoBJpnPkC04IiI0dKQFFwOnaYYaB3k55Ukn4eh0BhCJwBFiPXi6iLItIZ0yDzmPHOnz3IGHYKsmgr7r0XY8zqkhgwZh6JBaDBlcjSF0kJU15RjEXXtVeRkG1VagrqaCp48yjBg6FEles4lnAPILhUd+UwASIcJEhMgLkY+y0FsEm0nAL0ujonYQqmurUVNXHe9oh7Cd4bTB4UOHYMTwoRg1fAhGDR2MSjpNsD882iBKeCiYCIHPRSvKAVygQjplk7QITYAkF5ra2krWKUV5aRqlRHl5CSoryzGIbQ0bNhi1NZUYOnQQfN/Qd1A+OGT5zjXPsY1MiNAWOIcJl0e2kIOxBpmEj9rqKpSWZTBk+GAMGlqHWvKrqa0k30oMqa3CMJ5ehtbVYVDNoOKY+R66qdc+CZDngh0QkS+IPEA4HyOrocAwL8crkkgAn1ds4nlxfcMw4MYl4PVoni/LI8pJ04GOdaQUxkDrRDSSgguRDyhvPocsQ8BweAVgqOOhrwOMddC6gEdOllHKghz9ZidmHDsC1UN8hIFBtsvHc39YgXSqEgF5QwySfgW2bNiH9uY+BHzxXzu4BFNnjYQz3TCJiGPbh758NxK8vhMbwfMsPGuH4yg/5mjxu+eee+D5CTFiqAhOMCowonbFWoScFAUXULk9GD2uEjNmj0OCBtbZkcXaVVv5kl1gOdmsExxsauFdZBsSqSTGThiCikEWgXTC2Twiqpna4T03sGTpcnTzBWlIB2o8AcRxx5KB7sZTZaXcTRsqMUSOhpjTtk2EFatXIYBgEnfA6oicJAGbgPg+1Gnoi9WNfFnopdLQHb/QMQfWQ3chIJ+Igyfxy9Zly1egpaOdi815qKqrRWAEkaXxUz6PcrOnWLR0CfbU78f4SRMxhicTWIteOqsQoAwOAeXNBgU895fn0ZPN0gmfgmRZCQLyCK1w0gj03xBwlcXOvbuxZsN6TvBqnMoFjZaAAusLJ6/4HtvZh6UrltEhFjBuwgSUlVdi2YpV2LZrN/KchI7966PR6z15xEkAz+c4kI47aH25vHbjxnghCkTA63LkqNMC5TR+Eno6SWQy2LF7D/Y1NbEs5KJuOSkCmGSSMrq477Pmz49fWq/ZsAF9XIxD8tK+5NhuxL6rzKN5AsmUVWDzlm3YyztobSNLG+kJAmTZb5WrpKICI8aO5eJQ4OlzKx1JSF1Y+DwtmEQCvVwIKmrrOFlmo7uvr/jinLw8lsEaSj3w4eSMowMhaD8h9Fq0QPlyHIs8EdIh+BwzS51Y3wdUP3QEjnZC0SAquxg4BfOcCOMCMMQbHhHmMy9etHSiHxbXPBGWKx+Gjo4kckKZVC4hT8MxCGhjERx15uBgaXvOWVJa+mUfpiDwQw828ulyfLhA4p2oEcsdroOhkwBtMZVJwvoePPbHGg8+++So7IgbNBOyrTx7x1AblwgIHQBjYl33clENxIckDTzav6ENqA4M+RjK7YmBUUDg6NCjsA++b6FzPOA4gnILGYvRHkTozXUjkAKcF8HnOwDfT5A+BT+RLIJpz2NfyDsiT1gPxvoQtqcbBvpGBLySNsaHImK+I30BljQJQHxYPwXjJXlqrEKe8yKygKV/8VQHnoekTSApCaSRQEaSMHxRbQIPLjQwrO95CUoMUPu0/zwKjBW4QQ04DiH74ycTbMtA7SZP+7Me+0u7MdaybQ9iDcgIIblEbB/MD1nuqFxhkaUMXsJHIpWA7yVgjaXuKDqEC0RA3RUR24gx5AIU+QT0LT3wS7OYd9w0pPQKNEyhfncrdmzfG/MwYtHe0ovN63bB0S5KK1OYc/xUJEsC9qOH9sQF1wNyhV72pABdtDxuKqzP1RpH92FXjxpDl8kk8kFYcJbKzfI6w3Gy+FQOnKPaBKFkESY7MXHWEJQPSoAzgkrZj/27O2CDNEfTR0tzJ7qzOSRKLUZNrQNSBURcTZUNQsDnlVhzQwtaD7bBo5GIeDAmQaWFvEIox7gpkwAOpu4IjFh4rCgu4JVIAzbz5eXgoaMwevwk5CI6KSOIDdhxALnlbNi/HweaGjBh/DgM4W4uHzmAbTjx4NPorbHYTMe7Yf167p6G4oSTTwbnJ3Lsnxp4nsYXEX29PXj5xRe5e0hh7vwFsZFHlMUR7AIsJ4w1HvQvji7jznrEqBFYcOyxRQdNBxA4gSOE8hVyOaxYvhwNTY04h9dtg4cNA2icEXXcR8MOuFhs4kKzc8sWTBw3llccX8C73/NeeJT15Rf/grbmZl1nYa1FgX00iWS8IFQPqsPEqZPgcbeybsMadPV0Q8SjsxUahA9jkojE0rGPxqhxY7iINsUy0CIh4CS0HvJ0PLrbDsRg5OhRqKyqxLZtW7h77iNNBP3hfI31E3ICVg8ZDF1Y87kC1q5eE8sFPh4nWUDGWW5ALOMTJk+C9Qzfh+xFVv96AfXQx10ofSkXFgOw/8cceyKDJLq7erBuzXqEYQRjDAKOa0Q+kIgcHbm/9jHGwrBuL9+Z5KhXjzKBVKHWobShowNUJ8BQa4kI+wEwgBgAAsSAPgOJYiiHCFim9ftRLAU0dPE3dUd7M054ENBcxI/Tb+Z51K0lKBadTES3xn54glBCOocAkXUI2T92YorXLgAAEABJREFUlzbi4NPxehwLUH6PdI41NA7aPFgHCMkqItgCZaQJcOEB0xJLAzo/Y0y8QRPxAcqgOqLKEekOKxIY2gEMio+yYZ52T0jkyEVYP2T7BcrFyY+QMjqv2HJAQQUOUT4Px1UrJBzbcGJYA7F0cT3yDykLYl7Mp45gPOhcyHJORRakDyhuji0WaMs5Xm9GhIMzlJu5NgQXWkIiREJdSchcx4oE5dC5GYmD8nIJyw0kpdbx5virNIZlhnIIe+rTVnwY+JHAcTPJ5pHiHEppHhcaT30DF08hX8c5KJSRVeGJwLJVKwaWfSBLth9BNwhgPcTjQq/DAiGdT99lCY2rDA5ZiEQAucQg07zrwqBRJRgxoQLCE5QnCezeug+WEyJt09jKl+768l3rDR5bjsETStDLH/hsmvaQ8g1EZWT7jmPqQgHddJ6NHNWPOVrcRMSNGTeqlcc5p8bS081B56iF3AX6HARxFvRVyKETmUGC8bOGwy8VGrHDxtU7YMI0JErQ0AURj8SDRleiemQJQpuH7hJUAT6N3SPNri16b9jHcXEw3GmE3KH5dMLqHCt5raROAWqwIWA46C7I4aWXXoD1PIyfOAV6cgkQsdDBUjbQwD0O3oY16xBR3kmTJsDzKQuNQY05YllAmnxvH/bt3Im+ni6czfcVJWXlACeycLcRsj2hJVoj2LtrF3Zs3YLBdYMwb96xFMWLHbjPnTztlobFwaQj/tMf/oiOjg7M4DuNukGDofUDBzgIh8VASNPMRWQlF5PRo8ZgAV/++ukMHGXmHIDv+ehm/T//4Q9IiOBfuIhM5vXc9dddjcsuvgjdrW3442/+E44TOcwXoE4hmwsA1oso57SZ01DCa4b6xnrs3buH+hf2VDXhc5KCGhJ43JXNmjebO5sstm/fhkI2D8ftYqR6VTmNF49PHReKkbxibG1pZt83w/T3QvsScmIF1I2XSWECT2olpaXYtnkzuto74skXclIazyKybNMAw0YM5zVFLVoOHuS7tSbKFXGcDCLhpKTc7AHqBg/G8OGjuNjksX7dRk6OEI5KcYgQMRRxYAaoFrz20LYot5bpLlPLVNMkBEiv+RLL7aD5CuNYBEBECA3Bh4ZFOscyQIDXwcCwrwMQEYgISQgUYeigLKEhm4U+jsy0rWKewPTXUXm0GZoXHW9IBDAe26ANCEdLxKPNRrBCxTloN7jIB3Cs78AMMrXWQFiHXefuOoIxPgktSwURDVL77ZxwPoX0P5wTqkMqma3AMF9UbgE0QPxwLDg3IrEQbrYKtFNHySI6K4iBI20Eh4iRgAYtDH06QJLAsFxEKCfbUxodUyFTwzTjOnaOSdWH/gkTwEAXmTw4vlwgfIaGYRDlkaMtGs69SDyKZhDxGsk61ub4R6Rz5K9JBvqhW40QGNCnRKBXQT7MMT+k7gBdDIT1ivIZ+MbCo0HqAhVy47Fr61bs2rwFB3hCr9+5C/t37ETD3r209U1kGFFK8Io+j9UrVmLNqtVYvnQpXl3yKpYsWoLFL72CV158GS+/9CLxFyxZ8jJWrlpOu12PjvYueLCguNBxAHKIE2zbETAGdJ3wedIYP70GqfKwWJ4XJJCi37Q4uL8Nlpvssgof46bzGq8sB71qzGvnqeuQ87UiVYqIc18Cci9ELgjCbWR0VD/maHKbNGnsps7OtkIykUZvD5XCYxdHDmHesRkfjip34uDYo/ETR2DoqEpwY4WWtlaE7GQ8kLy/9RI5TJgyHKkSj7QR6wKe+FRYEr0dAbbxftC6JIQG7SLlZ5BKl2AaXywbOkptzeNk82nsiCLU88SxccNG1NK5jxs/Eb5PXiwPaTzqSKwY7Nm9Gxs3bcQQ7vzHTZxAwwthPGHbjvQWjhMmz93xnt27UF1dgxNP4amEJ4OQk1FliB0XZQnouJe++ioOHjiIs846C4OHDeXUdIj7xoElQ34cGhoa8Ls//B4VFRVYcMwxSPFKwXHwjbEQ/WE8k8xg+eKl2L93P4497lgMGTKEziCgLJyqlCfie4KVS5dh3ao1OI7vcc45+0wkE4JBVdW48SMfiu+09+7cjuVLXkHSCMBrNd+37LJw/RTUDBqKeQuORU9PLzZv2szivLYM6LeOEyUPODBjeO00eMhQ7OZCqv3SRYzcYIyBPnlOtorKSozhiQ58XnnlZYSsp/1R5+BzEY/YHx2XsePGoXbQoPj/ctjDRdfTMeLuzlA3ylPIs6y8jNdYM9DZ3QWlAftKhmxPoDygtBy/qdOnQzwfWzjR6xub6PgMrBgtPgRAufKbdVQew1CkmIf+x8V2oImYu0b+Szj2RUQgIofoRIRpF8MxVzHQZ40zix8hih/612LksG8tHQAgcX8yUQrprIdkwUcq9OEFHmFgAsDjnIgVwmOAkD4oWIAnSpNIIWBY4BwJkYT+sgJCw/lDRIa2kCQPCy9UMC8Q2g2AqBcS9LC8gJTvSF8AJy9cmEckbJAnDljA0TYi9jegl3OgPMZnKx6v4Aw8TnufO+aEM9BbBMPyQiECeA3lJ+n8WNcggpWQJYgXr4QB+xqwPeYZx/wQpWmPYUAZQ6TZjq/y0306SSGUJJxVGM5ThxwXIb3eynMD2OsoMnf6Rh2tLmCGPoSIaC+Ocyufz7JtIMExzNB29GpBuFuH1tMvIxDSqh3q+OlGdtuOHfj973+H//zZz/Dsj3+MX/zox/iPn/4Ev/rZT/HbX/+6+G9FuJDW76/HF770RXz+s5/FY48+iicWLsRTjy/E008+gWeeegr670+++MUv4UmmFz78MJ555ikuLItRoM+wlnJSZyAiUMeUhyLC0X+5iDJxPIaNrcbwcdUIXDecCCInCDinxUaITA9Gj6/DsFGDEEkEYT8gllaRgKW+KsrquHD1orW1nVMpcslMYhmbOaofDuPR45dOp7dyd9KZ7cujt7OIdKIUom+1QBOiggwdS8C71kQJMHn6aHhph9KKEiooohKEd+VdGDW2ii+cS5AtdAMmgqeDS2NCPoH9u1oQZJnNiSLgAIjAQfhuYjIq6eRDKl+vL9SZWZZR49CdfZKGM3z4cFTV1CCIdAGKQMGo2AIC7mheeeUl+IkEJk2ZjHSmBEKnFnKhiFwEPV1ZTqQD9Q3Yu2cvjj/hRFTX1MHQANRROtL5pLdi0FTfiI3r1mPkyJE46dRTkCNvnXzGGoR6OjDCNkOelF5CL69wpvNUMoK0jr0w5KGOCoyLA1qaDuB3v/ktaijzjJmzkOSdqdJY9jfFCXJwXwN++sMfYfyYMbjqqqtQw5eMQa4PSS6Co/ky88aPfhC1FWVYtXQxdm7ZCIQFWDKOqCNLfRRopLMXHIPqqtrYabe1ULc0TtWdx/JQnbz1YRifPHkK8pRfT1xC+Rz1IgIac4AU5cqxbBj1O5gL3kGeKOrr6yGcDaqXAq8tLYzWQoIvMefMmQOVYTuvHeP/C4J0HGaA46Lj54zh+7IJSJeUoIE6z/ZmMfCEUUA7AZw1XKiHobyygjouYNErr0B5khVJBQMhKZkufpxmUmil0xxNM6nR/x4cD6VXQnZbA2jdIjSHI0j+SqP8FRqPCfnFeU+5yYTxgY/mHQIznTJjKKL8GNFPCHjGh57MQedgaIfCC6/Wlkb867/+Hzz60CN4mI7roYefwMKFj+PRhU/hkce+hIcfeQr676aefvIpfOmpp7FvxzZkqLOylI9UMoGQNusEMBxfapRzQueZR4fu8JtfPovP3Plp3H/PvXjwwc/jcw8+zJD4/CP4PPG5hxbioYcX4nOffTA++ea7uriLLyBlAZ9t6LwTB7YRobQ0hUTC0HZ68cMf/AC333YHcTtuu/VO3HHbXbjj9rtx+6134c7bP4O777oPn7r9Ltx992ewYsUq2gsoDxcW8vToZA0XkzBS2S2SXDgqeNK1PF1sXb8GX6RjfvrpJ/Hk00/jySeewVOPMXzsGTxOfTz2xJN4/Mkn8dRTT+L7//od9LW1Q7gBSsNDgguOcOEBFyDVB9UNcI46hYBjBozm9fF5F12ES667FhdffTXD63Dx9dfikquvwoWXXYoM7V/rjpswHp/+9Kfx4CMP4/4HP4t7iXsefBD3cHG594H7ce/9xH334b77PosHPv853P2ZT0P/rxE/laD+1X4MImcg/NETneE8YBQhNRFyMY+8XkycPgTpSsAmgIDzMxJBlMgiWR5gyoxRMH5E/0JwflraTVAwKCsZhHSyErv1H6y2tMFP+MHgwYN24yg/5mjyo9PrTvj+UgTGdenfhWnNc6eT4Nj4bIbWxW/96D8+DE0Wg0aUY+zEIby77KF2HAeOZi15TJ87BomSPCLDwy3vGF3oyMdD2Gt5vGyh4WaAwKeeab1Upk34mD13PtJcBCx3H46K1GOr426hmTvW7dy5OucwbfoMJLg7ijg4BV6tiDHwxKCJp4RtfOdQXlWOEWNGg7MXzgriRUAithPC8HsV32+UlGT4HmQ+xDMwHhezKIrL8rksaAlYu2YN1JmefPIpKC+vgPFJAz5sXxgodHf/Kk8v1vo44/QzUVZaHpcI26CFQOhUQb5//uOf0NnWienTZ2IMDVqNSg0s4lVcL6+IfvbDHyLb2Y1zzjwTx51wPGzSg0e5DfdrqaSPC84/Dx/70PuR6+rA0kUvo6PlIHRB8SyNli2CC1JZeTVmzZqDzvZObN+2DSyCEYcBZ+PxFAfqaPz4iUgnUtiwdh36urthDOiwI3KJWMyECCoqK+PFuKe3F5v4bomFICsY9p0UrGMhrDht2jQM5jVVIxeK5sYD8DgThf1VegfHzWKAmsGDMGzYcDSRpr21FR7rCfVirSWFAxhW1lTH113OWCxbvpI7ry5lQbnIJdKo6FecjiP9XyJCWUx/fpEGb3rYBltiL3VU2A9HRIy7IiVtDIQoEJEsYlmxCIY8+8GuQVEs0bqEKgUMtV5coHEFDuWIcqOcOb4556EECkkC5RUJErWju303nv33b+OZJz6Lrz79CL70+EP42tML8czDn8PTn/ssvvbYI/jyow/hC597AN/5wkIc3LYeyaAL1SUWSToceBGnKeHTJLhApXkyTtsE0jBYR9v8t69/Hd/9+v/Bt7/8dXz9C1/GV576Ar781Be4MH0RX37qS/jGM8/gR9/4EratXIRErh1lJofKjKX8BUSU2XJDY7lDKOcKk+alUhlfwq9Z8hJ++K//iu9/+7v43rf+Dd/7NvHN7+HfvkX8n+/iO1/7NvO/i3//3g/RwOukDOdOdSaBCt/Bp01HtKNYy1RVeTqBuqSgIuhB7+5N+PcvP4lvPPogvvj5B/DMg5/DFz7/GL7Ahfbphx/B04/yFEB9fOmJR/Hbn/4YUXszMjwNjOUJOc0+Gz3lsN+OOtc5H4PjEwkAjkFJeRk3uKOhv705YtRIDOU17LDhIzCUmyfdoIoIjLVIcDM6lqfzMWPHYPyECdA/MT9p0qR4TkyeOgVTpkzDlMnTMGnSFIwZMxskde8AABAASURBVBYjeS2cSPCamPPZWp8tWjjnURKf7wJ72bQBM8EIIhNyvLpRPTyJybNGoK/QA+dxPvkGedeBSTOHorzOcuHpoyyAzuGIi40LPdTWjEDSlmPVqnXI85haKBSaLrjgvO04yg+lPXoc77333shLJP/dINHXw+uolvouBFwAvMgDuKOki+IKHNLgIionD0lkMW3WaGQqhOkcQi4kZZVJDlIFaagsXlg6xjybgOXuoe1AD1r2d8Ll/EJJqny7iATCHoybOB5DRoxAxEQYhtCjoU8nGHLB2Lx5I3q7ezB27HiMGjmGhg4YOh/LgQjDAo+YOegL7G46yOEjRqJu6FAI6+piE9FROIIMsXv3LmzdthWzZs/C4CGDEbqi3nQHmiCvFOvoLnvJosXIlJTiBJ5ehO2EdJJOSMuJYK3wFJTH2rVr4pfv+q5k2vRpUGNhX6Dy0mfScQpPQHvwx9//EWVl5TjhxBOR5i49Ig+VOeF5WLZ4CTbwbnbCqDG4lrulyspKwAhtz0DYrqMeSjMZXHftdTjj1NPQuG9fvKCE2SyEu9KABqxdEOvFi1VtdS228E64h7vMpG8RcbxUR1merEQMhvL6TyfOgaYm7OKxX8CH8ogIaJxsFzDWYsLEiUinM9i+fTsXwjaoHAnmO22TMkWslqZcM3hFpSez3dt3ADR6Q2EseQECpfG569Trxr6+XmznQi+qR7ZnqCAtDzguCS7sQznunp9AfUMTduzYDSOWstNqSETyWC7wERF+Fz8e9ZfkxNfyYs6bv9Xfx9CimJAC9seFaUPOQhlULrBvaiOa1hBc9LQuSPca4sr86ufD+kzEH81RxInDv8jE0mEWwiy4m0KG82HBhGGYVZvClHSI8ejCZJvDZG7MxhQ6MTLbjlHZDkzkiX5CoQuje7swns52MrKYX+Hh2MGlOHHcEJShDyk6dyEcHT33xRiRNjhj4nCcMKgMM1IRZqYjTLR5jI56MIqOaxT5jSi0Y0ShDSMLHRid78KkoBszEwHmViVx2qShmDi4DEnyTHoOLt+DTJTFzCGVOG10Heby/ehkL4dR6MEI14PhYSeGBp0YQgzOd2Bo1I3BQQcGFdoxzHViYkmICekCZg4rw6AygW8LcK4ADi98LlI1SeCSY6fjeJbPKnGYkYkwAVmMlyzGsI2R5DEiasdw14bhDEdKJ8aYLkzNFDCn0uDEUZU4dcoIlLJ/JuyFlZC2Q7kRvX5kRNiug57S9RdOLBc4miipAM/3mR/G9Do3IwABfY4RA6HNG2tBphCRfpqI5RE4rKAZkzoiHMscTcYBzrLMByKLg02tiAqsDvKK6weQRAgks1xMRsHnflq4CQiok2QpMH7aMBSkixUKbC+EZ8mbc8a3aYwcNh47d+7FSp72rDUuU5pce/nll29m40f1Y44qNzL7+A03vJjLhetSXonbu6ORpwkDX9LgRh5GHCwVrM41otE5m0VFnY9J00ciS+NyzKusLYfPCWS4GwFXYwfqBz4KfYKD+zrgeH8c9GFXSarka84hKxyVY44/FjrIAZVnjIURj4NWQFdHO3Zwt21IcyIdMiAQEQS8z7di4FnDHUAHtvJlcJJH1RmzZiGRTiPLXYufSMAjrWcEFuDV1VrSW8ybNx8V1TX0fyoZC/jJ9fXBZ7vbt2zFuvXrMWfuPAzhzkXIX1jfsd9Cb1ng0bqHi9aqlSuRpVPngMJL+AjojEQEEeXXkxKZ49XFi6Ev50fxpDRx6mTACoSLFpvDdr7c/xPft3S2teOjH/4QF4Op3LcFoKnBeQYwHpz1aPAGmUwpPvjBD2LY4MFYx3Y3r1sL4SLqUzZL5ChHBa+K9IjeyBPaXr47iuj02Vw8iSAGNpGA9XxMnDwZaepp8aJFCHJ5WE4D4SD4vk+RI9J4PHEM5Q5uFNra2uJ3VZYCGzpdUBrrWRhjkedCpgspG+ACsAMBr8i03yyFKD1pnDXQXWBZpoSL3Cbo4icOCHgNJyKwngcONAZzd1haUYHe+L3PltivU51kTWLwUWNjcPhHF5NEMgEROTz7dXEtURQzyYv9jNPsi2i/tYDjFdF56LjmqUcNA9pOxP4owBef6F9YtK6JeUSsSX78/u8+2o6lk3N0ykk60CQd+CnjR+CDZ52AWy44FbdecDpuO/903HT6Cbjt3FNw6/mn4Y4LT2d4Au44/1TcdfEZ+NQlZ+Gmc07CJy48DR8+7yRcMG8yyoJeeJxEHsfESIQEr50Hu15cS+f8sXOPw52XnIFb3nYKPn7+SbjtotPYzskMT8LtF51MFMO7Lj4Nn778bNx+6dm46eLT8e6zjsOwjMDk++DyWaTp6Mo4nyeUJ/AvLLv5gpNxxyWn47bLKN+lp+KWS0/BLRedQrlUtpNww7nH4tZLT8MnLjqR4am448oz8PFLTsa7zjkGtSWAZwIE5KfzyLocSqNenD5tNG687EzcduU5+NSVb8MnLzsLd73jAqbPxZ3vOAd3vOMs3PH2M3HHO86M05+66m244+1n4zPXX4SPXXIqptT6yJhuWOmDpX6lf1wNAIUwjOHAcgtw/HSxiDimxlroxjVinjNCuzYw1sISefoX9TEhDTGijTjSgI8xBj43Po71NS8kHah/z7cQ8gAERiwQWbQ3dyHMASbymCcIuLIUuHAEJoeSao+no2oEro/IYvDIGqTLScfFRn2oLroB3wVYY+mXUhg8aDh+/8c/xxu8KAqD0aPH/P6MM87oxlF+zFHmh7vuumv/qOGjfhoVJN/S2IXtfFmOHJvh7pP2Rd05qFPgWgxnCnR+WV4t1SBFgwmRRWVlGR1TyGGN4HR3DAvaPZD1Ub/zAILeqMDrlh+2treNDKMgNWbCWDruYci7ELA0Bw4cW4NxgP6Gkv76rR45R4weDXXGFCMe0Dwdu14XbeNC0s0XvSO4wx3Fo2chcpTLIKIR6OA7Or725oPxb2lwEHidNg8kgV6tOToWKw4JOvCuznb8jC/kaqrrMHv2PCRTGSiv2NhIp5WSXgI7uavftGkT5s6dCz0GO8orptieOmXHdvfyiL/i1WXo5dXZRZdfRgeegbqgPB1VLtuL557/M/bt3YN3vvN6XHDh2+IyGIFYC11EchQwEo/5Fn4iFS9u+mccaqur8Z+/eBa7tmyG0Ckb6syyjp9IYNLUKUjx6mDlyuUosF0RR8ccQh2vOn+fznfkqNGoqKiELjp7du2k6QOOPEQEyqfAF+WJVBLHHXc8jLU03m3klQOHBdr/kHLpiQLsb0VVFaawzd27dsW/tcXmOGaOPAXal1w+QHVdLUaOGoXW5pZYb9YYGFIEUQF5OnHHdmsHDUYprxO9ZBorVq+N/+2RiFAuxE9EfRpjoaH2yXGC+1wYVdchF03VP4eANulIb0DDg1BOJuKPjoewTWsNnUcB6iSaaQ/reZ35lz8/h+f+9Ge88NzzPEX+Hs/xWvLPf/gj/vSH3+HPf/wDXvzLc1ixZAn2csy721ox8O5IbZMSUqYC29B2CdERZsgclUHliih7xJffvMmAR1krKGhNtgeTef07ixut+UnB/ARwbJmHk6pSOJ6n+mN5DXZCTQLzKoG5lYJZZQbTS4HR3LgNRi9Kc53ISEAnA/aKducEhjqpiPpQk2/FeCF/r4enkxzmljssqDA4gU73xFoPJ9baGCfVWBxTZTCjRDCBJ6QRPHFU8pSS0fkqFmI8cBJDgjzKoxwGu26MT/KUURbh2GrBiXUWpw1O4ozhaZw1ohTnjCzD+WMqcebwDM4aWY6TWbagPMSsdA6Dok6kuNiBGyDLDVJInXi0uVLmVYXdGBJ1YyzbH58oQE9Ic6qSmF+Xwpw6D/MG+TimLoljmZ5XlcDMcotJPHUNN70Y7GVRRp0IF6WIJ6lA9c9x98TCCEecMAB0syTMUztIciGA0hhb7B9prGUcQDxW1CMsawlo4kaHERHHjJ6M9sj5RNkj6ojUUHoSQW84NK7jLSK0Mcc2PRxsbEfbwT4gSEFCgW+TEM5pRzlDLiJDhlXC43Wlox0MHlYH4eY74CuBiHPD0sAs2/U4tlXlNcj3FvD9f/seBJHjIrOrvn7fHyjyUf+w50eXp4hEhZz7pQlkVVLS4drl29HW0MMr2hRMmKDhEpKA46AYPYrx+Jous0hlLISKMRwMw2st5wyVamCiBBIo40LSgu6WrCtkw1XTpkx+KZ/Pnp4pLfVGjx0H43kEB49OW8A6RpCnQ9y8eRN3wXnMm78A1vcRRI6jbFGgoypJp5Ht7o5/QymiERx73HEwpBFrIWKgliAcfMXmDRsR0ZGfcuop0OsmJ8JBjwAIRISkEdbx6moLnbS+wB8/eRLbDbho+dBH+CVsWttZzBOHXu+cwJNSukQXnAggAYvhuNKFhQCrV65AY2MD5h+zAFOmTYNl/0I6f3Uqi19+GYtefBEzmP+ud12HZNKD55EBlw5HYwKNSLsZUa5Q4QSZdAnedt75OIvXXQnq96Xnn0NzQz3AhTJhBcZ6GDR4MEaPGRMvUnqas2LgURd59tvjJMpzoSivqMS0GTPQx134Jp7AHHdW6UQSShOq7o2QZYAx48ajprYODQ2NaD54AEKBPLYr5Cli4UjnUdfjxk+A9T2s5InJQHj6CKgDB0MaYyz75WPUmFEwPNGsXbsWERcQq/mETkCVO5XJ8ApuOBx5t/Dl4u7dewEYRGxTRCDC8aFOHMGC4kdA3l5cphkSKx9gNqBxvPYYyuroyINCHl2dnVjFsVmyZDE2bNiATl4J6kakk/lBvoCenm5ke3rQR2jYeuAgmvbvx9oVK7Fy6VJs3bgJPTFtrqgT9iPgeIvELbNRbdzFchzKYSRi3yJYzgUgSZ2XFnIoL/SigqeAsrAPetLI0LGWhF3IRJ1IRx0EQ+aliRIuFIoUd/QebeT/o+4/4C0rqrx/+Fu19z7h5r63c6abHLubJkrOOQqKKAoi5qyYFVEUDCjm8KhjAgQByZlu6JxzzuF2ujmfsPeu91enwXFmxHnm/1HmeXefdap2hVWrVq1UVffetn4kHamkJlJOukiEEw2B1jArY5SXA8snBeEokY+LVMkpVOm9SkdmVUkf1QKfz+m4KivcGVcgk5aw6p+akET6nZqscIcEJsXX57XzqUr7qdGRWW15gJq4UKHb0/5XULmvqy0X1G4/5OREIq2lVbSOaHYEWiODp9WPmVP4XiWo1u6t2tPoaRPkdXxV7XkjqPH4NIdqraF3eDlF+BElIKEsZhQqNAuvOG8lJ0bjie2SIoNxaiU98T8E0qfjcv+Tj/39AwwIvDx42RcinP4lkpNioUhhoFA5eSjoxMKDbzugvAd/nN7X3yc9KauN5EBr6/trUhrdz86QlhLdcybs2apj4oGsVqdKvlSEOr9WGknBQFVNhLUxxiSynSoXn21gMZIpkxhCp/o0R9bU8Jc/Py7ntE86EffX1lc/elBT0879Y/5zv+0/F91+bCNH1m6tyuX/ELh9unqDAAAQAElEQVSwNem3LFuwkb42JFT1pDqmyod5AmNJpBjewAaykkEkJsogGmuwVsYg9ozNYOMcQVLD+pXNFPtcT2SDh3Y0bz/IBObQ2vp6Dph4ME7C4AykEoQg8H2TilHcvn0bo3RZNmLsaEpyGC4I1dYQWEssI9khZd+2ZTNDhg3nsCOOJDWm4nBSIXOppChO6fcX09q9jB03luOPP179LQ6DMaJXwgMpiQz9k08/pZyixBNP1CVpAxqkQg9qHQhkJdm9q5mFC+czQZd0hx1+GKmcVRgElTQKQ1Lh6+7qYIEcTkYG9LwLLiBTlVO9BCaM2LhqNY8++CB5GeDr3noNhxwiYxyg+jJGEY+VoTAyBoGETKUY9GiuYgsjR4zkQx94P1MnHUN7y17ducymt7NdZCWacyqBrOKQQw8lEv+WLFogXvdhZBw8fT4axFiCbMShR4lPmo/fGbXt20dZRjQSX40RP5wfFTm4DIcddhgd7f6oS07L+Arn/Rx+jTxrvUMZqrunEbqjWqPLev9DC6ENxbaACu9FfaA5j9bOpEr3RZsV3Xd1dqLQikDTCozaCW0kZzbhwIPxP35aFC3rNmwg1rp53hq1NGpnjMEYg3/URXlLJpMhCALljWbja9B8Bex/jBIPaI2c+LB3zx4WL1yA35GVJTtGff1xRpTPUT9oEA2CpqZGBg2qZ4Kc8qEHH8QYyV4+E+FkEP3vA23WndtCXW53trXL8DpS0Rlp3dECeRbhKVHG06jh/ZtkysrkBTrikXyYwBfLUCSCmMAIVGuUIuPof2DF2ZLaDGApYlUemIRAbSJhCjUXbywdVriFTwYnlanyDqAYZGVYVaY6IdBHpkFrjnrrBZEFMlg+MjbqbfBPqq9Ec0kIJHfq4UfBmQiPM5FTEYP1ea1dqnaGUK+R5hwoDURTIIEIpJ/Bq3kfUYdyHB6CxKq91RgBiFZHqNTiafBzCXAVii0pVnO12rEE4kVALHtTJiO9yAivd0iV8RxYtVXMS6pJxXorm/3ztsIsdP5b44ExBic6d+3axSuvvMwL2m3OnDmL6dNfZrp2oy8rfeWVVxS4Fitt/V8Ufvihh3jwgQe47957uVfwxz/+kT/+4Q/84fd/4Pe//z333a/8H36n/B90kvEXtm9vlohpDhrLaKxEslWdqZHdy7B5zR56W1NMKUfkqjAui9ik9iWqchGQ6t2R0anBfr0yIL5FJqv21dhSFetWbOOpx55DIpCGgVkzZtTIR56aO/effsQlYsRJ//1PhunTpxeOP37yQwM9A89bwvLmNW2sXSzD01slYcrr/iMhlMAZKYfkSMwxOMQIMTRVdJ6qsFKfhGJkFfu297FvR7fLhDXLhgwbNWNvy66319fXhCN0L1E/aLCOkwyJ+kQyPk4K6mSUly5dqrKEQ2TUIh29yDdhZADUjDDIoE5skpPwZ91HH3MMuVwOayWazoqSQIwRqPFuXVy3t7Zyxuln4n9RzjsljCGQAbWBxUlQly9fxjbdNQwZOpTJxx5LqvrQL7DqpH/CBdbAXx7+M6mi66lTp1Z+3NefvxpjhM7Tn+KPlPwuaKXwHTtlCkfpsj/ZLz1sWLWG3/zsF5S6e7nykks475yzKjRjIDCQ0QCRtv+hLiBDH4FSVrkEUbxAQmpkEA86cAJfv+3LHDB6NGsU6S+evwAxSayQSoneCRMn4v8Q3eZNGyq/eInmHwSBnGWCn0BqYPCwodotHUZPRyfbZOBjRW2+DXLAGIsRTwo6QjzwoIPI5rOsW7saJ4XWlye1Uu+M5gs0DG7af0RZKrFKkb7QV/hjHQgT3rkOamqq3J106Khr6+ZNUnJXqYvE/1RnBEZjjhw5miiXF7lG90mbK/cnvjwV/d4YpFoHn2pINLQSQxRllDe8Vq7Cv/sxxsgptld2T/6vBHgZy2aiCk3Hn3QyJ7zpFKYcfxxHHH0UR0+axFVXX80HPvABPvzhD/PFz32OWz/1KS675GJq5RCtRvA/mbZ86TL8fZcmSDaK9vNXdWjePvHgs0YZbwANRjkZaKQPJsAbQiRYfj0SHyxUOKImWmeLIXAGq8ogtQSK6CPJtIeMyiNBoDqrslBppKUNVJZqnqkfRjLkV8fIGKNH7MUYI9CLPspiKuNpJBku39cb6qz6eflTqcaGQHVWY9jEKBhEDkGp6DHqjR5DKiweYgI5PSNHsB/SChucBvJgRYB16lWBQL0DUB3+UerEj8QGpD7Vux/cCF9oyjrRKMmZCBRkhQKrORlTwnhHK8hITzIqz4hvgQDjcAKkK8YYP0IFvG3IKPjIZnMVHfXyZIOA6prqSr0RxkR6bZUO9PdrFxHT3dWN37F68HefnV2ddHV10N7eSk9PV6Vfle4zq6trCSTLFT0XLVkFirGCorRo6WuPmTt9BVFcLf5V4crhftvlaRWNGdGAeOqUD5QPggjrQhIF7OlAFV37EqY/u4DulgKhibqNM7869NCjFpiKAFVI+Kd+2X8qtr9B9tBDD+0ZN3bcPSaO5uXDhnjNsn0sX7ANk1RVJuwNqSVUPgtiAAQYCY6WE88cnIE4EuSZNX0ZJq3pi0vBNBeXR9fW1RxeSkqMGT+BMFNNPl8rHBIVHRmoM60trWzcuIlqKfABEw8gjCIiGctYjgoMqY5s/Pn1xjVrGTl8OBMmTKCvMABWNNgQY5RqwZJimc26VK+SEJ126qmViDcQLmeM6JHQy0iVZTgXLlxE/0A/F1x0AVV1NSCDGmsMP5ZQoubs1nHHKy+/IicymKnHHksQSDBEU4IjReRrPC90jz76qKLbQZx44vGEoaVYKtDd2cFTf3mE3Vu3c6h2NTfd8A4aG+rUKdERU1GR0QB9Et7dcmjL5s9m+6ZV7N6xkY6W3bi0pPlq5yKBy4j2Iw49jI9/5CMMURQ9f94cVujs30YhRR0B5LULOvFk7b7kgPyfjakItbxwVvcRnnVOk0lE54knnyi8KVs3bSYVzytbfYfmaUAmwitebV0948eNZ+vWreyUQw7EEzWpGM6MnHtBxw5+3MOOOEL+LGHVypX4IwLrmSUsgU8NZOSQDjvyCM3VsX7despaEyNETgRZaypj5qry+B/BLBRL7GjeRad4kdOdlUchVJU2PnWiHXwf8Duuyrsz/KPH70K2i68FGYnIBvgxDzzwIPxPmmVlTPz6lT1vxbsjjj6S4086kdr6Ooxoy2RDhg4dzEUXXsB1b7mGIY2DJO/gj1fXyHkGJqDf49Xu5PWoMJIOKwHRlMHqTS8+ok6sQ3Yab0wRXUbzeM1JIEOOdMtVdCoU70JMBYGymqzPehypcDmbYEy6v1T8CeQUAu0yQs0p9GOrJsAIExhj+PcnELJAeK3IclhikEPwE0wD0SbcqUWP8UWY1Pe1+LG9wRa5OLV3audMChorISH1hAqcUVuB72VUb9QOtRci0aH2wm1MpVZ9jXCpQDn/kQ/Tu8eoN/HMYUiEK7Eh/m/axcIPqehy6NqBXGo0P4MxArVH4DygVgb80fUZZ53JOeefxznnnssll17C+Recz2mnncbpgpzkOZAxH6td9Dve8Q5uvOlGPiId++hHPsrHP/ZxPvHxT/Cpj3+ST37ik3z605/mgx/6IDfd9G4uu/QyhgweSlnH7la8j3RcXdYRZoBd62IzI0yrB1p29rBq0UYGuhIim8fbLiP61UasCAg9nS4m1tFdQUdsyJYG2sWU+jIsmr1eJytonrmiTisf+9h7PvDwL37xi7Km9S/52H8JViE1mvGb3/zmxYdMPOLTNqma6wpV8cpFW5g9bTGdLf3ytDkoy1kkWTFF+VSiW5ERQ2BCbJohLUTMnr6I3q6yjIiZ0VA36KWOnu5LjbXVdTpWGC8nYIylrN2IWEZoA5wM4aJFiyjqzmTigYq0hw2RIEm4cUhmwEjw5ARWr1xFj4zOxIkHUl1TQxhlSGSgDHpUb5ylXccRfsdx7JRjaWhsREWkOBlSBxVtgN27d+MNwyhF+6d4h6O+icBXCxNOSukd18vTpsvolzj22CmMGjUaKgMJDw6RhDdSL7/8Mtt37MCPd6DoiuRwin0DPPbwX1i5ZBlHHHIon/30Z5ggIx2FAYkkZEBRzsvPP80Pv3MHd331c/zgzi/zrdtu5dtf/Qz33PUVfv+rH2sXslBj90sQyzrei7nwggt577vfw5BBjTz//DOsWLlCPIxFq9PR2SF4pdii47/m5p0kicrRIyJTJf5tpObqj588rXt1t6NiAjkLH7H5eVeMaybL+AMO0A4gYsnixVTuBjRXP89YUVyouTkp0KhRI7XjG0qrdn9bt27R2lutYUrq18IGeOc1XEdhI8aMpkXHapXxVOfEV5mxCs3GWA4/6iitDYr8OhVMtBGFkerAWosxxpNYAau8Qf+sIX1156LFREX858eIvlbtiLq6ujDG49E4hx/B8JEjsMKP5oDWwe98DznsUA7XfVLsd2EWbGA0W8gqYIgyIcdOPZabb7pJxxM5rHHsE9+2b9sqvmmOktn9Y5v9yavffvxAeetnpiovv6l1eCPtQSdAeFATjBgfqIEHYwK1CVUXycRbYs05Vv9YBjkJEspBStnG+D9vH+vO0v/JIkyCH8cbtVB8CSr8ddphOHyZp8VqDOOVACHzg6qHU5qaFI83CWNKYUng04RY48QhpNbiTCjwqUFkklb6uUrqHWNslRdaX+fnVKkX/tRoBJOqbwJGdlA7C4hFgQe1Uh+nN/QIRYVeCKTzWWKbpWQylIKIsqAUBJRtRKw0EY+cseJbgNHuzTiLE588oFTocPqXSpetDbBBQCxd8IFTWacFscrByG5EFTlKxTMHWm+tr+ZrBUFgCb18hCGB0kA4bGjxwZQBrA3xuhCo3qpt7AMsAwp0mkcPG/XBiOzLQZqP581awfJFGyj1QWS0OyLCi5l3QiJRtjHRGoVk5GwoZ9ixuY0Xn1zAtg1tlAu2UOhPnj3uqOO+8unbbtunYf9lH/svwyzEt912Wzpz5rT5jQ1Nn60Oqp4Ii9m+zcv2Mufpdayb00a6r55ssYkgzmlrWFSPBCdJypSaaNngmPv0RvZu6qPcE7cOHTb0p509XbUl504cSAjGTDiInC6wUyRkAmstLk2kpLvwZ9PemBx22JFamAw4gzc+kGJMIgNZYO682eSrqpl40CFkdImrwbGqjxSZhcIXSjI3yqCmQcDRugi3Mgip8BsZGKP6RJd+FqeIehV7du3hrLPOpqa+Hifhd+orZMKm8SSke3btZdGCxdTVNvCmN52KlfAkqk1Ei5OiGK1Cq4zpk08+SS6b1d3MVAbV1VHUfc0T9/+ZeTNmMWbUGD6rY5PjTjgeTUIRRwczn3uMH3z9k8x66lcMiZq57E3D+OA1J/Dui47hylNGc8TIAVo3v8hvfvxlfv7DO3Wst5pMJkcuX8O1b7mWq6++jMAU5bCfZ/3KZSQS5lBGcoocXn9/L+tWr5RyilKVpzIuXvkSERvkzyxezwAAEABJREFU8xx46CH0aTe2es1qCbGRLdKiaO5JUhZ94oyM6cgxY2gaMpT1a9brAnAP0iMM4KSIgZTbBlIyOZ3DjzwKp/ING9ZXdlpaLclDjG8ca9yqmhqOPOIoXV736vhtG4mOATQCTmvljDBqjUaIP7UNjRQU5e2/hBcWjxSk7ClePowWxYN3ZJEUORCNRmvpx0m8MfC4hA5R49c5VpTYvGO7FN7PyTBOx4D1QwYzoPpYa5ZqDVPRN1THm2M0VxkBxAKhS0Hr6uvLojFRe28wxxwwliuvvoK85Nao1fYtW0i10wqUN85QeZTqA54WNIfYiOoA3yZIDUESyXBEVNpLzlKPWy1SE+E0JwJxxr4GmkmgFkGsOvFT9BrhDHw7RbCpBtIHZxxaQJz+pbpHcSi4MyGpSUhtSaXl/eNJllONZfDfZaxJMRVQd7U3olIFgMUo7/UgVdtU9Hg9SqzosQ4hq4Af1qql9e01XydIURuNqCKh0ZtRgcqdCbAaI5IXtSpyAuPxCklZ6+itgFOQYVJH6IRR83NkSWxEUumfiqKYUP0C/617hUSGObYZ4goeoxoPYPTPCjwZxhgS/89AmM0Q5MRn5dGYRrxOFAg4vXs58I4vkTygctTPgwN8eerbqCx1AVbzQO9OsmEV1FhrJaMOo3UJo1DyVhp62mknra3J578TuWBGmNayZUUr855cR+emCNszlDTO4rSTIYBEu5DcwHC6NmVY+OxWZj+zho7tA1SbfE+Y8ucx48be9vS0p7eJlH/px/5LsQu5kbQdffhBc0cNafxK0h8/kU8HFctteZZP3870h5exZl4zXXvkSCQkRoIw0FlixlMrmP3Uejq2WQZa6Sr2ln90+QVXzQgjO1UMH23DLAfImQSROGlifGK1iEZGaqvO+9t0wXywjiKGDhmulbSvyq4jo+23/3n19evW0Lx9O0OHDWOool4dveMFMXQOZEAyWmh/l7JMdxdNMh4+ClcNmTCUoEpYrdOYRmfzvcyfO5+mxiEcf+wJZKOM2mix1T9V6JANI1w5ZemCJTp22sOUY6cyevRY9tOdii4nw+BkUEosnDOv8tveQ5uGMnXyVLp1ef3rn/2cGS++KLotN737Jt502ilI7uho3cWvf/5dfv2jOxjbUObKMw/i/OOHcsjQAYZl2hhT08UhQ4qcfmQ9bz7nIM6aOpy9G2fzpU/ewtKFs0lLAzomq+fd73onJxw7hc5dzcx9eRpb1q/Hadfgd0XDZSBXr1iuo7K9RBbNy5IkMX4HV9Q9ydjx4/GXzqtXrdT9SYfmWZKKGrWLwGrhRWjTkCGMGzeOns4u/O/gBOJvIA21AmkPxljxwHD4YYcTBgHNO3bSo11ARvl6b3DFdBuEcoBZDjnowAqvdm7dJhoTDeGQbGE0lI/u/C93jtVYJTmT5ctWssf/Zr3WS9VY0ZJI6U2lNQTWYo2p0CsCVOrkmBBVSn0H5SS2lAYG6OnsJNWRZSaXYdDgIZSNxRufsmQtjstkoohRI4ZTV1MtusQfSwUfksfXMHoD4w2Ok+GbdOxkBTATfSO6Oroqu61IczSoo3oi8G3RoxkShBkZI0h1rOtxhiYktBmsCfDvqUtk6hzeYCbCn5JoSurpx9fRR+pKYnVJTWNBKjzqlhj1F54gixGeROsaa5frbICJqjBBntiEiuITQZnElJFqkqaWFIMzGgOtgfRASyWEjjQ2oPoQSzbMSWYirVeKBpXcpJSJSY3GF40Ih5Do289Z4CzWqn0QqkpjODRWgnPqr1ZONDpj1cVilCJIrSFJE4+VJIAgCslkQ0xgNH8UBPm+QmRQP9EqCkLxwmqeSMYNATbI4AJLKrsgGw/CibpYjP6hjq6SWsmLU0XZ9xN+q6jIBhYnGQglY8YYfBoEgXBa0e7wuIz6oTonwOMWJLEwOUOg/hjx0aJ8oLk4Ukwl7e3tDkeOHJmMHTvy5YMnHvz5cq/Z6Lqzbu/6PmY+tpaVc/dJdhK1hVinMj26G5n/zAamPbiMjQu0Kx9opIq6jnJ/+ZdDGxtuv/bKS5YZY0QU/9JHU/mX4q8gf/DBB5PFixcv/+E9P3y3dOKjnS3dKyJX09fdWnJzX17Kk3+ZRn9Xqs1bre4odrNh9U6KPS7tae9rqcpU3Xnv7/7tW6+88tgIk6Tn2tRlB+t4ZtTwoRgtbqpzQlcooINHOvftrUTTGQPHHH4YddksRobP6lzfKk36B+jc28rKZcsqyn/wgQdSo7N1pzorYxNIY5zSuFRgy6b1Muht+DYNdbUkOjYr9veRytm4YknGM2aVLlJ3ySlN1vFGbT5XMapl38bTpDbF3t4KTcuXLMbpXPPiiy+Q4BgGuruxJSlLf5Gw7Ni3tZmZz0+XAGQ478xzWSFj+MUvfYUZ82dSM6SWz37pM1xx5cWU+9tYNOcZPvfxt7Nz/ct89OYLOfe0A2mqiQnjbnJRTLYKgmwqVRFPCm3UqPzY8Q3cfMXJXPqmCXzpQ2/mW1/+MLs3rmakjONP7/4p55xyNoW2Xl568nnWLVtDJO08dOKhFLr7Wb5wKXHvAElvH9owE5SKZI2hUTung3R/U9buZMXiRWSlHP7HpxEvU83dg1P+0IMOpjqfZ5na7Nu1U2tWIpARcLp0T/26ySDX6b5h3OjhdLftY9e2zRR6enSv0F1ZU4/H832ELv7HjBzBji2b2bphA1ZRqBMtie6sUkFk4MDx48nKqGxRxO/vsVKtZywZMcZgvWKjxwn0UZG+93/k4zBGCPa/Kr8/43+MM5XB8DVDxauaqmrCICC0IZGx5MJIc8sxdPBgGU5IZZQtRnZDbUxIZIMKBIFMrN4DGZ468e1oHcl5PIlkbc+ePfiUv31Eo5Px8kda3baf/qhIonVNs4mujQcoxH0kMoyBSQnDhEhHV6EHhaGBTZHUk5fBygoyMtQZ0eodVih6A9HvZKSd+iYmpiwT5mQgsz7qDqzeE4qiK/ZMEd1CjgejfiYKMJqDB6f3NI1BuPC80xgGKx6kcsJFytIXq7qs+kRSyDBIUTXOBCQmJJXzqIDyCYHu7BxlOblU9c6GamfxHVLhTawh1rxi7bBizbNyfCZHhugNgxAkC4VCPwOSA+9Qk6BMYiX/toijgNGs7KuQl8PJBGC8gxQ3E9dP6nrVrkzl0VxcJaMv8cB5GZI8+/X2ICJJtZtM/F8sVhPr22v8RHKWKuhwAl+WyuZUysRLJxlyaqNB8Jf5ifJervxaJJKZRG1C8TXU+mR10a+ATZPCTp8+PZ41a9bc88684C11VU1PUsr0FXtwi3TsNUfH/ybJEZkqNqzcVvnL66acc1WZQf2tezrmjx878eO/+NkvPrdmzZoN/oRIpP7LP37F/uWDvDbADTfc0PeTn/zoNyccd+q7ioXkTptGL9VXD9kepbneLHUulMbkTJ1zhbAjE+TnREHwtQMOGP3ra6+9dqCpYdgYXQiPtM6ZRIL68gsv8ewTjzPnlZeZ9txzvPjU07z07LO079lLXkcoa5av4HmVPf/UU0x7WnVPPcP0Z55h5ksv4n+JzCuB/+mgpx9/TP2e4fmnn+GFp9VWOF5Q2zmvzCBWZLp900bdWTwseISnH3uMpx99TM7vUR758wOV1P9U0045lD/f/6fK+8N/eoDHH3m40u5hld3/+z+wcc0aUh3/THvpBe79/W/5y58f5JEHHuSphx/jT7/5A/f/5o+6XN+BldAtldH9+S9+Tmd/NxMPGc+tn/koZ51xEru3r+XeX/2AX9/zNaYeMpS3XHwyQ+REkv592HhA0ZgjTS1FBSADilZjCXkghQ1cSiTjU0Unpxw7lg+/51L2blvCN792q+ZwHwUdZ332E7dyxsmnUeoviA/P8uJzL7B39z4CE7Fq2XJefPppZmuHNPN58fmJxyr8nDFtGq3NuwkUGS2dv0B3YdNZMGsmc15+RbusOSyeP0/pXLaKf1kpSo92WrOmT+OVF57n5RdeYOa0F3j5+Wd55cXnmffKK6SFAWLBSt2vLJwzU05zNvNmzBDMZNHcuSyYPRvnFVQGY9G8OVqrp9VfeF56Sbj2y8KmdWuRZaavr49Zap86R6ixYyk6rz6vGQpjLM6AUxtf5d996t+tKlRFt5x+YK34YKmrrsUbBeMjS9Hhg44QR0b1VVHG20lC4QyMespYICPkUXswPq+1VXM8LWPHjqv8kIUfr0s7sdS3V6XB+CLBfiqNyqIwUGkiJ1zEyvBEGikX5MiYLLLK4r/FyAib1Ig+zUdpKjlIFRC4NMC5gMSFxIJE+VTOxYpm62Tc5ciNHII3koF4ZOT8jXMEGjOQkfZN0lhyFYPnpUvAg+yl8IpW6VmMxjAZTJgDE2jnbsgFVjqovOYVyxAnkpHKMaJwo8dKRo0HzU9U4/O5TEgYGKxJCTyglER5J9kGo3ej9tJ+vCM0QCLa0FxDyXkmU0WQyZMoX1ZlbJ0ckMNprp4uNH+IdJeaaC62Qr/RZDJyclmBz4t1GkV9hFsosBrVQ39PLzu3bWfX9p00K23ZtZuWXXvYvXMXzdt3iD6nYMJQGiiwbfNWdmr3vFUBzeaNm1iv3f661WtZu3oNa1et1rH4Svw97A7dje7duxfvVIwxSh3+91CM6PW8FgmhoPJ5+OE/LT5owsEfNS64U8H1wsjmu2uyDYkrBmRNNWnRxNkg10JqZvV3933rrDPPuemCC2b+XnazxBv42DdwrMpQfoIvvfTs4tu/8pVvH3zgUbekJfOhMSPH3+1iuz1wUSpYMmb42NvHDR/7kbe97dpfzJ49e5/vmM9nh0rR66Mw1A6gkzXLl7JqyZKKAVswcwaL585h01oZEylFrIjVOxP/y32L58xl4WwZNxmXBbNms1q7ibKcBIoGNqxfx9zZs1g0bx7zlc6dObNitBbNm8s+XT57Q7FWF/V/efBB7v3d73jwvvv4o9L7fq/8H+9j49o1oCh79YoVPPHoo5X6h/70Jx78wx+5X+3+8uCfmTl9uoxkQe1inpLze0S4Hnngzzz4x/t5+IGH+MufH2HZwoWU+3oxSYnFi+YqwurlqjdfwZ3f+CbHHnMMTz7yZ7535+00b1rFJeeeymnHTWZQlZTHWSlbtVROYBsYoI5ioNTWU7CD5FgaKbk6SiZH6o2DjZlw0AiuvuZCRo1u0lz+jS989nOsWLGUK6+4lCMPO4REvFu2bKnKVuGkTP4/n1og3s2XYV8ox73U83OG59McKdZWGbiEQncP057f7ySmyeFMl3N/Xo75peee4RUZ+6J2a4FxrNWx2eyXpzNr2kvMk7OeIycya/pLzJ4xXc5yu3YsKX7nMVP1Lz33LB68s5nmHbwCgeYd28gElu3anSzwazVrFjNfmsacGa9U1m+djtysrIDkhE2bNpHI6iVaZysFNcbgy9GsKu+BBZXpA6iTMi514qfaqY3PF7STDW1AqP5eprrbOujXrqm/q5sBOYH+7i66Wlq1m17PBgUMG+BgN6sAABAASURBVCR/qxTErJXRWFOBNaxZtYbVgrWC5XLMyyR/m0VbKDk2xuCdSSyZxT/Gf4lCp1RgRFcog5mPZaATq6AgwKSRguMMpSRPSi2xqaFsqynaKgpBtaCGPqV9YV5pnn4dWXkYsHmKckJpkAHhDTTXrJxmFkuYOK0jIGeQyhiXCCU3IWWTEe4cZfVL1D/2qQebo2iz9AsGhL8oGHCRdkwgojByUoEcn9U4xoYy8B5PXnIo2sXPssYpG6v31wCK4nlJzkZTJRW/Ey1kYozQGXBWsmEEDh8cBZ43LlBxVk5SkGYpkaMoB1sQnYWgCj/fAdE54N9NnoJ4VBCvikGN5lNDjPololBz97wwGtulKf5x/svTrvFl5dmyeQsLFyxgnoKaObIh/u/vzZVOzJ45C/8Lt6ViSa1h3+49PC9ZvU924kEFlffffz/333sf9/3xjxW494/38off/56HH34Y/1Ob0xSQ+d9h8XLph4qiCGM0X83YHw9XyHj164UXntz8lS995ttDmoa8b+IBE79BYp7L2KjfyDcOqmt4orGu8fP1tUNu+cRVH7rr2WcfX3XbbWb/ZF7t/0Yk9o0Y5O+N8ZGPfKQ4c+YLm2+55Z1Pnnvu6T/ORuHiTGjK+Sh85uOfet/P5ix8ZckPf/jD4mt9s1U1C6pr8n8o9PfNKRULKwZ6e1f0dnUuLff1LY/7+/uzfhEkwLEE2aUJgaKcrBQ21NoEEslIwprBKDYxZINAOUes9lbtQvU1OoaKJMCZUHXq76TgTvXeeGXU3jsWH2X5oxsrRTSCVIbK91U3olf7WRHswd+/uLiEx+fxlHX0VZXNk1W7RBGg1Zi9/QN4QYrlRKIgpibrMOVuhg+ulorH/P43f+LdN3yU737nJ6zfsJ2Wjn5mL1zLb//0Ar+6fwa/vG8+v3hgKT++fzE/e2g5v3hoCT/7wxx+/acl/PqB5fzsT8v4ieBnDy7lJw/O46cPvMxP732Gx56fy56WPgb6Uxny2Xz7G7fz7TtvY0/zJgJbplQewISGWMrlRGcuK85pZ5WVkhtF5ZFDSg2h9bwSH4tF8RVMkojuVOUGr5yI59ZAEFgKfX2k4qmV0mbCUO1MxXBn5OSEpdInEb8Cjef7lrX7zIRW7ZyiPkeVP7IUz5NyqfLu2wUupRIFC18k45Rq7ctyhlkdOU7UEaYWGSuarTKJxubVxxiDDQL8o6mgaoxw+3GtsSJbpaKzXCr5KlI5pR3bdrBm5QqWLlrIUjn/lUuW6i5sIS9rx/Zvv/olv/jxT/jpj3/ML376E37585/xi5/9jJ//9KeCn6vsF/xS91+/+dVv+N3vflv5pTb/F5M9X/wfyfQOT8PhH2NMZcxKXl/GBQQyfE4X70WXoTeqpT3bwJ7MIJqzjWzPNLAlqmejh1CpYFNUzeawii1yKNuUNmdq2Jutp1WGtdtkSazAaRztHDLisNX7QLaG1kwtu9R3V7ZWuOvZYWvYGdSyU2N6aFbaHNax81VoVv0ewV6q6MnVYWoacOJrEIVUdgbKF7PVdEY1tIWC3GB2mga2C7bRwFbq2Wpq2aZ0m6lnp21gd9AoaGCXraclaqQ3qpNTi0AOxcuOwSgfyZbmKGfq6LHVdIueLrXbZ6rZh8DUs9c0VGAPg9htGoWvSdBIS2YI+0yd+jQQZwW2Sv7CbwIMiPfoUU7fr34Cy4SJEznppJM59bTTOPPsszj11FM546yz8P9B3nHHHUc+p12ZRGa4jmHPu/AC3vrWt1bg+re9Df+jwu9617u48cabKveeN7/7Zq655hquuuoqzj77bEboztYYP6IRHWnFHoTW0tHR4QtfJWJ/4m3mwoVzlrz1rVf9oGFQ3TcsbBDlhZHDR97z1eu++LsNGxavue3fbivsb/3Gf4ueN37Qvx3xtttuS9vb2wfKcSGRXTH56qB84403Fowx7m/bPfjgH9Y99PCDn/zhN39w8Z3f+sY537vju2ffc893z/74xz9xTTYTzUllSKq0qCO1oOMnTGD4qJGMnzCeUWNGM15n6b68vl4CryXKyjj6X74bNXYMw3R56n88dcK48YwdMwafnzhhIh4mTDiAsWPH4n9a58CDDqrgmiDco0ePrrSdKCEbo0tfj9//NM844Rg/Ziyjho1gwgETGDt6Pz5ff8iBBzOorp5hQ4YxetQoGnUG36TLfSODmQ0doY6iSq17qU/7aVmzkgd/fA/P/PbfaF29Cqe7oK1L1/DSo9N49L7nePyhmTz20Bz+/Kd5PPTAfJ58YgkP/Gkuf3l4EY8/vJwn/rxQR1hzFAHN4pHH5vDQ4/N5RG2efHoZTz++WG2m8cJfnqZ59QpyhS5C3cWUWnYw0LKNsNRNfU5ikZYJdN7tf2mwuirHUNFaX1fHEN0PNDQ20dAwiLr6egY1NTJ46GA8b+v17tv4/9+hrq6GJtXV1tZSpcv0EZrzUM29oX4Qvqy2pobGQY3U1NRRW1NLte4jhg4ZWjn+qVeb4cOHU6WyOtU1Ng7CnzUPGT6E4Vqv4cOHiY5G8nIwURjgHUhdbTVXXnk5b73uWt52/dt433vfSyBjVnHWciShzqO9PBkMVh7OGuWs5ql3Xn18W2MN3rD7vEsSnJxMYC0+GEhKZYwMcC6KiNQ/kkHOZyJcKcbJ4aDgQ1jZ3y9VmpKqvZNTTgVlOUJXTvCS7Wnzw3pHUlZw4fOvga83/kUG1JChnIYyzhFpzSBawixPrd/G95+fyTeeeIk7Hn+Rrz3+PF97TPDoC9z+6PN89fEXBM9yx2NPc+fjz/HdJ1/iB0+/yJ8XrGBVaxf9UQYnHUhsoAjdUDARHVE9L27aww+fn8XXH36eOx97ie8+9TLfenwa31T+m4+9yF1K71R656MvqV7vf3mOO//8FD8U/hdWb2afdlFFGd+SSSmSUMhk2a2txrOrt3C36Lrtvif4xsPTuOOhaXz9zy/xtT+/yNceEDwoUHr7n57jq/eLbtX99IVFPLKqmWWtA/QGEWXhdVicXGtiMhTkBHaULI8tXcv3HnmGux58ku/95QW+9eAzfPPeJ7nj3qeUPs0d9z3F1+97mtuVfvX+p/jmn5/h58/O4eUNu2iRgy7IkcYmBBPw18eBllYzcChLTX1txZ4MGtzECNmTxmFDpL9N1DcNwtuGkuRLS1X5FYMDDjiAMbIr45UeIFvhbcR43S0eIFvi68apfJR0wUNTUxPGmMqwqQJYY4zkJcFoXaqrq/dXVGr//csY4z7xiU8MDKqp7TYulnTGQWhLndd+9drSv7f638nZ/51h/+OoupQMspmwuhQXwsSUtbL/sf61t6lTp5av/8D1He9///v33fSRm1puvvnm9ksuOW9vqdTfExhDWQ6lrbOTvS0tdHZ3s3Pvblo62hSF79W7lGigj1TRbL8i6Z6+Plra2ujRJfm+1n20dbbT0t6qvvtU3sIu9fV49uxroVttd+zaRXtXF7tbfH0bcoDs0zgtba20dLSzSwa/TWmLcHb1dLNbF6sdOgZpbW9nn8r2trTR31ukT+ev7R0ddPV109HTA1K8jEk47ZjDeM+lp/Le80/hA+eexEfPP41PnHc8Hzj1MN532pF87IJJfEhwy7nHcNM5k3jn2VO4UfXvOvt4rj/1WN55xmSuP2USbz/1GK590zFcffIxXHnSMVxywlFcfNyRXDDlUM496iAuPGYClx0znsuPGcNlRw7nssOHcf5Bozj7wFGce+h4zjx8Io2ho0oWze80PE+NDHYsC5tItQoysN4IJdaSiuclKYFTGouvjhSjNoEUHxnlsowrganscGJvTGVYE1ArK0VFYHDGqh7CTI6SztZLHj9OZQbvAKzG9uMixzZQKlKQQe7TMWVJaVk7mVhr7o8HomzIqWecxlnnnsNZihq9c0fUoMeKHqfxvYPwRZoK+1OHMaJBKknlMXjjb/3c1D4WLcYYfL9Bg/Y7tNrqGrxDHTV8BCNkVEYPH6l0GCNHDGPMqNEMHzasEm36iHPkyJGMGjGSkWrrYczIUXgn2ShcxhhiOSCr+TvN1/PLiWcVMvTlx/SQqs6JHh9pdah81tYd/Gb2fKa1djC7p8Ts3hLzBmIWFhyL+2HJgGW+YEEBFupMfU5PmTldBV7a2c7DSzfy+JJVdEUZeq2hnAmI5WR7sGzqczy+cgvTmjuZ05kwqz1mVmvC7I5U4N9LzGgrqqzMTNXN9tBRZmF3yvQdHTy0YBk7BsoURWs5NJQiy0CUZdneDh5cuIaXm3tY0OmY254wT+n8bsOCnoCFvRELe8IKLOrLML8TZrWUeHzdXn41fSm/fG4WW7SDHxDeWJDYQGNEdAV5/jRvCf9nxiJeaG7npb1dTGvpYcbeAY2TskjjzBeNCzpi5naVBSXmdpZ4UW2fXL+VHzz6Isv3tNEv55yEGSQIGBAYjHjDq4/Pe/krSZa9HhS1Q08DS6og0K9XaiCQjBpj8IFBqvWyQYAvx+MRGLXnVfD2J6NL9lgOyBhDoLY+H4Qh/rGaI6S6woqtf389qG2srbJRWCXcBuF7vXZvZLl9Iwf7R2M5tApaSim6+Uft/nNdqVTSeoR5dcUbtKIWqb23h05dLPcUBpT20T3QT48MkK/zbXwk4R1Kn4xTd18v/bo465Cj6C8UlB+gtaOd7v4+Ont66ZSz6ZYz6VR9m5xAZ08P3hH59t5ZdMpxeGfSW+intbOrUtfW0Um3+nXIoXUo7ervp69Y4rX+3RqzWzi9gU10lFJNytGjhnL55CO4+ujDeMvRh3PtUYfw5snjuPrYcVw19SCunHokVxw/iSsFV5xwNFeecCRXnXgobz7pMN5y8pFcd/LRvO3kybz9TVMFx/JOOZgbT5/Mu888lveccRzvPeNNvO/M03n/WWfyARnb9599Bh8451Q+cK7gvNN537mn897zzuTmi87hqBFDqJIxtTJ2/vKxTQ6xVXNv11zbevvYpXuC3a2ttHR2ssenvq6rU85W0N0lx9yJd5h+vh461K+9Ut8lHnTJYbexr72TFo9XODq0Xvt0Qd/e3VPhoa9rFb/3tLapfYece5vGadF6dGvMDrVpp139ylrryo/dVhRWCiwRSiVAzgBSVP7TYzAqEfj2xmKMoaL0lVIr3VcdpvJPRRUnYn1bvQzW7ugA7XD9j02fcNzxXHjhhVx68SVcctFFXHKJ0osv5iLlffnFyv8VLrmIiy9Wm1fLLr/0UvwxSb12eRoeDYIRLRqi8qnQXskZfTsCNTIyZE6XxWVSNurStl0GqD2qor+2kbRpOGnDUNL6IVA/DFc3nKR+BEnjWOJBIykrH9ePZKBmCL26oO4ipE+DxFb80rjaOMgwZugpOvb0lWg3WXrytZSEs1DbxGswUNdEqW5wBcoNQyjWD1XdMHrzg+nWEVZLKaC1t4AxIU4Bhg8EymJuh5xcexLSaqoZqB5Cua5RMEjQIGgUvkaKDUobmpRXmdJ00GD6stV0BhEdMgwdZUcvQ66fAAAQAElEQVRiIxC9TrSnfg5JwLLmFtpz1bTl6mivHkRHzWB664fTnW+qjFWobqJfMFDTRJ941aex+2oa6JTz6DEBbX0DxKLRAoqd8I/xXwINK2lCoLHTFBNY1FTBqN4rgRMV5wFGbUDCQ6ok1ZvXa6fU40idch78u9JUuNSMQGvogwWf96kHn98PJujt7TX783//OwiyUZqaMHVGjuc16v9+2zeq1PPxjRrrdcfp7886Z6w2yYHaeFDyf/nRohiBlzSymRz+T80feMghHCAYe9CBjD1oIuMPOZhR48fSNGwogY4obBgydvwBnHLa6Zx+5lmcfOop1Dc0YKzFb0NPOOkkTn7TqRx+5JFYtW9obOS4E0/iBJ2bHnfCSdrGjiNUedPgoUw94UROPuVUjj3uBJqGDMFHkeMPmMDkY6cyZepxTBY0DhuOM4HGH6b3KSqfyrGqP0hHZ4EkLq+5+r+U2lQcoLGvi2GFXgb3dTKo3EF92kl90kddXKReUXidjp/q04LKexmUdtKYdtCUdNAYd9FY7hb001TuZYjehybCFXcyQuUjSt2MKPYzXE5tmI5VhgnXUEX2w3RfMyIeYKTwD9a4w3R3VKc6I0dcm6/iiCOO5MijjhbfQhJjmHjYYRyr+R5/yilMEU9OPOU0jj3hBGrrGwikpBMmHqj2R3HE0Udz1DHHCCYxWkeFVjwfPHSo5n9chV+ex8cef0KFryN0HJhIdQYPGyZcJ3Kc+D9VuE84+U0cM3kKtTK8Vso8dsIEjjjmaI6ZMpnDjjqCiVrffFUV/ieFYvHQBUGF/3gFFz7ZHfxj9L4/pZKzmkcgfFiDNxfo3cpQ4cAIZDFU7OvA13lF9+1D4fdHUj0KKKy1VGnsCuTzlXxOx6w1Or7L6/3fIUe+Ko9/j9Q/ymQqbb1RCcQTY4wfgv/wGCplqsJpPYxNsCQiK2F3e6ui/gymtoHhEw7i4KMnccSkYzli8rEcJTj66OM4YtIJHHzEFA4+fApHTj6JA484lqC6kYE0YKDsZAQdGkI4HUJKINksKbAqJWVi7SgiHVdOPOooDtS6H6Q1PGTyMRw2eTKHTp6kdFIlPVTrcojGrWocTll3MQV/AV9ICVKDjVMyIj7Qog5o11RIQx3TVVHVOET0HsnBxxzJIZOOEp6jOfRY4Z4yiYOOOYoDj1aZzx99JHXDBlMKLD2S1X4dDaL18cbKgxH1A4WY1p4iRe1QrJzcuCOncODk4zl06skccuwJHCxeHCz6Dpk0hUOO8XCsxpzMqIkHiZYMsXCU4wTrHFY7ZsOrj88I5AIkDu7VQrEpTbWTLFferfr6na6VDHi5wLdUU6fUf3wjYwzWg9oYI4QCYwzGyPloTPR4GdiPI6i09XKmYv8xkhfjM68PoYbyuCzWBvb1271xNf9PEJHN5p3FpGKLFtf+j2fvTGC84fAGa8iQ4YyRMR+lu4wR48cxSmeVI5SfeOhhOvccTWIsff0F6uoaOOjAQzjwoIM56OBDydfUYrTlHyMnc9SkyRx86OFyLBMlQCm5fA1Hq8w7hqOOmcywoSOQjpNXVOT/y9tJU6Zy6BFHUa8ICwLGTziQY6cez7HHncgxchqNw4YxIMNd09Ag43oMU46bKqM6VfgnkCqKQ8Y7UH02LZGXo8ibhIyToEuA1QCTuIrA+51CoAvwUO0zSUyUxoRyLoHefWqVN64kgY0xUhfrygRJQVAkUnmkd19mPfHC70yK8eXlIjk5oGpXJCj3U50NCaUEVhephx5xOCeeeCJDhg0l0jn7WM+fyZM4ctIkjpCxmTTlWM1pElU1NXhHPVKOwfPz4IMO5UDx96BDDmXo8BE693eVNkfKYEw6dgrHTHkNJjNs5EixLaJx6GD8f1B2uIzJIYcfxtEyZEfJqGWrqkk0I4/7kMMOx8MxR09mgviczebwPExkEFJJjgeksMYYvb36UfZvFJX99baS8nce92pZKqVPZHCCV3U10LFQRrzp7u6kVw4F9uPwY6ZSbS+DRm2NMX4IgRO8locqOZlQ8hcIPG4/jDEGK1474DUajfLGFygtaU3JKCpW1FHSmhUlLy6bpaR+Jpsno2O3sDpHkI/QWTFGNOYzWerFs7oqGfBcFdlcnjDMaZwMiQy9Ea8ywh8JV6ijvFDzDE2sGZQp6V+adVQPrqO6qY5cfRWZ+hxRXZZMbYZMTURUux/yVSpTUBUJt5P2looxoQska5ZQTitKZex0n4TkN7CSKclTjRxVtYKDqto6stXVRFVVhOJLRndsmZpqQv8uiDW/ouS7lKaITDR92YaUEA9QKhRRllQhqJGzaahtQAaYbD5HrrqK6tpaagT1ggbJ5iDxqUF6XF9dL91NBODXNgoC4XVaJ3DWkHrQ2GIJ/jGozPNIabWC1awJNEc0R1OhSScjOM1PQkigNiZ1eJyp+nhn4US/E79T6W2iO7dINqaoY/ZYu2pjDMYYfF4Z/vbp7+83f/v+X/MxEhhBqkSM/q8N3vAS+4aP+HcGLBZ3iaVaRpOC0WryP3vE9f1BgQMThCAlj700hKGUKyINDP63tp2UNlBZoAUNowirrbMXVG+IfMSZShBcBQyh2vn3QKlvKx3EK8t+tBmiMCvlw8uQjsYKVIRB+J1RDCnhKUnA/Z1BSULkMESv/jE4ND1j0OPw+QSLN0KhDIYLE0pyAiUZ9VjaY2xEYLJ4AxTh8HcrPo1SS6hozyZZOQOBzQpXBEGAxwVG/wKsiTAmg7Eh4MdxOGlg6g1HBcr4X1wLcoaSKYtPCSU5tMQ6iiQQhQSZjHKOMAwktKJZGFxqMEGEr4s9v/yctXRgUCN9nEgJ8I8xhkyUqbwHkai3UCgWdLwghRauVI1KcoZOo+D5p3rP8ygbYfSeyFjEUkznJ2al2E60lUsUdCTpdySJFibUjsjTJ1T6GHxTZXD651NjRJcyxqhO/SvFPq+MH19Vf/34GVKpQ4n66eP0XlKEHMsAeIPvfx9gn+7LfOpp9Cgx4q8yTsYD9akA+5/XXhP19+fqVvOKbEAqR2WDQLwNxbf9bfd/G/b3N6RqlyDcwp8Id+KMOCU+mohMtkrDBmgDQCx2l3XXlcqZ+DUtU6ICpkjZJJX6VHcZsQ8k9G4oa4xU/Z2wp5InK3o8xyxWsi2xJRZiRyCJkQnX+KlaJsYQi4bUpSovSVqLlEysS3xHQfNPtUZElhIJiU01iugwJbUrkMgx+l5phe8pEiOEqpImwhdr2v7dSIedlSCYEKcxX/uRYY8vDmLxJJHelRWDFclKtzO+VVIkkNzaMCUxqeiJRUOZsgKoVE4pVfCVin9lHSsHksc0CCjGCbHG8VAW3d5OpJqfp8EDeowWoqu1nfWr1rB6yXJWLVnGhpVr9L6a9WvWsnnDRgL1CdSuvbWNuXPm4P+ztFkvz+DladN56YUXeeH553nxuecr6eOPP8a0adOYOXMm8+fPx+9yQ9kYLxca7q+fbDZr/vrydzLGJA5xVylBmopZf6fRG1z0/wQRgzRpaxIbGOdF9h8yUU3/wydJapxxJEaL6WTYvMD4hZFc49OyIiMVS/icIMV4KVFlrCjBSAiN8kYCG1gZL6X4elDfFLRcqYwVylrhN8ZibYCTcTOq8+MZYyrGIBtliTVWoP6hlMEa9VCdNz5OQuwjE6fIUpa2gnd/vfWoidWubKEkZShnAwpZy4DsS4wfKwBNwMgIGClGIMXwW3OcGvj/3yDNk5ClbCLhCUWyEDkByqcCl5HyR8R6TzQ/kYeYIEgq4HSEMqDdSeINgIZKIkO2VkdHoaVfRrvoDaDoD6zF+FQIQox4kOJEl1OZ9FD5FFTu5454ip5AvPITTMsJqXjmXCq+Jog1RJlA0xIOlZlX2/t6o34eEjmYVJ4+kBML1MGXyRppBoYoyFRahTIIgTF48Gvtwb2KyxiDXyNEE/4xINJFmhaO18BXqNy/ah773/SutvvzFhsEKnBYT4fyvmkYRpU/TNnR3UWsfk5jYay6iC/C7Ty8SgdigNMcK6Bya307YdEYvl0UCb96ojqf7KfZ5zwYjAxNLLthXKD5BCSxaHEqJ9BcDD5gSSQbsU0kPynlINVRVaK0RBKWSRWgJDLARRurPqFkEhlQhze4YiZYIwpNBVdks7gkUF78NTksGVwaiLRQaxUqHyKEOMleqloTpTiBH7sovCU5s6J1lOW0KqloKes9sSmxnJpO+DUph9OImgJOk62kfo0c+rbC7WkBJ9lCPPT8LUgWynIQqWQzDtTbJiCcBqVyUFZ1EOMoaT2KJJprrHFjsTrxYyhvNE+M0chGLZG+OMqST+8Ay4HBaV2c3p3aiRQQNqv2yrC7eff+XzpcvZrVK1axZqXS5Svxv1O0fu06YumItzudnZ2s0/vq1WtYtXIVK5YuY+mixSxasJBFCxexWPnVKl8tPOvXr6/88qL/PSOneQYa24/1KhgFS+bV/OskBUlAIvbFEL1Okze42L7B4/3d4YpVVcYZo6NLRxAE/yOaamp8TONkjw0lnftu3rSejRvW4n8beqMWbfPatWxZt5atGzeye8d2klKBrIS9ZU8zyxbNY/mShaxauoSSji2ctp/NO3ewZMkiVi5fyrb1Gyrr1K2L4uVLF7NM5SsWL2Zv807h6adc6Kv0X6265QvnUezqwOruYee2jSxfvoC1q5axbsUS+tr2Euk8utTdIxxewJaycvFStq5ZQ5WMuJXBcInTcZbBkJPiWqxXFpMgrmCMA+PFG5KKMhlSvacqT6UoqRPLZGxQmhrjE6lCymuPkeJTgQCfGrWzqdXx137w7x6kgwSK1vIynEJL0tfPqoUL2bJxC12d3RJe2CMeblyziq3r17B94zqat26s/AJpcaCXRMdlWzdvZsO6DeL/BvXbKL5vYM/O7dg0obujQ8q4gtXLl4v3C1m1bAkrliymfd8+XDmmq7VDdSvwf3plw5rVWgPVL19GaWBAkbNj15YdrFNU6P/Pl/Xr17Fp43pKutsxclSBM2KQw4gVsrqQpngbY1Tu7VJqbYVnyABZHBIBcUR9PGP1/mpjKgZOXHIC/zHO4cGqnUsNFVziREl8at61m4F+RcSKoP04RmtgK/kAozZoBOfBqJ9KjDH+mxSRh0MvGIm7sb7c4XlujVGNDKbG9bQYb+hUkqjct8tpbZz4bA2oGKt5GWEMKKugrKJE9CYE2h1bEet5E6mNx41wOOWL4hdhhDOB7LVotSEiG2ONqJXT0Dy8MTfeUItfVBhpVB8QqIVRmdGY6GLdytkYl4IMuXUxgXD4qtD4llZdE+mb1fqlBA6RYEHjJcbi5+TTVH1Kkn+rMoPBedqVD+S8Y8lNbBKc8hV6E6SThoxxWJWXFVy5TCQHGaASHT85Ksd3CtwC0W2N8Amn0BOLp9brmvhi1drpvjCQawkQv0D8t+JHqBq9qCxV+1R9D9BR+GlnnsFpZ53JaRdewGnnn8dp555dgVPOOA0TWvwc6hrqueyqkTS+aQAAEABJREFUK3jr297KW6+/juvf8XZueNc7ufHdN3PTzTdX0hve+U6uv/56rr32Wi6++OLKT/5Z8aqsgEvD+YEroKMwU8m8zlcoO4H6Gb8i1lr+H3j+nyDC88Eg8+m5ae0/ZCL/6UkSiYmRFFd6OXpksHZv307L7l207t7D3h072be9mZZdzbTt3Uuq4woFUDRv38ZSGcrFCxZUDNpAV4+ECbwxnL9gPgsXLtAWdj2RFKBPjmbxokXMmzeXhfPmKFLZofPZHL293Yo4FjBr1gz8b8T2dXdKeWI2ysjNXzCXWTNnsGD+XHZv2y48KS17d7Nk0VIWLljEQm1xd2zcwGui65U9SgNsmhFYrJTBCJBoyx6San4VQIIrRXImBlPWW7wfpNBGCuBVB7wKpKqPpQopplKnieAfIVIPoxor8KkHm1opuxWdiCaDlcJF6ued8TRt1Vvb2igWByp/12z688/x0nPP8OLTT/LU448yZ8YMeju7MOqzc9tORWwrWbp4OYvma57z5uH/8m7GBlqbLvF8UaX9gtlzWDh3LkvF/93Nu+RUs+zd2cyiOfOYP2M2r7z4EnNnzmLRovkVZ5IPQnZVcK9gxcqVLF+xVHzeQByXtFMR7caA5iN50LeYJktQKRHzUsBZqPBPhYZUHKACqqp8nPGtKll13p+qB3iZ1Ktx+tLHGfFfPZ2gQ7K2T47Qj5loB+t3LInuCvCDeSrU3n+c8qkRKv+isfUKxglUqA96jEatFCnvP6rFt4vlLL1G+N1YIMORakftKUi1C05Em2aON9yB1g8NotMcoQ4qYGV2PXgximWsSuorthBltQNB9KRgNR/vOGTfkZ/Sumu3IdxoV5qxEHrVUiDko2eR6EnCG2mj/qWSqPYyKznxxt0oQrfiA9o9OW21AwJymTypyuQTSCUfifTPH/fppYLrNdmsymZUpLG9IxFuj8O3D+VEjOZlkKZo12T8bjtBbyqRY0hFf0HvZfE8caJKbTMmJFKqDRkmcRrHEsh5ZiPRorkZ0REIrAKObBAR+X6i0YgfiGbje4i3TvqUivnVdbU0DR1C/eBGapuayA+qp35oY+X3TOp0DxrmMoRyaKHm4O9panT/2qh2jUMGM2T4MIaPGMFw3Qv6Hxf3v9c2ePBgBg0ahG/n+Wo0h0wmUxE1YzS6wLPgvwOjHSJy/P9duzeq3r5RA/2jcXK5nNETCP5Rs79blyR1EiNvipECOfISmBpdtNVkqqnN1VSgSgKd1SVhjd5zYZaMoKG6noaaeup0QZfXxZ8JA+mKq1zeDdGFeX2jFru+VjItCTPg3wdLoAYNHkKYydGvc/+CFLS2qZGho0ZJaHTJ7CANQqrr6qlvGkxtYyODhw2nqr4OFwZkavJUSxBrFMHUqqyqtga/jUfPa3M3EmLj3yXgyoJm97dgSPHgnU0FdLsRMiCF6CfSfYe/iA+luYEUPBACK4Wwir7Mq+AdkJMTSm1MbBP8zsYJo4bjNZCFQbqIN1aDpRANmmMmm62U+ehrmOY0fJgUZPgoRo8cw+hRY8hEORQkkstV01DfSNOgwQwbMpwRw0ZRXzeIyhEglqGNgxmhC/lhQ4YyRDxqrG+gKpPR2kEuzNBU38BQKeLghka80jUObqoc5fRr15itytPw6roMEm+rtG7OGAoyfLHmG0mZbRB4o1Qux/EOsXFAACkYAf+Xj/m/aadxZcPYtWc33b09YK2GcRUe/ufuRgXWIS7z74/6/83Lv2f/U64qyJJJLYkcgdO6RlFIldYiDKx2ZWX6egr0dycUeh2lXqvdckTvgKW7oMBqIKG3P6avr0wkb5GX3IeSp8hI7WVk9Y0R36xkIzIomEgJ5BDyItaKp6Ue7Ta1K/Q79kQX3uWBAqW+AsXeIgN9RcriaUlGORaEWtvqbF6mOCQT5AhkpFMZOiu5SKQTgfQtcZJc6Y3Rjt71d5P2dhErAIvllEva/SddXbj+AZL+grA5jPB6h5CT0cx4x+gijPiRkCHI1mBMRGgzWM2pqMv/shx5j2js7RWdmnexL6bUX6LYM0Chs5d+j198jFwg3IbAZBQgpTjRa2yEf4y+PFhj8P+8hY/Fk1S8N6rLaC5KSOX0QvHROwPvHMulEj6o8G2CMPAyiO/r2/4t+H7G+Fbsb6NK3y+Wk1X2r5+6urq/5v9+Jvz34vK/Z/+73L+y3svTvxL//xXuijOxgdbPoPX5v+rzHxoZg1NBrqqGg484nKknnMgxU49j0rFTOVb5KcefwKSpU5l4yCGgaMYbpjETJnDqmWdy5jnncsppp9IogxnKGB0zeRIXXXIxF2oLevyJJ+LLvDE9+7xzuezyy1V+EUccfRRWDmXEmDHqfx7nXngR5114IUNHjMTokvmYKcdy8WVXCC7nrHPPY9S48ZSN46DDDuW8Sy/ikisv56LLL+PoKZNlgCTMBozRF3o0ETWlAmheencClN8PASjvfHs1MqqsgJyGqUCKf2TWlPhvgVA7tcVb1Ao4vLPwkKhO6PDgh9mP11b4mZfxPvmUUzj3vPNoGNRARvyZesLxXHjpJZxz0cWcIx5deMUVvEnb/xoZeVR//JtO5tKrr+b8yy7h3Esu0nwv4UjNM7aGYaNHcvYF53GR6s6/6EIuEQ88Hw489BAZpoTRB4zj5NNPFZzGmeedw5uUP+7EE6jT2N5RHDXpGE494wzOOFtHDGedgf/x4kF+XOH2cynrbN1H3uJoMS6XVrs03aM5pcaIj5UZ8X/3qL0xnjGv39wJXyhZ6tVR4O492vEqyvVGx0iANeZ/6WjM6+Dz5a9ThTNypCmpTKuVEwkzEfW1VTKQ3cT9nezWEeP6lctYq6PCDTo23bxkBRuXLmf98qVs0PHgBh3fbl62jJ06lkw62qmSg6iRHIQ65vL3bn5Yo3fPHT+Xhuoa8oGhp3Uf69R/vXaA63Q3sEZ41wjvmmUrWLNiJWt11Lhe9wbrhL+3ZTdV2r1kZWwb8hkCUSurKooNgeZWW5WjKgjlEBM6dVKwdslS0buUdf4iW/nNy5azecUKNixdylaPU2WrNZc+HatmTEhWUCOeBuIvDpzyJjBEUUB9LkdeEYzr6WSrjkzX6Kh5k/ixRvlVom2tdq/rVyzThflSNqxYzIZlC8WzDUQKwKycaFY7CjIhBSAWM/RB7KjQbkW7f0ftAmsx+id5EgGO0AaVdqloCgLl5fRCyQLSRf/uHYwxBjzwHx8rXK+1cR63+vt339YY9VFzY/anyr7uJyaG/74Zb+Rj38jBXm8sfz4oobZOi/F6bf7b8oqggZHCpVK8IJ/D5rI45Y1Sk82CIA6sInJTKbcSJiuhzEooy1IwRbNklPdGs7q2hqz6laSA3kBVV1cjp4f/0cMwK7xacB+5+92F7xNms5gwkioZrBxKpPcwkyHKig4JWqy5hcLnfy8iUpqrzlOj7bMfV6RjzGuS4XgtJ82R0Pq3fwdf6yTujkBjCWxAYjyEpMKRWqMUgU+tUg+wvx/KCJeMFBrF43DCVenni9XKCYcRDuffla8VjbWKkjw/jBd8zcXPKyP+BNU50kxIWFVFWX1K0kSXDQk0t7CmCg+B2gQ11cRRgBG/AxkXk80QVGWxMj6h0lBlRRJiSWMoBxaozK+N51eUyVQiuJIcRbbC04hIa+ysJadxSoro/PqEoitRtOg0hzRO4r6B/s1Jku7UNPbHbY6/+4jkv1vuC41Rb5/5O2CMpax7kxRDi44A23Vf5lSG+ngaPPhuHsNr4N//A/iK/1DwX1+sZCrB4OUnCg3jRgyWUyhSXe4k7GoG/ydw2ncQtTUT7NtBsGcL0d6tRL583zaVbYNdm2nob6ch6WdMTY5arVUoeVSCDSRDMsj5yDBI51pV5X6y/R2kbbtIWptJ2/dAh+602nbrfQ/lfbso71WdIFKb6u5W6ss9DA4cg3JW0hRjrCN1/gi2RGPW0Ghiqno7yPd14tr3Cfce0tbdpC27SIWPfcorTfY1Y/xYHS1Efd2EhV4aQkNTPkugoza8ARUY7ahzYcoBTTXU9PdQ63F37NG8t2PFA9suPJ27QWnSup1EvEjbtuHathN07aYm6RXOhMa6rGhNSG0qPtgK860EwhiDMQYr8A7COxEDBNaSaM3VpJJHzsDbLC9/qtarw7978O960effy3x5rHPI/UGHUVwb4h1SWTIcWFsZ01U66qu7W1+v/zGJrI9Q+xYu9Nrqc/+7YP93h98/uoyElk0fvYqZ+ijzP/r45XX4RXXWK14q5VNEJyFJjITFpDgJeKzDYx+Jp8qX0jJlvceKLvw2MyMH4H9O3S9uSVtWD7EcTCbKVBbd5/2iy1DhIQpCGZOyqDRYCYIGp8JM4TMYAilpNpPdXwcYY/E4/OReay9Jw4+NHl+vBKMvD1RyqZJUOaemlZ6gUVIkhCYk0TY9Jktsctr5CGxGeY3jeSCayoJE46YC38/47b0AAjmpjCAC51OLWKJ3Kqmnz2jUKIoq9JVlyFNFX14JfF1GjjoR71KN4/+cioksRsYoNY5ERqos3ib4fw7/f0yUvAJJ8QpyzDLyFL1hEG2pZpMa8DgCjVVWdDugy2XvYH1bv56h+ByI/mwYiX8xqfhbKBQq/PD8FAoCiY4vt0qt2kppk3Kx2BKnSZuTBTJGg+D2z893eA3caxngf5g1xuBlx0YBRcnLjp27NdcCqJy/ecSSyrh/U/TXrEH/1N4Y89ey/5yR6GpNrO4uoEY8nDJqCCcOzXNI2se43jYOT7o4MVfmjDo4d4jlguEZLhiZ45wREWePyHHWiDwnDQo4aUieMyYM44wjJlIj4x4Il59+LL4Eep9QF3LFlAO5ZtIBnD4sxzHZfo7O9GucHg6NuzjcdXJ00M2UXIHjq0ucWJNyQi2cOMhyxrhGLj1uImObqjC2qDUqSEpLVAclJg7KcubEobxpcJ6jqxMOE61HVqdMaQg4YXCGUzTWqcNF26hqTmiynDg45HjBicOynD62jjMPH8OoxhxRUBS3BgiVWvqpj0pcOPUwzjt0JCc0RpxYF/CmhojJVQmT8glHZ8scUxUzpc5pHNVpjNNG1XDq6FpOHdfIlSccxrHjhlGTFMjq3s3zwxijMcBKNgMrmdZbqDSr4MXrfmAC/JNKTj1ECmBS2QivJ17+oijE60gmylRshrcBxhjfpSKvPuPlOYqiyrvXfR8E+XaVOuHzqeTXJ/8QXBp49ang0dj2HzZ+gyr/nyDCz7XCGZ/5H0MHWvNK91jGqtDbi5OnL/f36ThgAFl8Yp37Vi4utfBhmups2CnSSVVewF/IF2WctDuipPPWgo4tEt2F+HRA+Vi4/C9IDfT306/z3IJwldQeGVMjAzvQ10OfzmJlvIhlCKVJOrceoLO9lS6dBfv6RMYmYyVUimr6dZnfp6jDX+qXiyUpRyDykUo7/JPoyxtYJ0eorD6pwKmNqwiOXmRcqBgoPz7OKK9ldB5CtbMCI4SvgtTaqM6onYM3X38AABAASURBVHW+n8NWBlCTVx0L/lGdPhhjhE9tVNbX28e+vYokxbdSySszeCfrf55+oK+PsupT8aMs3iQDRayUMtWZeFl8K2iO/j8HS8U/f0QRiFeeukCDpJp3X3cP3R2dlUv5ROfxic6y/RoN6Jy+T337Vd/R0kr7vhbK4p9XsF6V9Qu3X6tu8byjrV2TAFGsdYyVKi9n5lIXD5TiNpckPrxLDJVm+v73jxEd//72f5P7mw5CGGucUMZDiox3Ki2tLfj/n6IsxylW/xWhU7vXXvaPuR+PUOD0r1K3v6iS/c9fsfAZi9YsISr0M2nYYD715ou488Y38/33Xs3d77mGb77zCm57ywV84aqz+NxVZ3LrJafw2UtO5zNXnMXn33weX7j2Ij7zlot49/mncdKBY4mK/QRy9qnG9/RmA0tVXzunjh3MzacdxxfffD7fvunNfPfmt/CDWwTvu5Yfvvct3HPzm7n7piu5+51X8e0bruCud13N7YIPXXE2l514DPWhZqRdjpOsWyvsxW5GVRnedc5JfP2ma7jz3dfy7Q++jW+9/zruvOValV3FV2+4nK++/RJue9vF3PGuy/n6jZfztXdeIriUL19/IW87ayqN+VD0yu25IrgSxH3kGWDKmMF86KrzuP09b+XO976Vu97r8V7H3R98B3d/yMMNfEf5O1X+tZuu5iui+Sui/XPvuJK3nnE8Q4OEat0zZsULowDHOkDyb7VQSvB8T2Qvluro7aknn+SRRx7i0b88yqOP/oXHHnuMBx98kBeefY5+6YLXYq8X999/P/f84B6+//3vc/fd3+O73/kO3/n2t/n2Xd/irjvv5I6vf5277rqrUn7vvffi/28TK4dlgwDvVAz/8ydwwf+Xbv/zgf6bHva/qf//j2pFChWlldHbuXkz63ROvHHVKtbrfHfN0mWsXb5c+eXs2LgR5AhyGPZu247/v04WzZvPkkWLdaHYj48y1q1dy0svvsj0adNYtmSpWkKfHNTMV2bw/HPPVso3bViP0ZjeYcx6ebraP8/LL70g59GOkZNZu3ols15+mZdffJ4ZwrN75w5cOWbbhk3Mmv5KBWZMe5lF8xeQUcSNDK0M4H5eSyy8TKORnVbHA9ahY0ApVEKgcQONESmy9EcV3jmGMgpGQu8NtTfaPmYJZNECOQ3ptLq7Sj8rRff9Ap1x+/ZUDJ1RPRjRoGEqzs3zwQt4qovHObPnaM7T6dAFKXqWLl7M7BkzmKt5zHjhReZofq889xyxeJQRjjWLFzFT73Nfms4s1c947nnWaQ2yDjp27WXWi9N5+Rnx5YWXmPHci8x4/kV2bthMtY1oa97Dgldms2jmXBbOnMP8mbMrP/UWy5l4x7tx/QZeEV/n+P9TYu5crduiyto4zd1iCLz2a5wkkQkol/tUXPBz9LLh52M8bzVnYwzGGBkmNQbl+Y/Pq218H7G20k5FQrW/vW9cwRlEaAz1t5VmO3ftoqOzs5J3mFdT392/pb6bcKAa9j+OSt7j8vj9izHqpxclqCcE/jvG/wRVXrvsrI5/hpT6GJP2M870MzLpYXChg8ZCO42lDgYVWhg60MbwYhfDCl00yUkM17FOo2+jNBroImtSrbmjMp6OkVxapJqUmmKf8HSqb7f6djKs2MmouJsx5W7GKh0bdygvKLYzSuMNLbTSVGxjsGioKfUSKZiyCl6s+GJNSEYCldfRWo3Grle7kfQwvNzB0FIbQ4qtDBO9Q/U+pNzOYJUNi9sZUtjHiLiNocXdDC/to040ZCW3RjzJhBlM4rQvF8ip5Mu9VJe6qBOOpnIng0XfcNPHkLiTEUknw/U+RNCk+sZSO4M0Tr1or9aRX025j2xawKZlMVhrYwAPGgc9gfUSBVYLUasj3ZEjRjBCMHrkCPwf8Byp+1EPw4YNw8uJU59cLkdNVQ2NjY2VH+yprammXkfEDfX1NDY00KTyof4HWvQ+dOhQBg0aRCaj0wTpmcchFHg8fkzUz7+/HhirfwaxRbehTsr+eg3fwHL734/1hrUw/99HMhhjtDMo06Wz6727m9mzexcte/ewb98e2lsV4Spy7O7s0BAOqSs+st0j5d+5fQd7dTHoo11V0q7z753bt7Nj61a1kWGQgUy02M07drBn1262b9um8m5cnFAsDLBbZXuam9mhch9Ro3P7jtY2dvr2e3azW3S8Frl0tXewfctWtnkQ/i4ZHuMHfRUU172aQ6rtwSj1S+RbOawiqIBYjqGkY48SkfIkRRmoEoEU18nJJLGRhGWEJ1R5oPJI7xYjqxforNlSAkV4NoixOnd2FBFD8AJsAeNEheaMwDsVvxPbtm0rBe3a/K6kVbzcsmkTWzZsYKuc8+ZNm9kpx1wc6MPKwbXt28v2rZs1xy0VnmwXL9vaWknEr37tZHbtbBZvdlZ4uW/fPnbt2EmvdiN+LKcxBwb66ZVj8ruRAe16/Lr48pzuSwrit2/nd4meFq953uFJr/C0O/FeYqD5pS5N40LgXGw1OXFE8+KvjwLPSt5Uvl//y6jvP6p10uGKETBqpYEHtMPa6uVAOzWjSFM+DRuIAusbqM3f/bx+nVYCtGapjUmUWjmBjAKBKq15lQxhTmlWEXVGAUZGax9KHjzk9V4lo5sTP3JJTF7HlPmkRE4QpbHkJ0XkevZh/LcYEhtLqkK/hpHuO/ZDTCRjG8lwRxovFESuQEbyk1NZLh2QQR4Q3gJ5BXKZ1GgdIlyaxblI62Bl+FMylPe3iweo8c5FaXVSoEq7gpzmEJYHyIv2bOW9RJXH7+9u5KAyopnYIQZAGgp/RhAqbwgl0xnR4WmK3IDoGpBO+LRfR1e9GrOfCo2iOUuRnCmSFe6M6AlJK3NPNO84CEhNAOKF57lRzqjcYEA88f/lxOTJkznuuOM49vjjOP744znhhBM4/oTjmTp1auVIK9X8vWN585uv5tprruHtb387N7zrXdz47ndX4F1K33XTTdx083t4p8qvV/35559fcVDGaBzQUAa/09Vs+e8eq0dtKh21o6mkev9f/dj/1dH/ZvDXCBFX9Pmbiv8m6727MbbSPZvPMm7iARw1dTJTTzyeSccdi/87UD6dcNBBNA0bitPCleQcJhx8ECef+ibedOopTJoymdraWqJMxFFHH81FF1/MxZddxuGHHy6lSKmpqeHCiy7iiquu5Iorr9xfLjw+QvH/Qc6VV13FlaobO348noYjjzqKy9T/3HPPxf859HHjxsrHpPi/M+V/UeniSy6pjHHkkUcSixaEqzJpSZGPUitTVoHD4LACKjlIlQrkOFKVlmRAFNpQjjL024BSvhZqBtNNjl6TpxBV0xlD0YYYXfo7GaNYCut/NNhJoZwUETkoHQdpnl6NQGj1pY9oqqqq4rTTTuWcc87FX8L7yOukk9/ExZdexlVvfStXXHstV197DRdcchHDRo3A36EcKwW78pqruea6a7nq2qu57IrLOXLSMWSr8owcOwb/U1zXvOVaLr3qispPdV2htv6nuWSHGDV2NGd5np17Dmefd67W4FLOOvtsamtqK3yaMmUK56j+ggsuqPzVXv+TZo2NTWgnokBCExXxoe5YnBjnEnFSntIY45e8Mj/N6v/6o36Yf+AEvAPz42oU4YZAO8xARqlLR3E7FFz4M3ZsQCwj49ukcpTO/Kfh//P736k2jsqa+7VDj9Wahx7kMAI5b6M5G7999aCW4FVBhtEFcqAerEoSAjmhUPJjBfvpMJXWxjPLGAqBwd+xpTbFOzCUukBSJlnD95GxT7xTM2VSk1RAiAlEoIdQ8ws8DXIiTkYfn3oDbazGER71MZI3Wy5UHFQg2tE8nHgcZHOSRgRWo4BTD3+vkIlCAvHQmlAzD1QeaE4Z5TOkzmJNgEjHCTeSY0j1noqmFP97L6FzWJVbjeMhSFI5m5RQY1uc8BgQ/kR4nPElvswXG4zo8nxy4rNPw0wo3IYgDAi0zonKrbGUFEBEVmXKo8fLRCaTxdcJi0ogDMOKbQnUzwhvJTWmUudlw2d8P5/69zRNnYKoV4nxpf8V5EuEScMYY1K9/NcWb3yJfeOH/PsjinP7ufv3q1+3tLvbip3Oqj9GhqShaQjDR42hceiwCgzWdnSQ8mMnHsiYAw4gklErSpi8YRsl4z9KBu6AAyfKCeQkoDBC29gx48cxbvx4GbexOGsIMxnGTTiA4SNGMGrMGBq1VU0w2CgjnBMYPGxEZUzJKgOlmMHDR6j9gRxw8CFMEFTXN+B/NHjYmFGMPXACI8eNZYLGHD5qlMbcb8S9wKLH+Ikofe3jmeLBv3uB9xFkwVj6bEivnEWLrWZ7Ocui1gLPrN3JA4vX8fiabUzb2sLq3pSemsF0hXlaSym9TgojwQ7CCA0sXY6JhMvjTvXlQWZCVQ6pP1E2W5nvAZp7Q+OgSnndoHrGH3wgDcOH0jhqOINGDsf/ZWbrDYIIbRg2hKGeR+LV4FGjGXnAeGqamujRfZbJhAwbM5JKG/F5xBjVi/+1jQ0UpfA686NG+frBjeR0RBDKudfU1iCyKWvNanQ8kK+pqjimVGNVVVdpDUJsYAnU1tPvjbeqTIqUDFnQykw1uYrx8Ol/Bdmc/1r435RUDIIMaIU4ZLLkNFIh8uP7u5Ndu3eDCAnFb+fHVp7XHvO3L+Bf+TuPb5WVPASKzINEc5SDsGKG0eQrKUbGVUZOZYEgrIABY0mtaDIGdSNRkdeQitH1TkL0OrVBaSAciD5fn8pZWDkLo92rMX7HWsZYD4mmGe8HOZjEulfxB6TG4B+NKExqZ1Snosq4si6p8k5jpVYjCbJRgEgj1b+SegwIuiX8fYEcSr6BOF9Pf1CF9hQMuAwDKcQmFRjJn5AZiw0irGTY43Xqr+44azQL1RPoX0QoXgWqsKnFCGxqMGJEqDQSZLR2ker9e6geqoVX54Lhbx5XCRZ8QSoZ9MGfN/hBEOKb+6DBOwJrLb7O76b7dIfiyyI5w0wmo3b7EQZBgG+3v39AFGUqgVCqHZaXE9/Hj+PrffqPIJK3cnjURjg1Qf73H/u/TwJkMhmDkWSjx5n/EU1B0GOM0cqqqxGKTJTFmhAkhN4+lYtl+nv6aNNlbV/vAKkUM7QRJV0Cl2T4tSD4p1gqIVXASPkTCU1iHEUZQMkcJrCVi2ff1kckqUg0UcSALupTYyAIKPqGmQgXKP6TYPn/DyW1AQXtPGIMqXAUZNuKimhcaPHGs6QjB8k3zngK/h2MBrKi38o4WdHi351wJFjKNqQY5ujP1LEryfDi+mZ+/ORMvvnAC3z70Zl879k53P3sTO78y/Pc9seHuecvzzFvZys92TrK2VpKJkNZmm6VRiaL5xFWBHhQoiGJJdy6ddhPV2Dwc8zIsRhFZU5kJpqDEQ8C8TGJRSgW/43m65yUquwo6Y4o1tFWLH77Mq8sXkn6dNTV09VNmy7X/ZHXFt1x+bw1hso8ZZS9AATGkskqAtV4iHeBFHNAl/tlD0csAAAQAElEQVQJjtRAlMng6fE/AVbSUU6siRjx3VhVWox/MCQOMdATLTyq0ffffFTux3ytXH0qlZ5On3nt3ef/A6ifU+Tg6z1YjevrfT8bWM29zI6dOyVzbb4YYyoEVfJ//TIG/++v76+TcRKOVBMuY7X2lpLGKsuY+7/BVZKQlAUVU2JQi5SAGGNSvONwqqukRqGPHAVKwaEGoJYgPVEvtGbGBdq9GLxxjdSkstPQuDYNtC5WraIKOPUxROovWVcfT99+Gd0/ZiLn43Sx7XcvicZLRYsaC0eA3wH0C18fGQbCGgq5BrqjevZRzY44x4YeWNcFO0pZ2mwd3ZkmBqIazVvSFQi/5o1zeOObejlR3hpXmY7VICFGGyqrJoay+FuWPMbWkgSWVHkjvVMTMMKH7ydpMq9BWqlKhQ89TmLjC4z6+zV1Kgslg0EQ4I9Y9+7dzeo1a5gzZw5l6binaY8CiN/97nfcd999PP/C86xavZqOjo6Kw1B30eUwxuB1IVafsuyLx2eMoVwuV9pZ5ZMkdblczvk+rwc2ylgMRo/WTUr6eg3fwHL7Bo71ukNFUWS0hoFvoIzx6f8EnHXqLt7rQzmlt72L5m3NrF+5hpWLlrN22So2rV7Hji3biAslqULIuhVrWLFoKVs2bq780b6UlEBC5w2llQA5L6hyLCaw+4XAgfXlIiyVICYStlCOI5HBBIOPWowRO40BDMZqOupj5NiESjiM8KtMfZ36Yvy7cMswe4VAjxF4ZXdqowlhff8KOPy7E/6ynEAhrGZzd5kHZy3j316cz/Qt7WxKqtidbWRvzSD2Vg9iV66edUXLixt28m/Pz+bx+avZ3Q9pph4nJ5LIi1kZAyNL5NIUhwd9iwgnOpRUnGm/7i3CwFIuFeWIYwI5FE0WKyeBnEYkemQlcOJ7kDqM+KHVJLIhyBAabOWfUdv2PfuY/fIrzJw2nenPv6D8DObpMn3PrmayNmCf7rCWL1nC+tVrdN+yhXY5nB45H+/oHfsfz+9YjioR+CMGT2cYZeQ1RLv46nkNUkmT5qwhcp4IXIV/noce9LYf2d98G7QWqkw9H5Ri0EfrqW9Uh9ZL00GTqkAi5+WLnQxTqiDBqI/G0khqoba9ujfZonuxdt2LORHlPG/Uc/9nf0vfd/87GPxjXu3v8/vBG7eyKj2UNKGyZLCktCTSEoE/lnI2BRlFSyKSErACvftIwajMiDaE2YhWND8qj9WYVjkr3hhC/YucviUPgSYa+FSGP/CgIyvfwmitLVnQjsGo/FW0+MArMTHOlME7E6XOj+/HE5+M5m8IKFsdv0b1dGYGsWUgYNr6PfzxlWX87Om5/OCxGdzz6Ax++OQsfvLEbH761FweW7aNtZ1FOkzAgHQt9TJlkF5oBbXWoHmjvAgxgsD5OhD5eAdStkZj7gfPq0TvsdpJ9PG7q9hCaiAW7C9TgdqkaH08zR6RdK63u0v3qrto1v3qqmUrmD1zJjNnvMxi/6eA5EACORirdenu7mb9+g0sVPmzzzzLfX+8l9/99vc8++yzrFu3Af+/rvbqPrBQ6KckR1KSA+nRe3dPT2VXEycJRnhkLP7bY66YyqPZKJWd0vf/+kfc+1+noUKAs4F1WjgTBP+RpkrtP/4q6RIyUNQwUCpo0dazasVKNmtR/d/i8j8WnOjyGO0icjagRncH9Toq8RfG/m94rVqyFP93ogYG+mQjYzZv3MDKZctZunAp69dtksIFFHsLrFq0hJXzFrJk9mx2b99KUi5Q6Olg5fx5LJ87h9ULF9Dduo9IhnnHho2sWrBQdfNZMX8Bnbv3kXOWrSvXsXK22s+ZyxJFNBvXrSUXWYwuIwMpR8XoyBCYwCuJIZUBCj1PfCrBdjLgiRxAR9Hw9LyVPLdsM9tLGTqCPLZ+MKMmTuSIyZM4dNIkhul4LRgynL2qW95d4MEFK5m2aicFV0Uso2EzAT4aiqSgoRQnkNKH1mm+GltRUyRD0N/Xy/z581mzdCG9mluoaHyTlGLx/IWs9vxYvISlMv6LlRbU1pbKrF2ymPmzXmHWzJd5+eXpzJgxg3Vr1uIdjSsU6NnXQkE7k6R/gF5FbR26nC+W+glko8quwM7mLaxatZTFi+Yze8ZMFonnJe0gPS/WrFnF/FdmsGzWHBZPn83qeUvpa+8G0ZXPCIHExIiPAWl2UNOgwxQ1HOBsnBWDZTBBU9L8ApkKi2aJk+GQHcF43gKp9aBINUi9PhOF6prKKcrQOvHJSDSNehsjw6lIv2RKlFwJjQGyZKlJKYp3iQKIRIa3vbufjRu3UOgvEBlk4x2BEQajcUKjtUhA76GMpXUanIBU650IZM5QK2THhd/h5VeiQcZEBGmELQVk41BgK7sJi/oLR6qmTvgRvaHJiXLJBhFGOFG5PpJR38f3sMINQkgkuq12yt7BeYPrwZGqUmCEVPkUT28iKmMychoZ8QFrKdksxSAgMSmBHGsUgBM+UUkkHvtgqVe7x56olp3U8fDiLXztvqf5yXOL+OPCrTy/rYcZe0vMaYuZ15bwsqKeR1fv5icvLuKOh6dz74KtbClW0am7QBNWgSYZaDIuMMRak5LAO4bYOjz9oPUTWAVqoeQhQlMUn5WQ2ohyEFEKMsSiOxFgssQSwKKOzkrCodVFiNASkxFft6xfp+DnWZ5/8kkWz51H8/pN9LW0aI5lrHY7JdkWLx+Dh4+kvm4QhYEi5f4iXfva2bZhM4/8+RF+8ctf8f17fshPf/oT5X/OT3/+U37+i1/wy1/9ioce/Qu79+0jlnNJJMtRlE0LhSrn6X09SJJinEoQUyOr4Xyo8Xot37hySeAbN9g/Gsny6mpr8f5Ru79XF4QSGRlx8ZWB3m6K/b2EJqVeF/L1VRkmjhvN4YdM4OCDDmCiLuiHDRtMdXWequocmSCU0DipW4CLU7Zv3cJiGdAlcga7d+2sUFPs72PV0qUsX7yAlSuXsXW7nIyV4ejtYePqNdr5LGeF6gt9fSTlIrt2bGPNcjmkBYtYK8fW3tqmaAr2Ne9ig9p7WKMt8C5F4sYLvUGzt/qSQgpvqvcUfYm2xFr8exkpShRRivLMWrORmeu2sFNCPFBdx2hd5B82dTJjDprIoKFDqBvcxKgJEzh08rGMO+JIynVNNHsHtHgNa/d2Uoyk/FKyIBMSy4Cgx2m8VEuQyFSkzmIEgRRu9549lR9hHujpJtGR4WYp1krNbbH/k9qLF7NAUdjiJQvp19wzYUhXRzvLxYv169eydesm1q1dSWvzDqpkYSIZnJqqakboDuuEqVO5/q1v4aMf/iCXX3wBx00+hsG6j8lrjnnRZ6Qf/ndP4mKRoiI5Gxj65PBbWvbpiKyFylFZe5v8SEogPg0UBgis1UwSoiioqanJXx3lwtONpcr4ucogWs0PP0+QPTJyGOjNg3hdscAqVztNHnAE+g6s6tQqdeK/IJVceXyofYAiebVysdO6x4QmJJetEl71lDF3eu/s7WPztq30yZEaYwhFo9/9enyh+OUdXRyXNYLoARlkjWyU0Ud2Db+jwelFOz4r+XSKXn15JggIVR6KXhuoPjQY8diGEU7jOE8XISmREKpM72kFjMqsxrPq5POQGtRHryr1jiw2gSJ3QyK8ifieqsqpjZLKx2lMsUJ9xBPNx6k9nghjcWpR1q4xm8lhtXuJ44CCDHaxZgjzd3XwnQef5XfTF7GTWjaXQ7rzg+jO1pEOGkooY+waB9NfXU9RwVGnyjf0Jjw4ZyXf/fNzLG+XfpZCitkavF5U5o6o06CJCEwFkIgCpyX0AJ5XYeoIZB/wRKvWf5y+NA3Vp3gHaOQEcWUCscVPxUlmEs0m1dqGKijLQeQ9fwu9VNkSI+szTDpoFB+68S385f7fMOvl53jhmSd45tkneGXai3z323dx/rlna70dDfW1DCjY2rNnN3v3tTJm7HgOP2Iyhx5xNIccfgxTjjsJIweXVvhn5IwKyZAhQSoSX/dTKpUGrDWlIAicVeZ1G76BFWLdGzja6wwVRZFBkbHRAuLhddr9vWJdeNl8mI9iGbqMBCvjCjTVhEw+bALvfseb+c6dt/GbX/+I3//25zrL/A1/vO/f+D//9gu+8/1vc+31b+GQQw/T7kDRThmMjmoyqaUum2NoYz3ZwIH/cciMoWFoAzVNtTQMbyRTlcPIWHgBqNGlcE1DPfW6oDYyDiYjA6PdT+2gQTToInnQkCaiqqyE3yjNU6322ZoaquoHUVWrC0dCnNkPqU+l8E6G3Emw4tBSkPGKM0plLAZ0h7A3iZm7aQu7pbBJbRVjDp9Aw+ghmNocfWrbj0hWlJ6KviCKGD1mHENHjCLJ5dnU2cUzK5bSIQMh36LtfUJqZAhNRGIyxDrCiBWLxaIjER3yVVQr0qppGCStjAgzEfWaV6PmOmTEMAYPH8rwkcNokvOKMuov8c9W1TFi1Biq5DSQkawSD6uDMnX5gJNOOoHPfu4z/J9f/oKf/+wn3P2db/HVL32Bn/3oR/zm//yKX/7sF9zy7vdxwNiDtCZ1ZGWEkkIPVZp/NhswZsI4Dj9uMgdOPooJk49k/FGHkmmopmQT0SfDpl1CYC1Gi5PJ5MaGQabROSOuiCcGnHiDUp94Y+6c76M34wutMlbGJVQAIVCdQfxJSupSxphEkGLVNjABkbYMmThDNs2RdXmiVGtcSCkNlCTCKUniiIWjJCPWLAe4RXco/ujLYAjF30C8Qg7CqF0ouUlFpQcqVDrR4j9qm0YESUh5oEwiZyLjQaqAIzExsXYHZYXPJUra5ZQFsXZKCc74vk6pQNnEGq2z1WxQ34AkQH0Nida+4hgwlAKNYTNqF4Ho87JY1jzL4mdiA4zfzQp8mhJRtPvBy2qYGkIhdSqPhScWj2wYkGIpRzW0h408sngjv3huDov3ddOZq2dPKWXwuHGcdu4ZvPuWd/CFz32MWz/1AW699SN89GPv54JLz2PcgQeQk271ydCu6CjydTmUJze3sMPkFBCFmLhIzsuYdDZHTnzNCEKtoRG9FmOMKLD4RyUqR+8xgSQ9lKxEDFR+nDib9lOV9OF/XDmjnYGVwy5q3RObklhHUbSa1BHG/dTlihx1YAMfv+XN/OEHt/H1j97AOScdwiGjqhgzOGLimEYmHT2Rt7zlcr77vW9y++1f5ITjJ5HNOHR4Ql/fAC0tvdLLAzniyOM44uipDB46ChNkFRgZrRlEWWtaWlq8hHjS/y709/fHJk1iJ3vw2sX93234BhbaN3Cs1x1Kxy1OlTKhfrGV+x98fvmjXw4d6O0bWZfLSaF7GTfUcfPbzuT7d32cT3/wGq646HgOm9jIqKFZhtRZRg6p5YhDxnPheWfz2U9/krvuuoN3vPNtDGqqRQdtEjTH6OHDOOf005l01NFENqBKuE868UTOO/8CzjzrHMYfMBEnsayTkT1V7c4691xOP/scagfJOWgmEw4+mDPPOYfzLrqQU888ncEyvLF69pnBNgAAEABJREFUTDj0UM487zzOPv9CzhGuQ7RriJEAaQzvUNDo6B1vDYQnkJIGEuJIeS/Mqep3tHWzcXcLA+rTOHw4w0YMRXqrXk7KKwhC5BPxOPzRkFW7IUNHkG8cQrGmhukrN7K1vRMXBKTalYSBw/meMnyvDqs30eRAl4Acf9zxnH7mWeRra0FG76hJx3DWeedqHucoPUvzOJuzzzmLxqbBxFrBiQcfzqTJx9HU0IA/BoniHo4YP5hPffDtfOubn+Qd153H5KPHqj5LzsSEGi0Dct5NnHjs8Xzswx/mrm9+k/MvOJe66mqyMnDSfbUwHKn1OHryFCaJpqMnT2bS1OOorR9EKsKDMCtjGwjUVHQYIyvojAGDEQ/0pXkavVqV2ErqlFOGvz7qJ8bsN0SVukRVJbR1VV8ZcyluKufgVCp/rHZlSsVeervaaN23i93N29m1cxvbt29hh2Dvnl10dnXROzDADp2t79FRxoAi3AArw2awWl+jMb1jU1aG3uHvP4x4YvCPJZWRtuQoyVH195dIXACaj7NGba2MndqYQD0smJDARgSiMRDTjACTaCapaE2xRk1Mqn4JqZyQkxO2JCpMKdmUWLIADh/JR6lSB6Ez0isPKAWEOzFOF9yQmEC4jdo4rKcLv5qiQbLlf7O+IOfSTg3T1u3h3lnLWded0JetJT9kBFdddz3fuOsbfOdbX+MLn/oQN77tCm5+xzXc+PZr+eD73sM3v/kNvvXdu7nlAx9mzIFH0Gmr2SGn/ef5Ourcuoc+jWUCzVUOzsYRTkd+TkeSEmOMAaN5GH2LVM0dPQbrRQJb4VWqNPFgxAGBBSK1d3LehTigV5FUOdB0BYFJyaUFmjIDXHXGoXzk+jM486hBBJ0raNv4Iq1rnqd148t07ZxPuX0N9DeTs70MGZTjqssu4rYvfZnrr3s7gxuH4v+zvuVLl/P0k0+xT/LgaSyViqQKokUGQRAgGYtFzj/8BEmSqm0SWK2qjhT/YeM3qNK+QeP8w2EqzsTpgNO3Sr04+Mx/D3fddVfttFdevr4mE4wv97Vx8OgcN11zEpeefgBB1yq6d8xj94rnaN8wk6R1DWnHFkxhL1HSS87101SX4bhjD+cjH71F0dAHaBw8SMFizOYtW9nX2or/ia/ABHR39TJ/znwWLVzMGl3c9/cVCP1xgkjM5asY1NhEXUMDQZQhm88r0hhKTX2d3iPtPmrIaGfiQktOxrFGO5O8jHpNbT35mlr8bJ0U1kqwraEi+EbiHjikvI5MIqXWLsQbiFTtmlu66BhIcJkqhg4bIVuRok2LjGiJQLQiq+QS8IgDa3BJqqOXPNmaBvpNRIvOZTfuapHahGovxZJDCYg1usDF6piKhkTvCdrV09TUyOAhQ8SboThvqDJZqupqMNlIc82JDwF1mo/nh5EjC8JMRUl27diqSK6PQ8c08NF3X81bL57KiNoOcsk26NtEFO+RAerQ2X8XUZhCqU+pQ5sfTj75WL781c9yyeUXk81Ui86MTiAMXW1dZGVAQlmLwFrtAgZwMm6hjSiKJxlFwc4FGPHBOaSUDp96SFOHFy2fFxtlatTAfwtX5d1o6gSg/qQ+BV9kZGTFZPVNSAAj3FZQigu0du5h244NbN2xnj17t9PRtZfunlY5l1Y62/foOG43O7dtlWPZzq7m3axZt15n4y0kosU4KyNsyUiOEq2B35WIQvHeiS+IDoE+ij21FjIwiaW7s4+erj6SVx2M1W4yFFgZ1FA0B4lBPoJAkwxknKzW1YhqD+gxAv/xY1WciYkxpBpT8qSOTmBNWVxIRZurgJe7CkiOrFTUyjlV+gaJ6EJjpZX2RuuB+GL8vIwh1hyLuTqW7O7mT7OWsVfGfkBtxowdyVdv+wxf/NyHOf+M4xjZGFEd9pE1vdqBdUvm+5UvU6sj6GOnTOLm97yXr3z1Gxw66Tj6TI5tXUWenLOIXX0pPVQxYGsoBHWUwhqKQU7vkgXR4XdTTuNV1hb/OIwxOGWd0tQGJCaSUxRoB5wq7yogx02WnjIU1DhJy2TFk9GDLNdfdALvefNJHDUypba0FTrXUGhZTt+uBfTunEf7ppfZsfwZNi95mrbN80k6dygQdRx24Hg++dGPc90111Gbq8LFJTZvWM+Tjz/Cs08/xjNPPcZzzzxOt4KSso5rXepq5s2cd8izzz5brd2zEcn/5WOyWSc5dGninDGRKP0vTd7wAvuGj/h3BtT5n2yelfwZ8U77yr/T5j8X3XbbtPB3v/zj+a5cuD4tdVZNHFXNDVedxmnHDKUhbaYu3kFh10LKe5fSuWkmG+Y+ytbFT7N94TN0bJhF2rkJ+ndiSq2KqvO888a3cZ2OvfzuIrUhL0ybxaKlqymWHIEJ6e7oYdfmHaxcsowtmzbrDLQf/9NEO3bs0Jl+LKNlKlCME6+eoDDDRgEmsIRhCHovKoJIjcFKyJFYO22nU7W3Moh+a10Br7DyBqHAK2/osUmgjTF49W1u6aAgA5KEWSI5rkRGI5C4pVJea0NkH6gKIgK9I1xBaKiKcrojqieRsoT5Wvp6C1LckMBp+Z3DVoxOWRSlIGNh/Ng6Pw5JSHSUoKNEErUri05jLM4ZMrk8QRAif0WqeTnRISVgn450Fi2YS9YWGCkFfIfWZEKTY9+GV2he8RQbFjzI5oUP0bzkMTrWvkhh50I5+rWkAzshbSWX1w7AdTF2TBMf+OD7OO74EzF+vmXDlnWb2b11W+WHG15+6immP/00rTuboRSTDbJSxj5CmwUszgSecwJXgcTTpxrvUGIZxtjz3jmVvPZRxJ4aEE+MAFU5zb9ieIUBGZ8wjHAy2t3dfWzZupXtulPrHuiT7zEEmYAosuQiz29LTSYk0piR+vZ3ddOydx+bN29l/uJFbNu5Q0FLgoQeIxoCa3AmxaitKNe6oBkYUInfLRsZn8hoHqUy3dqZ9rT0UOgsYAYMUTEkn0RUJaHSgGxqCUQjfg6vYVHeqByVOwKcyitT1RA+H0i2MpRFb0E1MV4GnOpSzTkVHxPVJwGk2skgAbOmoLZFMpLLSAGIkcx4Pok5GjsVOGIXsKPgeGrFRtZ19RPkLAeNruWOW9/B5WccQkPSTFFrX9yxgIEt84l3LiXZs5qkZzsuaScM+ojolzG2nHnGqXzrjjsYO3qEjvFS1jR38NiiNTSHg9lCAxuTHBu0O9lqsuyLqugM8/RJZgo2g79oT0W/uCfyygSi12pdEN+deJFIJ+JXIdF7UfPt12T7S0ZNIpUk1GWKnHX8RC494zAag04aw265sQ4io+AmGiAf9BCWdmP7tpLp20i2e33FxmxZ9Az7Vs0i7tjJkLoM77/lXVyoEwv/N+tC0bFr+2bmz5zGnJkvsnvnZoyO3px42lhbP3r+3AVPffDGj9zzlsuvP/Waa67JOOe0Ivz1CYJABtMYzcGl1ti/VvwvZt5QIh544IHgN7/5Te53v/td9Q9+8Ie6H/zgB3U///nPqzT/GhMEOadMOU18otw//sx4+utNhWLf1eWBzlGDahIuuWAKxx8zlnpbIix2kyl1KT9AddJBreugwXaQj3fhutbSvmUWW5c+QeeG6RQ7NxCUOxSFFbjmqks58ojD8dF1EGVJtUa56hoadCcwZvQohg9tYtSwIdRX5cmFEf29vaxctoJ1a1YrGu2SIkIoAxAXisTaupKk9Pf00NfdA9546b2surIuleNiCbRLyMqQBDL6VobL4rDGSag0d6MuaYr/ZT1nLQSB1N3QqgvdmIAgkyerux2rOv/jspkwg2edH99orMCA0VehXCJOYiLRm5GSye7rPSTRmX/JRpR0UTogx9SvuoFQZ9EyxnEQ4IzRRWA/Xe2tGGMoiV5v/MrlAm1tLfg/GeOh1NevaLmTRIZO2se2LZuoilJqwpjzTjmSKQcPoS5op8a1UVXSGhRayfTvUNS2ls6dc9m18Xm2rniUPetfpH3rHAod62WkOnBxB6NHNPCW665m0OA6qvIRzTu28+Izz7Ji0RLa9uyhv7OdbAAanP6+Lh59+EHmzZ1Nd3cXgeZgg0D8tBj9s1YNjZrKkJR1zh6L96n4q6mBScX9BGNT/OOc/1Zb1Tv1TbHYIEMcG7o6u9m1o5n+3gE1gPraeg475HAuOO+CyhHdd+66k+/eeQef+cRHueaKSznp+OMYMXS4MBiKcgqr169l0bKl+D+9Yvzaaa28EzY47UhSGbtUqX8zJKLXZhwJA5LFMoHmkIiGns4iLXt72bOrm717u2lv7aOzZ0DHaQX6CiWNE4jWkDQOsHFIKEcTJVmC10DGE1+XRhori9V9TyRjHJClpPXvkUFu03FUa7aOvVEte7P1tOZq6cxW0S8+YNTHWSyeZ4loS9HGiVSy7OUmVk1BsrS0uY2lO/fi8jk5uW6uPftwDqhpY8/SR9i57FF2r36GXWteZPeGGWxf/RLbVr4ovXyW5mXP0blxthzLBqKkVTzp4+gjJnLzze+iVqcAfZLXZ5Zv4vb7n+CL9z/O5+57lK/86XG+8+iL/GLaIh5bsZUlLf3scjl6NQ/fvuR5Z8TbAIyLCXxePBeLUUJsDOXASt8SipLlsu5JsjYkb2MOHVfPRWcdzaCqIqEpqr4f2SkwnsdIVmOykp3aKKHK9JOJW6l1kvPCDrp3LaZ5/Sv0awczpLbEZz75Ic4982z1ketKoba6miMOO5xRI0ZKToYxfuw46uvrTb4qP7xQLt4wfcbLv1myZNlnjzvuuCPkUCyvPrmwprEcu1odWrgN6zYdPHz42CPGjj3w8PHjDz70kksuGfuTn/xkkGxrpOaVKSr9l3/+Sty/cqSnnnoqe801Nx9w++33XP75L37zE7d+9vYvffvu22+767s/uO0LX/rqZx566LGP9vX3H5CIWybUqvw3xPhmUq8TB/p7zohsKTrx2AM565SDqQr6CWQAMhLmUEYjSEtyEkUi1yc16SHr2qkyreTZq0hiG13anu5ZM0PnnQsx3bs4cHQTb770fOqqs0ShZVBTg+49zuOTn/4EX/zKF/nybV/mU5/8OG++8goOGDuafBhS7Otl6aKF+N+X6O3qwml1N2kLO2/WLObNmMmyhQsrhk8yzPbNm5g3eybzZwlmzmDDqhWEEmptHsBbMAm0s1ZOAyrCryOlohS/JMXsJ6Lk86khUTujdrEMkXyPFGO/UFspeKACH+WWSZAbwUVOYAiiUAYmIQyyFIWjpGOynqia9rCKHWmONTrPXrqnl4Vb9rFDUW+iI4PYweLFS5k3bz4d7R1Yad3q5cuYNX0aM6e/zJyXX2HWtOn4/7a3s61Nc5HcaieT14X72ME5zjj+IJqqCuJ9B5mkl6yMeN4lZJN+cq6TKtNCnmaieCv9bcto3TaH3Wtn0LFteWU98lrPM06fpAvMI+WL+2XWE0Lx3ErpQxtQU1Ol+Th096+6AqtWLuLPD97PX/7yl8pfYy1XHAb09Q2wdcs25s6fzwTRkYkAABAASURBVGOPP85DDz2E/xtanueiGGm2DHUqHKnyTqmR8whIJEvYEExGTSM627tolRMryXFlJVsHjxnJB2+6kR9865t85+tf5VMf+SBve/OVXPfmK/jQ+97NnXfcxje/8XU+rbu5E086mSAT6sgzQ2tXO72FPtBI3kG3tuxln/C27N5DKmfgtFtNxe2i5tmfFEiyhpLyA0FIIcrTrbVpc1l2DDi296faASRsbO8RdLOlrYttezrYu6+LTl12dwv6W/robx+g1FWu7GjS3kQBlCSyFJIUQgU+WfG3mgFTz15Xy7pihpn7BnhkzU7uW7aZPyxZz5Ob9rGgvcDONE+32iVRHSUTCKAExEFEQe9FrU+/ZKxHcjV/QzOtuutJxKtzTpzIBSeMoaq4kaygKt1JFXuoMq3kaSGb7iNK9kgvd1BsX8m+TTNoWfcSvbsXS6f2ENDLVVdexnGnns6AjjNbTY75mueC9j4WdheZJ9pe2tLGXxZv4dcvLOKex2fyu2kLWbS7izZbTUFOpRjkKJmQsuhMbaTUkgYZYtFbMBFFBZClMKCrv58+HyyUEtFU5LQTDmb0sAzG9WCsIbY54qBaGpbVCqocgRM/FSxa7SwypkRED3nTQbVrIe1eo0DpFfr3LeZA3R++651v4+jDD+WcM8/kox/6KJ+/9fN882t38o077uLLX/kKH/jIBzjh1BPI1meioCqY0NnT+4Ut25u/eupZ509+YPbs/Pve9/FRy1eseXOSpEODMIqKpeTj1phfSJZ/EceFny9atPgH3/72t7/+1a9+9b1yQlN90O5tppbpX/r5lzoTTcDeeOONh7//vR/84ssvP3/f7j07fhxY8/l8NvtR48wHrLEf0J3Dp1raW99LaAfHinEK5fLwDRs2ZP/RrOfNm1e7Z8/ud2QCM2RQTcil551EXbZPEVYXxjicuCp7SYqp5FUidKkgVkmZgKIcTL9EoJeo0EzfjvnsVoRU2ruSc04+lOMOH8XRh47U1voLfO22z/GO66/lwgvP58KLLuKt113PbV/+Ej/6/nc57+wzqcpGyEprm7qd4kA/yAB1tLSxU8cx27ZslgPZQtw/oPGgs6WVbRs2smPTJrZuWIc3IFEQELu0EhkVTMiABL5PBqNLAt4hoe3LNdCTqac/W0evzVLyiqBZBMbgDWooY5dKiDVtlYLz/6yDjMUI/M/eD1AW/gRjkQJAUYrfJvzLdP/yu5cX8q0Hn+cb9z3Htx98gR898jzzNu6mX2Mlgg5F4hs3bsT/6K8Elq7WFvra2+jYs5d2wd5du2jXRWJROy6jsXO6/3DFHk6ZMpGJI2rI0k3gekWbeC+FM2kopbQqSwmJCV2RvC2QTzvJFfdBx2Y6Ns2jfd0cinvW0FRvuOziM0jjXnLZkIkHHsTbb3gXd37nbr53zw/55jfv4q1vfQuDmwaJH050duvYYBZf/uKXaNYR5EvTXuSrt9+mqPYmPvC+9/L5z32Gr33tq2yUw0/ljMvFAl2dHRT6e0E7xEwQ4LQeiepKCgwSCVKaBnS0d9IqY1/qbSdKuzhbxvHnd36MD9x8MUeMyzO4MZYh3IUp7sGknUSac42k+LBDxnPNtVdz+9dv55qrrxIfUq2DEaccYRRQ0DHZ4kWLmDtzJgvnzCHxP5WYyVOKMgxot5nIaBdNLV1Ktwd5Xu7s5d4t2/n1hk38ev0WfrNqA39au435HWW2lvO0mzp645DeniIDaluQc+netU8R8j46m/fSs6eVlk072LdpG3u3NrN7+162y+Cu2Fvi+Q1t/Hr6Mu58eBp3PfwKP31+Cb+dvY4/zFvHD56fz3efnMP3npjF9O097KSBLi+TMux9QTW9Nk+hqp7ufD3tgh1yVAvWb8dq5zuoJuIdV51DXdgrI9sv3hSlgyVBWfwoVSAKUjKmSI5+qo3WuryXuGUdnZvnMrBrKUGpjUH11Zxz1nkYOdW6hgaOPX4KV7/tLXzks5/jA5/+IudffQMHHH4iA1XD2CyH+MSSzfz4L9N4ZtkWtperaM8OpT03jD22gc2FLEv2lZizrZuVHY5NhYx2MtX0VzWxs2uAPjlB6wx1mYApR06gKiwQUgCXgChPBSgAtC4W/SrWd2Ik0YJE+VTtAlfSXHupStsJurfQvXkufS0rOeecyfzwB7fz/bu/zvvf8y4uPu9czjvrbC447zzOOfs83vq26/nuPd/j01/6HMPHjSJxZKJM9sIN6zbceevbb/ryfX/64597+7vfYQNTnch5yYFMjOPySb293Sdrt32qnMwl5XL5Zmvt13UM//tvfvObP7zuuutOX7lyZUbE/8s+9l+F+bZbbqm6+IILrnzq8cf/ODDQ/3mXlk6oygXDLaXquNyfy2ZtNhOaLGm5yqFwJ9VShKFtbW259MJLL77jsssuO/C2226zzjlzyy23RLd97LaGD9988+irL7nkoO9853tv7+zce5aLC8GB43X81JinNlMWx2Oc8ZCSGvBb70QWVJhJAxkJ5dFCoydQfah7hUzaTVWyG9O1gY4t86hPd/PJ917OT+76FFdfeDyjh0YSiE5yQVngqM5lGdzUyIknHcddd32dq6+8nFwmxOMzaUooq54NLZHwRxordJCLIrIyHCEO41I8063qAmuxUZZUUAxzdJGhPaymNaxjWznDCl02ztzRwjMyFnN3tLK2vRttIIiFu+yFKI2JSUHKFWUzeMFK5C6SROXlok7RyqAxrcb2kMln6Cn0064tx29fnM5d9z7GXxauY1FbiW3U0JkfQm++iaS6gSTKC5O6YwjEuzAU9UlKqvuJyCEn4cQPQ2TBGKMv1SUlMoEjaxJOnHQwWQZIC+JvPisqVa92qQACtc9g5FgCZ8k4Q1guaccyQK3pJ19upbB7JXs3zKF/7zpOPno8115yJnd/44s8dO+v+dbXv8y1V1/C5ZdcwFvfcjXf1tHSb3/zb1x0wYVkdZxX0jHibO0M33bddbz//e/j3nv/yKrVq2iXE+zs7CSRo/BzymQinOa0ce0aNq5erfsIKb3WL7Jm/xpJXowJQDT2dPYQF3qojkocfWAT777mTQzNNtO59ll2LHuMddP/yMZFT7BNl69710yj3L0J61qBXqolm0cdNl4R6Cd0HHue8MVY8U0GAM9XqzXKhCHekQXizYCOWdo0h3WdXTTbarZHg5ixp5vfL1zFfcvW8pSOjl6Uk5jTX2Zmd5Gntu/j3qXr+O3clUzf2UaLzdBnQ4qpxWgmOckXSktxinMBcTFGCqEYyNBbduwth7yys4NfvrSAp9c2s7Irprt6MGb4AZTrRxI3jqdLsrFRu5iZzT18Vwb6/0xfyNpCwD7Rts/UsrknZfra7Ty+dAPPrt7Bs8s3sk/0lcplph5zOGOG14sfZdBap4RKQ5zm6nxeqZVcWOmGSQpk0iJVtkSVKWD797B3/RzKXdvI0sspUw7jh3d+hafu/zV/+f2PueeOz/DZD9/IFz75QX5yz9388fd/5Hs//iWjj5hCf1UDGztK3PviIp5YsoVVvSFPLG/mG398jo9+716+9KvH+Mpvn+CTP7qPz/zsAW779cPcJx4s3rKbdvEoNTBMR9uN2gG7UkE67fBUW8lPZDz1Zc9V8biMpkVqLImJBBnQGhhrFSyVtQsvkkv7QHPpkGPMuWYOP7iO4YNTasIeBaQlbLkLV+ilKm+pr80zdEgTb7nmGu761l1Esh893T15l8ZnK/i4NRuFJ1ZVR9XZrDEHThzLVVdeYm799MfMZz/7afPOd7zdTJkyKaiurhYR1EvWD5Gsv+Oll1767Tvf+c7PfPaznx0EIpl//mP/+ShBXnDwvS+8dOvsWbN/HAbhpFzW2APGD+Hcc05SJPlFnnvuEV588XFenv4szzz9GN/91h1ccfkljBs9kqZB9Q1tLa0fmz13zq8efeLRK88667wLlyxYdvvPfvvDR+5/6L4l0+Y8v2j69CfvjqJ0kDFJ5VKuoaaacl8PgYTQmJIW1oNfYEeqBU2lWIkMtYdUKS7CVCCQGJfVr4sqLSr92+lpXsIBDQOMqemkuHsBpX1LMX1bSbu3YmMZm6RbythFqrGGDBnE+953sxzLVKqqsjQ1NuhI5jje+Y63c9c3vsEff/s7fvGzn/Kpj32M8886h4MnHkg+kyHRcU+SJsRpSp+Mc4+Uvj9Ty/aS4ZkVm7nn0Zf40q8f5NafP8jXH3iGux+dwdd//zh3/uZ+luq4JpFzSEzKQFwiCSxlHAOlIt7uGVICebbIBBLggKhsSKTQpeIA/f19WEWKLy1ZxsPzlrI3rKU7N4T8yPEcNPV4jj37bE6/6GKmnnwSBx9yoJxmg/hUJhIP5alEd4INggo+K2cmz0IqB5IqCrNBQBiFei8ypDEjJ9xAVjRmMxkKMliJ6EltGe/sE4uotIKsjJucliLp0GSkrAbjjQm9Wo9ugoFdtK2fR61r4+4vvo8rLphMU6aduG21jMwW0KV96LqxOjabMukYbv/yV3mbdo5SJKLQsmP7Nh3hlAkDy6hRIxg7dizHTT2WycccpbWYwOBBojETythn6WvrZO3SFazRHViXnE4q3nqnZKV3TsdORg46Q4mGfMJbLj+R4bWd2J7VmO6VRIUN5JOtmJ41pJ0r6d4xj00LvWN5Rkc1r+AGtmHKexlen+VLt35GRxyHkRFNgwc3Mn7cGCYffTSnnnwyRx92pGgcR76hgU4Z1mdWr+SnS5by42Wr+dOGbSztj+msacQ1DKdm5ARqx0wkHDGW/qbh7KyuZ7mNuHfNBu5X+zUy5N1VdbRLztsSQ7eClb5cDS2StUK2mr4gT4fJ056p44UN27l/yXK26S5ioH4Qow49gjcpUr70qqt4+43v5Mo3v5lTzjyXYeMPIa0fSruM9MPLNvDTZxfw2Mqd/OhJL58P8z3tZn785ELJ7ywemD6PsL6BvGzakYcfRE//AE674YRcZd1TsqQuw35dDEkkI6SGUBppnZHjUZWMdqCdaybt0MnBK/gfphlb18OFU0ZQV95K58ZX6Nn8CoVtM0n3LSFX3MGwwZbzzzmZ3/z6l7z3Ax+ibvgo9hbhT9MX8cWf3M93/zyNOXvK7M4Np7V6FB11Y+isG8UO08DifWV+88xcpi/fQJrPE1ZlaNW9XClBUpDBiHcRiYLLEqHk3hohlkxrcdUgxQGpWqZYzS0EF5JqV+v8fIwhcLF2Juto051tl+huX/c8reufo2fji5RaluB61uG6tsoB9WiMAaoiy6knnMj99/4BL7OZ0EgMB+zwofVcdsm53PP9O3n00fv46U+/xyc+8SE++YkPcMcdX+GhB+/jiSee4Mtf/jKnnXYauVzOyKGM3bVr10f+/Oc/f/qaa64ZzL/gsf9snHfffXd+zoxZN3X3dH2gtrZ2aCbK4H8T9Ctf/CTfuOPzXH3VBRw4cQQjhg+qwEEHjuWaa67i9q9+hW98/WtcfumlMmJNgTHmpN07994WWKbzAAAQAElEQVS9bs26H+/cvu0TYeBOD6N0sNa4NgjL2ShISMtF8pmsjImjShGpTZwWzAMVYUSLWAEtMBXw3w5rBJVlTwhk5AwRToIbuTJ2oJWBPet01DJXhuxldi17kn2rn6NlwzS6ds6npB2MpZdUdwNBaBg9ZiRvecubedMpJ/OpT32C73znW3zm1k/r6OVaTlHZxYqW33vLe/j6127nTl3MXnLxRQwZMoRIO4lS6iCbo2AiZq5Yyy8feYr7ps1l9tYWtsZ5uqvqKdYOJR40nEJ+EP1Uq1+N5miIe/vZsXEzbc17dbGq+ZZjEpV17N1LS/NuWrbtplNHGP17O1VeIFW0G4gHgdajV+Mm9Y3UjT+M69/zUb5193e454d3c9ddd/CNO27j+3ffpWO8u7j9i7dy4Tln0FhfT2ADojCLU2RrZQgDz0OBN9Q2DMRNJ0hJkjJNdbVUZTSacxoxpJgEOEVqaNdopHxGqb/XSW2qPg4XGOmd2hgHUlajckeZIO0iGNhOx8aZdG2bxd4lj9C66nFa1j7J3pWPy8A8S8/uJZR7d6hbDyPHDOfdN94oh3688EAgOseNG6u1eCu33XYbP/zhD7jnnu/zox/9iO997250rswt77mZAw+YQGSkCnGKP7LzOxV/75XK4ZvUEVqL1S4wosDhE4cy6bDh1NgSttBHVs4vlxaISl3Umj6qXQf1ppM69oFkpXvHAvwl80DLSrRojBs5gnffcANve+t1+KO4H9xzDz/8/j18/7vf5Uc//BHf+e53eNct72X0oQfTl8+xRuf3qwsFdonH1RPHc/Il5/PBz36cb3z3Tr75nTu5XTL1oU9+nLMvuZT60WPp00X53I4BHtER09y2Ptrrh7EvN4it5NiUREqzbDd5dthqdiiYmL6rk5e27aUjV82g8eO4/qZ38e27vylZuI3Pf+Gj3PrpD4rOT/BtycW3v3EH173t7QwaOYb+bB1zt3fpXmIJc5o72ViM6JCT6a9rolTbRLmqkX6XMhAXmTV3Np19ZWI5ECQRxjksyatQVlomNDFW4KSDqcCR4gIkFw6dcWFLu+hc/yKtKx6ja+t0upvn0btnIZ07Z9G2+UXJwlPs2fACvR1rcOU2RjTV8IFb3s0NN7yLuiHD6I6hV/OORdvgiYcy5YyzuOxtb+Oad7yNi6++nKNOOJnBEw6jFFXjMnmBoT/ppWegyK49nThbq+AvS+IkJ5IHUUUqAlNCURqhBljZG6sKD4FRBoGap5Jv+XO8zDdkhHfHOjo3LaZ/x2Id4c3Tne3z7JVM71n1FPs2TqNj6zxMQfe6STdhOsCbjp/Kxz7yIcaNHcGZp58s+/IxvvKlW7n0orMYOrhGOtmPS/rE2ZLSAvl8hgkTxlXkXvcm3HLLLSrLk6ZpU29v7y0zZsx4n/ShgX/yo6n+czH+6lf/dlKxOPD+yLoh1VFi3nnNhXzh4zdy1smH0Jjvo9ixCde7k7Rru4zcDsKklUzSzpAGK0Ydy+c/81Eu1/GFcXGkqHescYXxSdyRGaJ9yLmnHcmlZ0/horMmMWFUFTVRTMaUcRJYK2PgEvYvaGoIsPpnxGAHWm6rb6MUCbFRQ2sS1ccSEIeJ8pRKKWFgJBolasISubiNfLqPbKmZpHMdA3uX0rbpFZpXPSehnU2xtxlT7qIq5zj7zJO582tf5obrr+Hg8SOozUNopSRuQHQU5fAMI4cPZuqUyXzxC5/nne+8gXpFgKGi9rJo7YsdizdsZK3O5Nt03BNnIyaffDw3Sgg++Zlb+crtt/Ppz94qp3UNk448jOrQEiUx/a1dbNGZ+ZZV65WuYY0u+zevWsW21WvYvmYtW1evZdOKVazRTqR581YCBwMyTlEuz8FHHMbnPv9ZPvqRWzjt5KOYMLqGYY0BQ+pSRjWFTDlqPNdefo6OlL7IF2S8xo4eRiie5UKDlfG0cQem2IkYgSl1SNk7tJadWNE/qC5DqHaJDHEiDhDkpEi2shbG819mxTsWlHfCmSr1u5vUGDwoJiDV6oQiOGt6CMt7Sbo2kS9uh67VBNoRoB3AwJ7F7F47nX2b5lBoWYPrb2bihEbe/26tw7jBov9svnHbJ/jip9/HZeefzJQjx3PQhBEcOG4Yx045krNOP4mPfPi93H7blzjtlFNEqSMpDlDo6aJdTjmUMbQ4rA80RFFGRu6g8YOpzmpWijLzUY4gNaDQNavZRYpWo9RHrb26UO6hii7CgWbtpNYrGJlLYd9GIlvg6kvO4suf+RBvu+YiTpxyGBPHD2XUsEEcqMBq6tRJvO+Dt/Axrfe4I44kqZJs5iImnXwsn7/tU3zzrs/z7puu4OILp3L2aYdrXidw0zuu5uu3fY4vfe5Wjpg0mc6qOpb1pzy/fR+Pb9jBI2u3ct+Stfxx0Qr+uGA59y5axb2LV/Hwig08t3kne8KQIaMG8fEPv5MPv/c6Tph0AIPrSlSZNrmgfQoMehk5OMMpxx3OJz/2fj74wfdSJfktZWtp1VFlm9Zq/DFHc/oF53HR5Zdx1nnncMTRh4Mtkbp+Vq5ez0NPvERfyYKMrJHTMJIBKwgEPkW8NSbBWIcJUF/EeSfj7aWjLD53ExabCQtbRNNusqaVjJXMSTZC7Uhs/ya69y5m38YZtMlIm7iTXFjm2msu57QzTidTXU31oAbtVt7LXd/+Bt/5ztcl1x/hC7d+kK99+Vbu/t5dfOPOb3LDjTcxePgQSnGBIHSUpWfLV2+UU8wQ2ypBJGkNcdZDRlIRiVhPsME4CJyTHKUYBSJpWhb9CU4VsaYuXyOWlMhLR6pdgUypnVrXSZXbQzbeCZrDQMty2rbMlZ2ZTrl9o5xJh2zcAOeedSJf+fzHKvL85stOpTbTQ3/7Bjp3r9TF/jp6962j1LFV+Fs0dicm7pHdSTlYMvXum27g1s98krq6WqOnqVAofOjf/u3fLhTh/9SPpvjPw3fbbbdVrd+89c4gDMbnTR83XnEilx/fRHHrs2yc9RvWzfgNuxY9yOaZv2frrN+z8eVfs276r9g8/172rXuaQstiBlV1U58fkDHuJwx6qYrauey8g/nBHTfy+fecxcffehKfu+EMfnnHzXz/q2/lTcc2KWLu1QJbnI1ItWIpDnlh0IIaAXIeFQfijYMW22jKTu2clADniOWMspEKFWVaSiRxH1aCbWUYMiYmK6eQd53kS7vJ9G2kZ9t0ti98QNHEc8Qd62msSTlgdD1VtpugvEvGb6ei1i0ShL0Epp3A9mLtADlbZvSIIboIfh9XXn4Fee1KImMxoqsU6NgrU+DYY0bz2B++yQM//yxf/8xb+cA7zuS6S49RlHU+3/r2x7jvjz/gd//2I06YOoUQzaQMe3bukfFrw8Yx2XKBbLGbjBxdSD9WEb7T+XupbwCnyDufr2aidlPf/8onefOZBzIk2kZY2ky5cw3FvYsoSSFd5yod2WysKOvokVW8/S0XcreM2EFj66mxnZw+aQRf+ciF/P6eW3jgxx/mt3e+j7s/czXXnDaKw0eKj4U9+OiypLnFMrixcSRaA0QxeEaLckV4RtRVoJIPxAdbAUtQqRESvRtCa8gGEHgDbp3WIyajtalOB6gqtVDes4ztkqvO1Q/j9s7gxMMifvS1G/ji+89h0sg+wo65dKx9SruaJ7VZeIFyyzJscTuZsJfGOstppx3PT3/2Q849+1TqMxE1gcYzKfkAIh1FZrU+NaKBUpkhDXVkAkmOdk9lOY9U5sSovV8KZwNSE4rQrMTKgHYz1WFCteshUAC1R1Fnune+5Gg9DfEmgo5lJF2els0aZy/ELWSqYhokT5dceB5f/PxXGTpoKJeeczr/9rO7OfekQ6ktbaW4YyZdOh4p7p6N7VtLfbaHkaPquFhHH7/45c846OCDKUi2VheK/FlBygvtHaxIHZu1FhuDDKvE3YU6dprb2cpuE5Nk+rnq3IM5dlxM1+bn2TbvftZO/y1bZj/Axtl/Zu+q5+natYQw6GJQY8j1cl5f+/oXGDykihtvvJrpzzzItMd/zS/v+jA/uu1d/Pp7H+OJe7/Lgpce4BPvu4Exo4bxxPSVrN3RjjORVjfAas0roDeDZMJkxbNIkMHJQZnUqo0hkp5m1TaULPngJNBuM5Vztzh8m8hkyEiucpKvOt1LhD1baJcxbt82h2x2gBGjGrj+ndfx7vfcxLPPPYb/ZclTTziI0ToOG6TAqbYmpL4mxwTp5VknT+U7376De+/9Pde99RqsbMeg2gybNjfTV4wZKEtag2pSYyTPDqcxDamWPqkAshlOcpMKRDZYq48FyVAgGfKALFVFXkR/aCUv0smwMj+jeZSli13k4zbS9vWS1+co75wDZi911b2cdtwocuXNrJt7Hxvm/p6dS+5lz7L7aV50H7uW/Elr9Xs2zfojuxc+QqF5PqFkPDIdNDZlNJ+r+dCHP0AQhUSZ7NCOjq7b3/e+9w3ln/jYfxYu55x5ceaCU6ur8ocYKfrkw8dz0jFjGVLTTW26k6awk8G2g0FocrTTWIE2GuSVo56N2rrOY+fKl9iy+DkG2U4arWN0reH6y0/mUzddyohsFzXFXTTE+6ge2EFtvIeDR0QcPLqavC1AuUhgIzDBfwErgXWAw/4XwFi8ncAYJD0CtTRqbCFNDUavlpRAhiFyBRmyPhptJ1WlLXIqc2nRZWvPhpl0rnuZHYufoFmwY9Gj7Fz8KM3LnqB1/Ut0b5+Dj6LTZAdOxzb1VUVuftfVTDpiIlk5mKooIROVmDR5PDe//Vxs3zqalz7K5ln3sWXBg2xZ8jCbFjzAzuWPynkt4bjD6rjn6+/nrRdMYnDUJuhiSK5D/OrjuAlVXHTCSC47ZRwnH17HxKExI6s6GRZ1UOdaqTPtnHfiePFvO83L/iL897N5wV/YKrq3L32K5qVPsl35TfM1vmDv6mn0Ny/i+IPq+Nx7L+Ez7z6fz91yEReeMJpDhiSMbxjg0KEJpx3exEdvOIc7Pn0Vb73kZO1SeslrOYgHoNRLxqYghXJOib70QTIj8OVGDPcfpfpgVKaV8iXp/oakvm+a4qTgRkrsFdNKziKKVIcFquii0LaOPVqP3SufI+xeS8/2WbRvnK7jype0VjMYaJ6D/y3l5pXPsmvpM/RsmkHctZZAu8+mbB93fu69nHhwI0PDHg5qTDh4mOXwMY4JQ8oMyffSlLUMrTbY8oAmEeONRuoNiOaWSlBSyVBqLIlPZUjUCEOCVfQd0Y/p38nuDdPZueQJdi57mu3i9eYlj7J14V/YufhxWlXXt2cBQd8GcjrWOeP4ifz425/iG599F651pYz6CzSveI6ODYq+109n9/Ln2LLoKXbL2Pdum0tQ2Mq4oZbbbv0IB4wdStkUqBmRxzWUiTSf2mFQMywi2wSuOsbmU0xQwu/YzpwyiqhvPXSsItT41TJEVYVt5Pq3UJAj2bv+FXaufonunYt0F7eXi884nHt/dTufvuUyyd8+ti983EfN/AAAEABJREFUTPQ8ybbFD7F+zv3sXvcMUe96br72DH5xz5d486UnMNDbinPim9aywjetcfIqOHHK884Zg4dUcqCcL8WqvXEqQHSrxH+UxZcZvXiwkpNQspDTTiif7KNbMtu9dY52zTu10xrFZz50DUNkkAdaV1DYu4R+HVn3b51F39bZ9G2fp+OmBcTifVEB1cFjAr7xmXfxnS++j5OPHE1taCl076Eqi+IDraPmEFitq/FU/D2wkg2L08rzKlRodb6tZFgO3KFULZwAPwfJtVVZJkg1334Foh2kfc20b1tMSXeEHetnyj6+SI/4Xy15HZS20JDuo5FWgVLTRoPyWa1Z0r6G5jXT2bHsOenAfAWJq6iOujnnlGM45rAJ1Fbn/bHXiOdenH7OAw88EPBPeuw/CQ+LFi0Kly9aOLm2KpfLRY5jjj6IpiZFGkk7kZQ9Q4mMtrIZXahFurwO034yHuJeckkXdaZPBq6doGsr500Zz4evO4F3X3ki15x1DNXy1LVpD3mdYWZ9ewbIKF8dFslo1xAKXyTcgTc2Whi/iP8ZUgnj34XX2ssI/LXPa3mlqeor/XyK1dI7grifetHboEgtbl9L66aZdMpwJW3LidtX4hTlpzq7LWvL2r19NvvWP8+e1U+wb9kj2oY/T1fzXCYMTfnSx99BU75AFb0cPq5Bu5BLmSBlr3Yt4sku8vEOMtr6ZvplXAY2kLQuxv8toH2KsvP9y7nh0kPEn5GceniOm684jDs+dQHf+PQlfO795/C5957J1z9xCXd++mI+ccNJ2oWMZfIYOHJ4mQuPH4bpXEHStoKqwnaqC7uoK+5lUHkv9YJaOe3awg7yPZvo1WVh+9oX6dKd0ZSxhotPGMnwbBvZ0j4ypVYZlk5yrkvb9DbqbD8HDKvmuMPHUWO1NuU+zaNAXeB5VsIoQJCmvKpfTqkHcDLGzki5/h7gUM3+b+NNj95kXFI5FKTQqSsTJ0WM6gwxlLsVkbUwJFekKumgmu4K1Npu8mkrVVLASMciJc29ffNM9smxtMr5FHbMY2Sulc/efDa3f/Q8vvaJc/nWZ87nG7deJGN+OV/48EXcct0UDhiaI69jvkDj76fZvUqbUuNB9FUoVqr3VHmUGjmVKsmrFa+j0h4y5T0EAzsVlDST7d9KqjuVHhm25sWPsW/F0wpOnifoWc6bJtdjelbQvWMO0cAWOZk91JhO7XYEaTvZQjPFfSu0S36RltVP07drDqcfPYbrLzmVg4eHnKlo9j3XncSXJAtf++xV3PnFq7n1A5fw5vOP4sixNQzLl7nx6gsYWW/IJp3aXfcSxe1Um15BF9V0iI/7qNaOu6QdYOu66fSsm0Z9up2x9d30Su47JSNB7zoyhc3UJM3UumZiOb+4bSWt618m27uBd19xPCccNVrrVCbVWnm+JEodKU7r7u/PKqnPC3zeA6qvgMr+Q+rLXyv7m7wRn/MUdCS6F/9jxT3SzT5ddu9b/Sy7lzymYO9ROb2n2LPqOenk8+xZ84x495R4/jAtKx6qQOuSB4l3zeBNh+T41M0X8OF3ncCYIYF2ST24uIdMJJold04OTMSDdhb7U/M3efuf8qpDj+aMidVcsvxqWnkX3d7R4lPJl5VsG1ui2LePvUtfonv7IjnnndQmkmfZvBr1rZIeZHRHGSUlMrKBOTNAlj5CrV8uacGfmrSsfUVy8QItq16kIezi1OMP1xwGCMMw29nROVlHXjlR9U/52H8KFiHZvHlzKAdeH5LKBMcMG1JHGJSpyjuKpW4xz4uNEauMWihf4a3Dl+BKsgv9BEkPYbmdOh1vnXPSwZxz0kHUhwME3kAQk/FbXCmxsQ5tFUiFzf+IrA1DsBEleXenRXA2JhX41MPf5v27h7+W4YQHvGCkmofEhFRC4vMYg9NsnE8rdb6dMl54yg5TLpMNYnJ2oCJoWXrJuD4tqITZFMmbfvIqy7kOIp332t5NlPYsp0MKuWfZU4zPtvKeSydz7WkT+dj15zK+PqU27ZKhKBCWeshRFK6iUuGTAOXFn5wcb1RqodS+iUYJx1sumconbj6Ty888iIMUSTdV9ZF3rWS0c6sPO5gw2HC6vMgNl5+gKPICPnrzRTRmi9SItmoZfKNxsmmJbFomU4Gi0oIMSj9ZzaXK9hHIaQQ6uvJ3XTW2W+vURWRSQm3pjM6UkTCHiqgClaVJWWwT31IPltDkwWVxLoMWSWD+CzjUtgJqqtrKu+e5AI3htN6VNfBd9e7L4jTGBpYwCPDNfE+r8SPjtBZa01JRfstpTwqBQV0S2fSy6CmR1bz9mgVxB0mPjHHrelo3ztYRz2ztPLqZfHAt44eWGNnQw5jBfYxq6uOIg2o5/8zJjB7WgIZFyHD4UfWlz2v519IKUSLMv3t5wvhGCVbSlgkNoWQ3lEHKyriEidZMO5da8TovQ5B2bqV/9yr2rniF3StkSPasJG+7COJu0Z4oak3JOCGU/IVauzwDZNNOSrpXats4R9HrLO1Oh/OVD1/C+689kcveNJ7J40LGVncyuqqDkw+t4R2XHM2tcpxf+MAFHD7aErp+8Ul6o6NeQ1nGJiXVMaLR0ZEV5ERbFT3kyi107VhC+1pF9VuWaBe9i4ycdjbtpiookREtefG3NhMTljsliz3YgRYi6XVO5VoZPOmpeON5kmoaKZ6PqlHesf9fpVxr6dvuB5X7+krZq3nxUrnXevw1NS6WzsSS2x46d6ymY9syXLeOneXIM4W95JNOyX8v1baXKslzznSQp4Vq9pGP90LPVp0krMH1bKfG9jOkLqt5JSJSlJpIdkZWzsoGW4Oz5Vch3p+aV9O/lr9W79OYiuOQjULrjuQVoxkIPC+srLFD/SXbUMKYkmStqLXuVMAmMH2io4iVnqZxQio7ZGxEagISOZZE8uRMmUB8zpteammnOtlN2rFa85Hd2b6MpmqwkhmcMeVyWt/bq3NP/jmPyP/nIOrrG+JKxTgldVgZ/JZWGTwZmr5SiVxNLYnUKDGatLHEJiQW5+LA5w02jDAyRlaMqKsOxeceajJlQgloZAaoygQ45+gvlCCIKINAixCFEGUoaNiSi3BirJpV2upLH7XZX6CFMf8BrHntHZTTl/9+FXydStFjKmAwxmgGhv8f+14WHOWVpfn9/5+bdsDVPdPdExXVHdXlqrKxASG0pKTUkhvgrbuj5mEe5mkiHB0xDzUTMS8zL66XsY0Bs5iqHhuMzWLRoymw2dGGNnYjIbSxiR1tmanctz+3+e6fEsYu2+2qxh3Y/m0+zrn3nnvuOd+5Syplg/HLsgmyVABZMVLmkOFXOWleyuCjaFByUKScxoHEokv8xKDwUJq5MVJhj/bpryjjgRK6DmluGP9Q/zd49T/W4Nn/YMZi/gSXiQaQ4y/oFMmIdCoNZLP0p0Dmv1KGOjk1pJPcYAmIy+XflRiwmF9XlJnTKFKSyCT8XDsBi5LRbLJx/mTIn+LKTBn8DX/J+lc/KkGJhYeAMecyKZj5EDMr5qX9zT0GgKrEnxZUNUaVNuYssvRh5IeDXC7OPhXiglT53TX3MwwmA2iBNA8xw0SSMUqK6DMglVOgZgwAOctlJHDPE6xLdkHncnQi5SRImpQp8zpHIOoOYcs65mgjwMVh4B7KZXKMKwMFgAE5iP8iL8vfG0GSIf6fCtlg4b5TkMoCafqQDWb6A+eokHigDEjy4WE+aR/4ypNPHwqVGCxyHBYpCQMveYkfhAoMCRSYU3SbhMHAdciAxFUlABJj5t9aj9DzfRL7CYBSfjgGmZHKMjKMO8NaisfYINOG+8RAvnP8idfCS8iYCfPyiEBJspbpAB/uGHLiJ3KThEw6BVVNIUeiTSYLwP2RSrJOjNWIKBRe9qGpT2FI3MDP/kLGj0wRWFQfCtQAnjJmUMJvA4yJWZRJAfx4SRpVzyxBseKD+NomS5+ZrAzZwI8xjDFNziSeTYWvscQPahL3sZGPhaIGkQxMQk75YRLnk35lnsh0Mooc91QyHkWWXwUayb6ZeVl4cRaSNwPEChJARpg2wPUkoUtSXs9RsA1C0nQZOU2X8jzmOMI9IGkAILinDg30yHGhMwOk4ioUXq5FxixMiEBS+cGBn/ItjNfEuhvEueRelnNRVjIKAy9giRymeX4kfgtiUZKwKLzYU2F+Vooix9izjNdoLgIkE1JpCRnedVKOzVyO8QlQp90f9Gnj4D85IkNbgh4lxi0TEvMQMctC0sTIVAzkTuxRo5RGNhkCMhGeaxVGbhiTyQwo4mzJZN2ALPd1RlaQIY8sH3JSDjmebyUTRwF/uimzZGBmniY5gXjEz1zBM5DNKZJB/clPFmcY1GP5w7Afix/85CdILy4p8agpNasyo2sT9xFVzYjnFiGWLkYqJw62iQkb+ZgYSYJRlFTTE0wnx8uT5wvJZALIZUi4ChO/LsuIzcmiZVhApaAMqmRGVrZAzSlIsj8NA3UDS0iCUQjkCji38A+AbAG+FLBwu5oJ01cC3I7IGSEgUaZzZiS4biIN5gUYLAaYChmXBO3SyjK2HOOVZBNkyQCJuaUyJpSU/SUyHEvxMchluTmkICzmGMzGOO+ZBB/FGApLn0JGKSM3pZDMi5BVCqFmjAT9GIogGwshKWbIshFmbio1mYTFaOSBkJFW0zCaiiHJFqQyCtIZmZefBSbFCIMsM/4siooKAcmAHHmUjMWIp2XmIiEOQlaQYKxx2iYIubgIiVwOcXFhKRLSRIT1gMVCKgx0Y0RWkqDyk1RayjLuLGvCh0bJcYPn2AbzyCJrMiBFO1FjTgRyJsJA5DlF7lH9sz4pa2BUxnmYILMOkgYz87eAixAKpKwC8CAqrIlMXrKcIRlNyEBGVjYgK1GXzYxNRppM5Zg/GI8kSRCPpsxLw2jOQeUBzKRzSCVkyFnymCtGLm3mwWP8/AWsJEnI8hCrGQkZbU0TwP2Qz8f41XrWiByMyDLPDPlNSwqy5DpDpAFkFRkqf7oTlwDA6JUcVF7G2VwSaiIMBgFFAVJ8SJg4jIWF2r5TeWBkoxFmi5njEvjSMOMULPzgIC7HnPCZBRSpALJUgkhEol0p/Ym2AQajTJ8RUpGmBFc2Q+aeSOUK6L8AOaWUcXEv8eykYdRy4OcEmLjvTKxpLs2zihRSfAyz4DqWQuZi5HkohGwwIyeB5yGdR1qFTBuJvEnkQ6tdhvUV+ryUyKUY0zCvy0L+kcjw/jEWFECSZcTigr8kzIYMigpkcpFjotyfFDmJEbGeIP8pyEjy3MBk4b7mXiG3aT6gRpMJkFg9gwIgh0Q8xtpnOEVhN8eyFoD8QJNfpRfQxgIpY4aUNUPsGZGrkBD5iz7eDyAPMs+GzD6Fe8Uo9nNWgtFghKKYtf0c4weJCKFCQVo28nwpSOYUpLjHszzTAhneT1kUIyuXIpYy0q4EcdpMz/rx6cUhgD5lRiJJuBOJRBJM7LH8kR+LFzppbGxM//L58q5YIjWRyhqyg/pDvqwAABAASURBVKP3cLBtAPd9FjyYK8BsyAJPxAxP3AJvshC+ZAnmkmUIpJfAGy+BN1GCYGYR+4sQynJMtSCgFnK8GN5YAbzJUkyGLfAkijGbKOLcQnijFvjoz58shof6FNeYCpdAYDJSQvs8HoSLMR0pRb6vGJOhYoi+B6EiPAgSbE8GS/Ag9BnuCz1YjPvEAzHO9n3KB7S7R0xGFmE6voi+CnDfb8aDgAWTwULMRMowFSpju5R501+gBFPBUkyHy3DLY8FUmPOiizGTWIIHkWLc5rw7oULci9KWMd7ymSHWuc/17swVazFN0uck5z0IlNIn+/yF9E+QV290EaYCRbjvtcATWYJ7/hLGxDVCizCjoRSTgQLamzHFdUSct7wKprje3UAhc1iS54WxTLLvfoz29DkZLcPdOQt5X8KcSjDL9iTjm40/RU5KmHMRcyrBNDmZChdxvIR2hRB19LI+9wMmzMRpEy3CVKQA0+FCTFOfiRVhJlZICJmH6M+jkDYCRZScJ2yjxbQVKMEUdWE3xf6pcAFm48Vcr5R7iuORQkxznRmOTROzsRLyW4TpWBnnL+bcRZiNLYIntoRYTK5KMcucPcQs985s3ARvsog2hfCrizEdKoUnvAR+5utn7r6YhXuuCDNhY14ytxnGMxMr5hyBEni4jz3kb5ZSA2OYZYyzbHuETngZjy+xCN7EYsxESxlzCbzcRz7uB1+ScTIP4cObKKVNKULqU/CxLnOc5+e4j2dG1DHAczOXXIRZcuphHH7mFqDfufm1vCrX4JnxpRZhhnlNJwoRyC3BNGszGS+AJ1XGc1TC81TGdcoQpO0cY/Vq3BXDn1oCL/17k0uY72L4GE+AvgJqKebihfCGzQhwDR/z9Seegi/5I+ayCL7EnzEvyjjnk+uA+iME00+Ro1Itz7lkGf0tguDYz/mftcvg53qiz69yXNPLIPL1co6X8Xk1Wca48vCpZchj0SOSOnmajXMsUYZQejHviEJ4ogXwkts59s+R6znG7GVtveIsEp7En9PHv8ds/M8wy/Pmp01Q+OGZ0Xhm7UTd/OoSBAkfefbRv5c2eTDfhzrXJG++R9qf2SyCl7X3zMPLdfLtRZjV7BexJqWMo4R2pZTF5LUUM7zPPGJN8u9Ti2nDGqiFjLkIvkQBa1KEQLIEYXIaYc7h7FMIZH+EQO7PcStgxNi9JD5u/xQDw7eQSGVz/OB5u3zpyo5f/epXKV7fj+XPY3tMRDRVVUvHfvzXP309LZnvhRIm/L9DF/HG1o+xdWcnNu9sJ9qw5YMObNnViW17urBtbze27O7GP/3zWWz76BRxmvoZvPNRL37b0o+tHH9nby/b/di8pwdb9vZh04cnsWlnF9FJf53YtL0Nb28/ho07jmPjB+14i3iTWMf11glJiL433m/Dm4SQGnacwBs72vDG++14fUc7/veODkpiex5vaO1OjhM7OjnWyfldeP39TvZ14Y3t7XjzvXas295JdGDdex1Yv6OLUrRPYt2Obqx/vxfrt/fire3U3zuJjbRdT6zbfhJvsP3G+3302Ud/PXhjx0nqnVi3swNvMbb175/AOkLE9jrX0tZhHOu4xluajw6uQTDeN9/r5Fpcc3sX1mm+u/Cm0Nn/5rvCppM+haRP8rSeNXhj+wnatDOONs4RebRp+bzJPN58l/OJ9fSxnvM3CP095vBuD9a/J3LqwUYtt25s2NHDvER/JzYIe3KynnFuJE/r32ujHddm/Ovf78B67oN1X4K3PqDNB12s3aPopH0X3mKt12lg/LRbRwj7dR920L4TWp1Z6w0fdmL9h11YzxqvZ003cL2N9LmBczd+wD3zYS827uzW8Pb7Pdw/At3cQ8QHfezvwQb63sj9uJ5zNu3qx9vs37Szl7Zd3LddeHtnGzZz775Nu7e51oZd3RD2G3b1QGA9524g1rP/i9gg9u0HXGvnSfrrxiahM6bNu/rwNuWmebllTz+Evnl3P9fqw+YPeQ52ncaWD6nv6mVfD89DL97eRT97uvEOz8RW2m7l/G2027b7DN7Zcxpb6WcrxzbvOYlt+3qwpaUDm/a2Ee14Z183z1O3ZrOt5Rx99nHOSfx2L23p87cfcQ3KrcQ7e3to25M/e7tPUrLNHMUZfWdPL7ZxrS3kasueM9iy5yw2UW776Dx9n8G2vWfo9zTPeD9jPoete6kzri0801v29EGTjHELsZm+NrNvsyZ7uWYf0QvNrqUPWz7qxxbeCZrU9FPY/FEfQZ40+Zm+teUU1+vHNtpvo+0/sf1bShHPVsaUxznGJnAe2/ZcwNbd57Dpw1PUz0DYvbP7FMf7yckpvLP3FLZ+dJo+T9PnaWxhvbfxvtLiJlebBUdCCjC3zZSbFsA7bBPHF/A2c9w4j7fJxUaB3dwDom93L/dTLzbt7ccm9m1i32axtuB4zylsYZ23kJ+t9PfOR93Y9hFrRvyO+u9aevF/mO+7Lafx3r4z2NF6Fjt+f5617sfm3T14/XcncPDkCB8dCamMcucvf/xXr9c2/bdhSZJy4u5+HHisj8lrr72WfuWVNf/3qcV/8Wt/OHs9mStL3ZuVcXY0iFMjIfQOB9E9MIeTFz3o+NSLjotetF/woo04cd5H6cHx814cPefBMcqOi0F0DATQOUgMBXHychA9l+mHsn8ohFPDIfTTZ7+QY9THgugb9xFz6L/iI4QU8OPUtQDOXA/i7I0Qzt0M4zwh5LmJAM5NzLHPR0ncnMfEI/JR/aawncPZm0HOCeL8RIiIaLgwEcZZ4gz7zgh5I98+R3lhwosLE7O4eN2DgeteDF6bw+DVgIZL1/xs+zjmxcCNGXw6MYMLN6dx9paH8OHszcA8/Hk5QXndh9M35nDqBsdFW1sziNMTQcZA3AzRNsQYAzh3S7R9OHPTS3hwZsJDG9GeY85+XGAsF8jP+WtBCJy7FqIkrhJXBNg/TlwJ4/x4BOfGozh7hbgawVni3LUwzgpcDeMMbc5wzukrjOWqgB+nmedp6n2sT7+GEPIyqMneUT96R74A9nULsL+b6KEubHpGAugeCX4pxHjfGGt9xYtTVz04Tdk/7kH/uBf9Yx6c4t7oH59D35U59Ao5Ooe+sQB6x8JcP46ekRi6qXcz127G2cN920v0cc3+0QD6uW6/2McjYfSNCgQ5j/MZW8/IHHqG59B9eU6TQv8cRnyMeQbdw9McF5jBSeonR2bRdXkWHZem0TE0Rcyg7fIk2i8LfQpdQ9M4OTQzD+qXiaFJdF16oKFzcBKd1Ds5v/PSDPVZnrEZ9A5Mo2dgCj2DD9B96R66BwnKnkv32WbfIMc0mxn0DMyg6+JUHuzrIjoGZtE+4EH7IM/pJS/9etFxyYc26u2U7Zc8WtxdwzPoHJplvLPoYB6aTt/tjKt94D7aiBMDkzjO9nH2d4gYB2d4pv9ldNCujTj+6TSOM74FeYLxnbg4zdhmvwQzOME1jw7cwbGL9zjvLo5/SkkcG6A+eB/HBx7gGOUxxnWCftsvTqKLfSc53j1AnoiT5KqLPHeQ7xPk8ThxbHAaRy9N4filSZzg/HaOt1PPywfI63nZMT/WodV0Eh1sdwh90IOuwTnm70MHuW0nj+1D5HmIbULjVkiijeNtAz7ahtB+kRgMUCcG5tD+6SxOnJ9BG9F+gTycm8HxMzM4emoaR/oncbB3Ap/03aCNqLcXE54MorlFmZyh7ObTv3zu16/+43/Z+9prjenH8Ygs+Hisj4lw+pvf/Eb9r7/+xyNrX37lP6UV42vT/nh3TDWP8fcmVyNq4UQoab4VjBtvB2PKnWBUuROIyYRJ4HYgbr4VSFhuBhOWiUCi4MZc1EQYr8/FlOuBmOF6MGa45o8aroVi5muhRMHVSLzwSjRZOB5NFYxHUuaxcMo4Fk2aRvk94WhUFdI0EkvlEU7II6G4PBJOKAKj4bgyFkkIGMciqjL+ZYiqhvE8jGNRVcNoNGkYjajyaCQpjXL+aDxhHI3HDZSmsVDSNB5OGcbDaYVSvhJW5SvRlIEwsm0cD6Vljslj7BuLqoaxuCprSCSVsbgGw1iYMsT+oKqMRVKyFldUpaTfaMqkxROhn2hGGY9xPJqSxkIqRgOqNBpKiJjkkVBSYo4SJXVV0WRYlUfmMcz4h8NJeTiSVIajRExVhmMJw3BMNY1EVctINEkpkDCORBcQV0bCceNIKGEc5k+dw37a++MGSuNwMG4YCcVMowLBeF7SZkwgnDCNcR5hGouzRo8imjKPakiaRrnmaFQ1jTKGMQ1J01giaRyLq5yXNo7FODehmsc4f/wRXKH+OURU45VwwnAlGFeuhvK4FozL10Jx7hvVeC0kkDBeDya4n5Km6/4E+2KF1yLJYu5Py5WIargSSilXQqp0JZimTBjGQ0nWLsHaJgxjgYRhNJgwjtKf2EN5xJTRMBGKKuRBIfeGBQwzluFIwnCZ8rImVelyKGnQEE6a8lI1XY6mzUPRlGUonDJdIicLGAzGjYRhMBAXkC/54xKhDAUSytBcXBnyJ4VuGAokjdRNQ6I/lJQuRRLSYCQpD4YThoFwwihwMZIwaYiqpoFo0jgYUQ2XKC9FksZLoaRCGIaCSSJhHmLdLjO+YYFAUtTcwjbjS1ouBZPmwWDCPOiPyQMCjGMgEDMRxkGez8FQwsR16VM1DYVU0+Ug8/SrhmH6HvFzHwWiykMZIG9/0Dc/zvthJBRXhkMJw0NoHCaU4XBCueyPSl/EEPvIgYHrGi+FVcNgiHmGkpaBsCrAGNkOMO8gcw6rxqGwargcSZqGxTrhmDQSjGEkEMWIL5Ib8YQJykDSOBJImEYDyTyCSdNYUDWNca2xQEQmpHHKeVCPypoeFFID+yLyeFAgplwJxmSBq8G4RID3mnLNH5euB+K4ITAXkW4QE3MReWIuLE34kybei6ZbwZjpdiBmuuOPGu/MRZS7gajhbjBuvuuPGe/OxUwEZVS54+Od6o0bb08G0hMh3qPRpOVqWiq5kJOLN1dU1v/n+qb6Y6+++mpK3NePE4/9MRHBiUB3737/0/uTt9/69f/4n/+w0mpdvayiYm35shVrnn926Qvlzy97cfnSpS8uf/bZF1c8u5T45Yvlzz37YsWy5WurVpavsS6rXFO5fMWampWrVlesqlxdWVXlrqp6zl1dvtxds7LcXbVypdtaUeW2LlvhXrlipXtlNftqV7mtK1a5Gyqs7uZV9S6B6oo6d9M87JU2t0Czrd5ts9a4bbVWl6O60a2h0u5yPAJbTb1ToL7G6RRorLM55+GyVzY5HY0NTkeTjWh0NjU1OW22Rpet3ua0We20b3RaK+tc1qpaZ01NrbOKsrGKbY5Za2zOuvomZy1ta231Tsc87KvqnbU2m4Z6G8etDa76mgZXQ5XNWV9R46qtbHY1Vza6Ggk7/dQxvnqiqb7B0VzPGLi+o6rJaa9pctZVr3LVV1W6rNWNrmaiqarJJeCy2pxrHA1Oe509j3q7s7nnl9jhAAAIFUlEQVS+2bmW661paHKuaWpwOuscTldds9Nly8NJ2WStcwk4G9jX0OB0NTS4XA02l42w1ta6rdZad7PV5rJbG5yN1eS92uZqbrK5mhptTlu9w1UvYLO76m3Mo7zKVfsIGldZXQJNVStdTdUrXbaKGrfIV8BqraTvSnettcJdW71KQ7V1lbumZpWrobLcLVBXsdz9RdSz3vV1jW5bXaPLXmN3O2qaXY6mJleTzeFurLMTze76ugZ3fX2z21bNdKpdXKPeVbesxl1ZXu6uqljqslYtY+3KnTVVK53WimpiObHMWV9VznqWu6qqVrhqaipos+pzsFpXuQRsdTVOgaaKFU4BR/Uqp6O60mmvrnHaq+qc9mo70Uw0OWuq7Bpqa1Y762rqnLaaOpetxupqrq91NpVzjzobnawUYXc2NDY7X2xwOBsbHI7VtU3OtXUvOVfXvuh0161l3VzOtY1ux9rGNY6X7U2OF+3Nzga73elYvdbpsDYSr7js1maiyWV3vui0u9c4XmhudrxgtxENtHc73A3NjjUvvOBY+4LL4XI3OdyuJru9abW2oMvZ7Fi7xuWw1Tudzc1rnM32F5xu62oNdbVup6PqRZfD3uB0Oui7mbUvr3XaymsdVmu1o7q6yWmtsjvs1c32hop6h62y3rEgbavqv9BX7mi2Vtrt1ZX2eelwVlc+BPu5Zo3dba1xrF3t+jzqrM61RHNDPc+FzemoZDiVq53k3NVcVaehinxzbWdjRS15dDvqah2Mq9Fht9od9VXNjnpyYqtudjRV2x3NAoy7oqLBUc5cVi63OlZWVjprKysdNSsrmFOTs5m5NayyORdQV17rqltR66q1WjXUWWtdGthfy3rW1VY5a6pXuhoqa1z14g7jfrZay93WqhXuqlXLiRVu26plq+tWLltdW/78mtqVq9Y8++zStc8vW/pS+XPPv7Ti2edfWv7MMy8/t3TZ3y99+pm/f/pnv/i7p5/+5d89/dOfv/Kzv/3Fyz97+hcv/+3Pfvry0z9/7qVlKypf+OufP7Nm+fPLXbaahhda9uz4X5988s+nxQd+cU8/bnwrj8lCkPw+LvXaa/997vDh1rvHjn08cbTz6LXOvs6xtu62kY7ejuFHIfqOdBwZP3j84NUDnQeuHW4/fP3giYM3xLwjR35/88iRIzcPtR26tYCPj398e3/X0TuHOw7fPXz48N1PPvnk3idtn9zbf2z//dbDrQ8EuK4mhf4Qra0P9u/ff19g3yf77n0ZxFgee2m3934r5yxg38F9k/v2fR4LY/v35+0/od9HIdbIjzG2R3ztoq5BxEv9Mz/5+EQMWl70J3wI7NXWyI8v2AupxcXYDh48OJkHY2R7oX/P/v1Te/bsn6Lt9KP4oLV1egF79u+Z+iI+m//5sf20PUj/Ags2j3LMNchzno/9CzGzNqI+C3hof/gw63T4wUK/kPm8WVNR1y+glfUW2H/06J0/xP475E3Dvo/33d4nsG/f7dbW3bcW8Pvff3RToPUQ+4iPafPx8X23jx7df+fhXppfU8Sy/9ix+wJc8wHHNeQ5XuD685LrTwm0Hj06LdBy8ODM59HCdh4HD7bMCBw4sHv2wIEDD0H+PK3HWj0tLS3eBYi+na2tnlZiN213c86j2Nm607OTeJdzBMS8Xbt2+XYdOEAsSOqijxA2j0L43rlzp0dg9+7dswItLdtn6GdG6KK/lf5bWt5lTO96dx0QPnf5DlC2HBJ9Ita8FLELiJxEfgItzLX1aCs5+Tocnf48V1/k7uBMPvcDWnwirofQODkwK/gRaDnEeDQc8rYcyuMQ2yIuDczlADkUcQlosfE8tH4hxqNsnzixf0qgff585fdB/p7J7xGeSe5vcQdpmN8/D/cx76aFfs69u597Tdxhhw4duiUg7rdjx45NCBw8ceLG4fb260c7O6+JO7O398h4d/cR3plHhzv7jl8+2X9yqL//5MX+c/0Xz57tGxA482nv4OkL3Zf6z3PsfP9Q75mO4e7utivnetuvd/GeFHk2NjYmeCc/tt+RLNzzC/JbfUwWFtGlzoDOgM6AzsD3mwH9Mfl+11fPTmdAZ0Bn4N+EAf0x+Teh+fuyiJ6HzoDOgM7AlzOgPyZfzoveqzOgM6AzoDPwRzCgPyZ/BFm6qc6AzoDOwLfNwHfVv/6YfFcrp8etM6AzoDPwBDGgPyZPUDH0UHQGdAZ0Br6rDOiPyXe1cj/EuPWcdQZ0Bp5YBvTH5IktjR6YzoDOgM7Ad4cB/TH57tRKj1RnQGdAZ+DbZuBP9q8/Jn8ydfpEnQGdAZ0BnYEFBvTHZIEJXeoM6AzoDOgM/MkM6I/Jn0ydPvGHxoCer86AzsBXM6A/Jl/NjT6iM6AzoDOgM/ANGdAfk29IlG6mM6AzoDOgM/DVDDyex+Sr/esjOgM6AzoDOgM/AAb0x+QHUGQ9RZ0BnQGdgW+bAf0x+bYZ1v3rDDweBnQvOgNPNAP6Y/JEl0cPTmdAZ0Bn4LvBgP6YfDfqpEepM6AzoDPwRDPwvXhMnmiG9eB0BnQGdAZ+AAzoj8kPoMh6ijoDOgM6A982A/pj8m0zrPvXGfheMKAnoTPw9Qzoj8nX86OP6gzoDOgM6Ax8Awb0x+QbkKSb6AzoDOgM6Ax8PQP6Y/L1/HyTUd1GZ0BnQGfgB8+A/pj84LeAToDOgM6AzsC/ngH9MfnXc6h70BnQGfi2GdD9P/EM6I/JE18iPUCdAZ0BnYEnnwH9MXnya6RHqDOgM6Az8MQz8P8BAAD//+u0+KkAAAAGSURBVAMAnAHeHEuM65s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5" name="Imagen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1436" y="7503184"/>
            <a:ext cx="2023218" cy="2023218"/>
          </a:xfrm>
          <a:prstGeom prst="rect">
            <a:avLst/>
          </a:prstGeom>
        </p:spPr>
      </p:pic>
      <p:sp>
        <p:nvSpPr>
          <p:cNvPr id="6" name="CuadroTexto 5"/>
          <p:cNvSpPr txBox="1"/>
          <p:nvPr/>
        </p:nvSpPr>
        <p:spPr>
          <a:xfrm>
            <a:off x="3995060" y="7990959"/>
            <a:ext cx="8984149" cy="1200329"/>
          </a:xfrm>
          <a:prstGeom prst="rect">
            <a:avLst/>
          </a:prstGeom>
          <a:noFill/>
        </p:spPr>
        <p:txBody>
          <a:bodyPr wrap="square" rtlCol="0">
            <a:spAutoFit/>
          </a:bodyPr>
          <a:lstStyle/>
          <a:p>
            <a:pPr algn="just"/>
            <a:r>
              <a:rPr lang="es-ES" sz="2400" dirty="0" smtClean="0"/>
              <a:t>I</a:t>
            </a:r>
            <a:r>
              <a:rPr lang="es-ES" sz="2400" b="1" dirty="0"/>
              <a:t>nstitucional y Económica:</a:t>
            </a:r>
            <a:r>
              <a:rPr lang="es-ES" sz="2400" dirty="0"/>
              <a:t> Optimiza los tiempos de respuesta y reduce costos en la cadena de suministros, fortaleciendo la imagen corporativa de eficiencia y calidad en el sector aluminio.</a:t>
            </a:r>
          </a:p>
        </p:txBody>
      </p:sp>
      <p:pic>
        <p:nvPicPr>
          <p:cNvPr id="7" name="Imagen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810" y="3849920"/>
            <a:ext cx="2219360" cy="2219360"/>
          </a:xfrm>
          <a:prstGeom prst="rect">
            <a:avLst/>
          </a:prstGeom>
        </p:spPr>
      </p:pic>
      <p:sp>
        <p:nvSpPr>
          <p:cNvPr id="13" name="CuadroTexto 12"/>
          <p:cNvSpPr txBox="1"/>
          <p:nvPr/>
        </p:nvSpPr>
        <p:spPr>
          <a:xfrm>
            <a:off x="6013137" y="4367378"/>
            <a:ext cx="9973340" cy="1200329"/>
          </a:xfrm>
          <a:prstGeom prst="rect">
            <a:avLst/>
          </a:prstGeom>
          <a:noFill/>
        </p:spPr>
        <p:txBody>
          <a:bodyPr wrap="square" rtlCol="0">
            <a:spAutoFit/>
          </a:bodyPr>
          <a:lstStyle/>
          <a:p>
            <a:r>
              <a:rPr lang="es-ES" sz="2400" b="1" dirty="0"/>
              <a:t>Social y Laboral:</a:t>
            </a:r>
            <a:r>
              <a:rPr lang="es-ES" sz="2400" dirty="0"/>
              <a:t> Mejora el clima organizacional al automatizar tareas repetitivas, reducir el estrés y permitir que el personal administrativo se enfoque en análisis estratégico y toma de decisiones.</a:t>
            </a:r>
          </a:p>
        </p:txBody>
      </p:sp>
      <p:pic>
        <p:nvPicPr>
          <p:cNvPr id="14" name="Imagen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14742" y="5745095"/>
            <a:ext cx="2570049" cy="2570049"/>
          </a:xfrm>
          <a:prstGeom prst="rect">
            <a:avLst/>
          </a:prstGeom>
        </p:spPr>
      </p:pic>
      <p:sp>
        <p:nvSpPr>
          <p:cNvPr id="15" name="CuadroTexto 14"/>
          <p:cNvSpPr txBox="1"/>
          <p:nvPr/>
        </p:nvSpPr>
        <p:spPr>
          <a:xfrm>
            <a:off x="6013137" y="6291700"/>
            <a:ext cx="9828006" cy="1323439"/>
          </a:xfrm>
          <a:prstGeom prst="rect">
            <a:avLst/>
          </a:prstGeom>
          <a:noFill/>
        </p:spPr>
        <p:txBody>
          <a:bodyPr wrap="square" rtlCol="0">
            <a:spAutoFit/>
          </a:bodyPr>
          <a:lstStyle/>
          <a:p>
            <a:r>
              <a:rPr lang="es-ES" sz="2400" b="1" dirty="0"/>
              <a:t>Metodológica:</a:t>
            </a:r>
            <a:r>
              <a:rPr lang="es-ES" sz="2400" dirty="0"/>
              <a:t> Establece un precedente técnico y un modelo </a:t>
            </a:r>
            <a:r>
              <a:rPr lang="es-ES" sz="3200" dirty="0"/>
              <a:t>de</a:t>
            </a:r>
            <a:r>
              <a:rPr lang="es-ES" sz="2400" dirty="0"/>
              <a:t> desarrollo escalable para otras áreas de la empresa que aún manejen procesos manuales dentro de la zona industrial de Ciudad Bolívar.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Freeform 4"/>
          <p:cNvSpPr/>
          <p:nvPr/>
        </p:nvSpPr>
        <p:spPr>
          <a:xfrm flipV="1">
            <a:off x="0" y="9673580"/>
            <a:ext cx="4114440" cy="4114440"/>
          </a:xfrm>
          <a:custGeom>
            <a:avLst/>
            <a:gdLst>
              <a:gd name="textAreaLeft" fmla="*/ 0 w 4114440"/>
              <a:gd name="textAreaRight" fmla="*/ 4114800 w 4114440"/>
              <a:gd name="textAreaTop" fmla="*/ -360 h 4114440"/>
              <a:gd name="textAreaBottom" fmla="*/ 4114440 h 4114440"/>
            </a:gdLst>
            <a:ahLst/>
            <a:cxnLst/>
            <a:rect l="textAreaLeft" t="textAreaTop" r="textAreaRight" b="textAreaBottom"/>
            <a:pathLst>
              <a:path w="4114800" h="4114800">
                <a:moveTo>
                  <a:pt x="0" y="4114800"/>
                </a:moveTo>
                <a:lnTo>
                  <a:pt x="4114800" y="4114800"/>
                </a:lnTo>
                <a:lnTo>
                  <a:pt x="4114800" y="0"/>
                </a:lnTo>
                <a:lnTo>
                  <a:pt x="0" y="0"/>
                </a:lnTo>
                <a:lnTo>
                  <a:pt x="0" y="411480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0"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1" name="TextBox 6"/>
          <p:cNvSpPr/>
          <p:nvPr/>
        </p:nvSpPr>
        <p:spPr>
          <a:xfrm>
            <a:off x="5977800" y="600120"/>
            <a:ext cx="6332040" cy="24237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trike="noStrike" spc="-1" dirty="0">
                <a:solidFill>
                  <a:srgbClr val="000000"/>
                </a:solidFill>
                <a:latin typeface="Arial Bold"/>
                <a:ea typeface="Arial Bold"/>
              </a:rPr>
              <a:t>CAPÍTULO </a:t>
            </a:r>
            <a:r>
              <a:rPr lang="en-US" sz="4500" b="1" strike="noStrike" spc="-1" dirty="0" smtClean="0">
                <a:solidFill>
                  <a:srgbClr val="000000"/>
                </a:solidFill>
                <a:latin typeface="Arial Bold"/>
                <a:ea typeface="Arial Bold"/>
              </a:rPr>
              <a:t>IV.</a:t>
            </a:r>
          </a:p>
          <a:p>
            <a:pPr algn="ctr">
              <a:lnSpc>
                <a:spcPts val="6299"/>
              </a:lnSpc>
            </a:pPr>
            <a:r>
              <a:rPr lang="en-US" sz="2800" kern="0" dirty="0" err="1">
                <a:solidFill>
                  <a:srgbClr val="0EA5E9"/>
                </a:solidFill>
                <a:latin typeface="Inter SemiBold"/>
                <a:ea typeface="Inter SemiBold"/>
                <a:cs typeface="Inter SemiBold"/>
                <a:sym typeface="Inter SemiBold"/>
              </a:rPr>
              <a:t>Descripción</a:t>
            </a:r>
            <a:r>
              <a:rPr lang="en-US" sz="2800" kern="0" dirty="0">
                <a:solidFill>
                  <a:srgbClr val="0EA5E9"/>
                </a:solidFill>
                <a:latin typeface="Inter SemiBold"/>
                <a:ea typeface="Inter SemiBold"/>
                <a:cs typeface="Inter SemiBold"/>
                <a:sym typeface="Inter SemiBold"/>
              </a:rPr>
              <a:t> de la </a:t>
            </a:r>
            <a:r>
              <a:rPr lang="en-US" sz="2800" kern="0" dirty="0" err="1">
                <a:solidFill>
                  <a:srgbClr val="0EA5E9"/>
                </a:solidFill>
                <a:latin typeface="Inter SemiBold"/>
                <a:ea typeface="Inter SemiBold"/>
                <a:cs typeface="Inter SemiBold"/>
                <a:sym typeface="Inter SemiBold"/>
              </a:rPr>
              <a:t>propuesta</a:t>
            </a:r>
            <a:endParaRPr lang="en-US" sz="2800" kern="0" dirty="0">
              <a:solidFill>
                <a:srgbClr val="000000"/>
              </a:solidFill>
              <a:cs typeface="Arial"/>
              <a:sym typeface="Arial"/>
            </a:endParaRPr>
          </a:p>
          <a:p>
            <a:pPr algn="ctr">
              <a:lnSpc>
                <a:spcPts val="6299"/>
              </a:lnSpc>
            </a:pPr>
            <a:endParaRPr lang="es-VE" sz="4500" b="0" strike="noStrike" spc="-1" dirty="0">
              <a:solidFill>
                <a:srgbClr val="000000"/>
              </a:solidFill>
              <a:latin typeface="Arial"/>
            </a:endParaRPr>
          </a:p>
        </p:txBody>
      </p:sp>
      <p:sp>
        <p:nvSpPr>
          <p:cNvPr id="2" name="CuadroTexto 1"/>
          <p:cNvSpPr txBox="1"/>
          <p:nvPr/>
        </p:nvSpPr>
        <p:spPr>
          <a:xfrm>
            <a:off x="1243758" y="2260323"/>
            <a:ext cx="6791809" cy="584775"/>
          </a:xfrm>
          <a:prstGeom prst="rect">
            <a:avLst/>
          </a:prstGeom>
          <a:noFill/>
        </p:spPr>
        <p:txBody>
          <a:bodyPr wrap="square" rtlCol="0">
            <a:spAutoFit/>
          </a:bodyPr>
          <a:lstStyle/>
          <a:p>
            <a:r>
              <a:rPr lang="es-ES" sz="3200" b="1" dirty="0" smtClean="0"/>
              <a:t>Descripción</a:t>
            </a:r>
            <a:endParaRPr lang="es-ES" sz="3200" b="1" dirty="0"/>
          </a:p>
        </p:txBody>
      </p:sp>
      <p:sp>
        <p:nvSpPr>
          <p:cNvPr id="3" name="CuadroTexto 2"/>
          <p:cNvSpPr txBox="1"/>
          <p:nvPr/>
        </p:nvSpPr>
        <p:spPr>
          <a:xfrm>
            <a:off x="1243758" y="3226837"/>
            <a:ext cx="12622500" cy="1569660"/>
          </a:xfrm>
          <a:prstGeom prst="rect">
            <a:avLst/>
          </a:prstGeom>
          <a:noFill/>
        </p:spPr>
        <p:txBody>
          <a:bodyPr wrap="square" rtlCol="0">
            <a:spAutoFit/>
          </a:bodyPr>
          <a:lstStyle/>
          <a:p>
            <a:r>
              <a:rPr lang="es-ES" sz="2400" dirty="0"/>
              <a:t>La propuesta consiste en el desarrollo e implementación de una aplicación web diseñada específicamente para optimizar, automatizar y controlar el flujo de las solicitudes de compra y venta en C.V.G. CABELUM, garantizando la integridad de los datos, la verificación del inventario disponible y un sistema de aprobación jerárquica eficiente.</a:t>
            </a:r>
          </a:p>
        </p:txBody>
      </p:sp>
      <p:sp>
        <p:nvSpPr>
          <p:cNvPr id="4" name="CuadroTexto 3"/>
          <p:cNvSpPr txBox="1"/>
          <p:nvPr/>
        </p:nvSpPr>
        <p:spPr>
          <a:xfrm>
            <a:off x="3950692" y="4985951"/>
            <a:ext cx="2715806" cy="2123658"/>
          </a:xfrm>
          <a:prstGeom prst="rect">
            <a:avLst/>
          </a:prstGeom>
          <a:noFill/>
        </p:spPr>
        <p:txBody>
          <a:bodyPr wrap="square" rtlCol="0">
            <a:spAutoFit/>
          </a:bodyPr>
          <a:lstStyle/>
          <a:p>
            <a:pPr algn="just"/>
            <a:r>
              <a:rPr lang="es-ES" sz="3200" b="1" dirty="0" smtClean="0"/>
              <a:t>Función</a:t>
            </a:r>
            <a:r>
              <a:rPr lang="es-ES" sz="3600" b="1" dirty="0" smtClean="0"/>
              <a:t> </a:t>
            </a:r>
          </a:p>
          <a:p>
            <a:pPr algn="just"/>
            <a:endParaRPr lang="es-ES" sz="3200" b="1" dirty="0"/>
          </a:p>
          <a:p>
            <a:pPr algn="just"/>
            <a:endParaRPr lang="es-ES" sz="3200" dirty="0"/>
          </a:p>
          <a:p>
            <a:pPr algn="just"/>
            <a:endParaRPr lang="es-ES" sz="3200" dirty="0"/>
          </a:p>
        </p:txBody>
      </p:sp>
      <p:sp>
        <p:nvSpPr>
          <p:cNvPr id="5" name="CuadroTexto 4"/>
          <p:cNvSpPr txBox="1"/>
          <p:nvPr/>
        </p:nvSpPr>
        <p:spPr>
          <a:xfrm>
            <a:off x="12359647" y="4985951"/>
            <a:ext cx="7612912" cy="1323439"/>
          </a:xfrm>
          <a:prstGeom prst="rect">
            <a:avLst/>
          </a:prstGeom>
          <a:noFill/>
        </p:spPr>
        <p:txBody>
          <a:bodyPr wrap="square" rtlCol="0">
            <a:spAutoFit/>
          </a:bodyPr>
          <a:lstStyle/>
          <a:p>
            <a:r>
              <a:rPr lang="es-ES" sz="3200" b="1" dirty="0"/>
              <a:t>Impacto</a:t>
            </a:r>
            <a:r>
              <a:rPr lang="es-ES" sz="2800" b="1" dirty="0"/>
              <a:t> </a:t>
            </a:r>
            <a:endParaRPr lang="es-ES" sz="2800" b="1" dirty="0" smtClean="0"/>
          </a:p>
          <a:p>
            <a:endParaRPr lang="es-ES" sz="2400" b="1" dirty="0"/>
          </a:p>
          <a:p>
            <a:endParaRPr lang="es-ES" sz="2400" dirty="0"/>
          </a:p>
        </p:txBody>
      </p:sp>
      <p:pic>
        <p:nvPicPr>
          <p:cNvPr id="6" name="Imagen 5"/>
          <p:cNvPicPr>
            <a:picLocks noChangeAspect="1"/>
          </p:cNvPicPr>
          <p:nvPr/>
        </p:nvPicPr>
        <p:blipFill rotWithShape="1">
          <a:blip r:embed="rId4">
            <a:extLst>
              <a:ext uri="{28A0092B-C50C-407E-A947-70E740481C1C}">
                <a14:useLocalDpi xmlns:a14="http://schemas.microsoft.com/office/drawing/2010/main" val="0"/>
              </a:ext>
            </a:extLst>
          </a:blip>
          <a:srcRect b="22198"/>
          <a:stretch/>
        </p:blipFill>
        <p:spPr>
          <a:xfrm>
            <a:off x="13347768" y="961655"/>
            <a:ext cx="4600624" cy="3854688"/>
          </a:xfrm>
          <a:prstGeom prst="rect">
            <a:avLst/>
          </a:prstGeom>
        </p:spPr>
      </p:pic>
      <p:pic>
        <p:nvPicPr>
          <p:cNvPr id="30" name="Imagen 29"/>
          <p:cNvPicPr>
            <a:picLocks noChangeAspect="1"/>
          </p:cNvPicPr>
          <p:nvPr/>
        </p:nvPicPr>
        <p:blipFill rotWithShape="1">
          <a:blip r:embed="rId5">
            <a:extLst>
              <a:ext uri="{28A0092B-C50C-407E-A947-70E740481C1C}">
                <a14:useLocalDpi xmlns:a14="http://schemas.microsoft.com/office/drawing/2010/main" val="0"/>
              </a:ext>
            </a:extLst>
          </a:blip>
          <a:srcRect b="33807"/>
          <a:stretch/>
        </p:blipFill>
        <p:spPr>
          <a:xfrm>
            <a:off x="386837" y="5659758"/>
            <a:ext cx="3340765" cy="2484901"/>
          </a:xfrm>
          <a:prstGeom prst="rect">
            <a:avLst/>
          </a:prstGeom>
        </p:spPr>
      </p:pic>
      <p:sp>
        <p:nvSpPr>
          <p:cNvPr id="31" name="CuadroTexto 30"/>
          <p:cNvSpPr txBox="1"/>
          <p:nvPr/>
        </p:nvSpPr>
        <p:spPr>
          <a:xfrm>
            <a:off x="706774" y="8166679"/>
            <a:ext cx="2592287" cy="1569660"/>
          </a:xfrm>
          <a:prstGeom prst="rect">
            <a:avLst/>
          </a:prstGeom>
          <a:noFill/>
        </p:spPr>
        <p:txBody>
          <a:bodyPr wrap="square" rtlCol="0">
            <a:spAutoFit/>
          </a:bodyPr>
          <a:lstStyle/>
          <a:p>
            <a:pPr algn="ctr"/>
            <a:r>
              <a:rPr lang="es-ES" sz="2400" b="1" dirty="0" smtClean="0"/>
              <a:t>Centraliza</a:t>
            </a:r>
          </a:p>
          <a:p>
            <a:pPr algn="just"/>
            <a:endParaRPr lang="es-ES" sz="2400" dirty="0" smtClean="0"/>
          </a:p>
          <a:p>
            <a:pPr algn="just"/>
            <a:endParaRPr lang="es-ES" sz="2400" dirty="0"/>
          </a:p>
          <a:p>
            <a:pPr algn="just"/>
            <a:endParaRPr lang="es-ES" sz="2400" dirty="0"/>
          </a:p>
        </p:txBody>
      </p:sp>
      <p:pic>
        <p:nvPicPr>
          <p:cNvPr id="32" name="Imagen 3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12489" y="5977974"/>
            <a:ext cx="2393936" cy="2393936"/>
          </a:xfrm>
          <a:prstGeom prst="rect">
            <a:avLst/>
          </a:prstGeom>
        </p:spPr>
      </p:pic>
      <p:sp>
        <p:nvSpPr>
          <p:cNvPr id="33" name="CuadroTexto 32"/>
          <p:cNvSpPr txBox="1"/>
          <p:nvPr/>
        </p:nvSpPr>
        <p:spPr>
          <a:xfrm>
            <a:off x="4008940" y="8173567"/>
            <a:ext cx="2706885" cy="461665"/>
          </a:xfrm>
          <a:prstGeom prst="rect">
            <a:avLst/>
          </a:prstGeom>
          <a:noFill/>
        </p:spPr>
        <p:txBody>
          <a:bodyPr wrap="square" rtlCol="0">
            <a:spAutoFit/>
          </a:bodyPr>
          <a:lstStyle/>
          <a:p>
            <a:r>
              <a:rPr lang="es-ES" sz="2400" b="1" dirty="0" smtClean="0"/>
              <a:t>Automatiza</a:t>
            </a:r>
            <a:endParaRPr lang="es-ES" sz="2400" b="1" dirty="0"/>
          </a:p>
        </p:txBody>
      </p:sp>
      <p:pic>
        <p:nvPicPr>
          <p:cNvPr id="34" name="Imagen 3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49350" y="5795035"/>
            <a:ext cx="2811316" cy="2811316"/>
          </a:xfrm>
          <a:prstGeom prst="rect">
            <a:avLst/>
          </a:prstGeom>
        </p:spPr>
      </p:pic>
      <p:sp>
        <p:nvSpPr>
          <p:cNvPr id="35" name="CuadroTexto 34"/>
          <p:cNvSpPr txBox="1"/>
          <p:nvPr/>
        </p:nvSpPr>
        <p:spPr>
          <a:xfrm>
            <a:off x="6920183" y="8173567"/>
            <a:ext cx="2183408" cy="461665"/>
          </a:xfrm>
          <a:prstGeom prst="rect">
            <a:avLst/>
          </a:prstGeom>
          <a:noFill/>
        </p:spPr>
        <p:txBody>
          <a:bodyPr wrap="square" rtlCol="0">
            <a:spAutoFit/>
          </a:bodyPr>
          <a:lstStyle/>
          <a:p>
            <a:r>
              <a:rPr lang="es-ES" sz="2400" b="1" dirty="0" smtClean="0"/>
              <a:t>Conectar</a:t>
            </a:r>
            <a:endParaRPr lang="es-ES" sz="2400" b="1" dirty="0"/>
          </a:p>
        </p:txBody>
      </p:sp>
      <p:pic>
        <p:nvPicPr>
          <p:cNvPr id="46" name="Imagen 4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8719" y="5795035"/>
            <a:ext cx="2583176" cy="2583176"/>
          </a:xfrm>
          <a:prstGeom prst="rect">
            <a:avLst/>
          </a:prstGeom>
        </p:spPr>
      </p:pic>
      <p:sp>
        <p:nvSpPr>
          <p:cNvPr id="47" name="CuadroTexto 46"/>
          <p:cNvSpPr txBox="1"/>
          <p:nvPr/>
        </p:nvSpPr>
        <p:spPr>
          <a:xfrm>
            <a:off x="9685449" y="8173567"/>
            <a:ext cx="1882588" cy="461665"/>
          </a:xfrm>
          <a:prstGeom prst="rect">
            <a:avLst/>
          </a:prstGeom>
          <a:noFill/>
        </p:spPr>
        <p:txBody>
          <a:bodyPr wrap="square" rtlCol="0">
            <a:spAutoFit/>
          </a:bodyPr>
          <a:lstStyle/>
          <a:p>
            <a:r>
              <a:rPr lang="es-ES" sz="2400" b="1" dirty="0" smtClean="0"/>
              <a:t>Económico</a:t>
            </a:r>
            <a:endParaRPr lang="es-ES" b="1" dirty="0"/>
          </a:p>
        </p:txBody>
      </p:sp>
      <p:pic>
        <p:nvPicPr>
          <p:cNvPr id="48" name="Imagen 4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734760" y="5693354"/>
            <a:ext cx="3086100" cy="3086100"/>
          </a:xfrm>
          <a:prstGeom prst="rect">
            <a:avLst/>
          </a:prstGeom>
        </p:spPr>
      </p:pic>
      <p:sp>
        <p:nvSpPr>
          <p:cNvPr id="49" name="CuadroTexto 48"/>
          <p:cNvSpPr txBox="1"/>
          <p:nvPr/>
        </p:nvSpPr>
        <p:spPr>
          <a:xfrm>
            <a:off x="12705286" y="8148181"/>
            <a:ext cx="4314232" cy="461665"/>
          </a:xfrm>
          <a:prstGeom prst="rect">
            <a:avLst/>
          </a:prstGeom>
          <a:noFill/>
        </p:spPr>
        <p:txBody>
          <a:bodyPr wrap="square" rtlCol="0">
            <a:spAutoFit/>
          </a:bodyPr>
          <a:lstStyle/>
          <a:p>
            <a:r>
              <a:rPr lang="es-ES" sz="2400" b="1" dirty="0" smtClean="0"/>
              <a:t>Laboral</a:t>
            </a:r>
            <a:endParaRPr lang="es-ES" sz="2400" b="1" dirty="0"/>
          </a:p>
        </p:txBody>
      </p:sp>
      <p:pic>
        <p:nvPicPr>
          <p:cNvPr id="50" name="Imagen 4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383815" y="5259635"/>
            <a:ext cx="3564577" cy="3564577"/>
          </a:xfrm>
          <a:prstGeom prst="rect">
            <a:avLst/>
          </a:prstGeom>
        </p:spPr>
      </p:pic>
      <p:sp>
        <p:nvSpPr>
          <p:cNvPr id="51" name="CuadroTexto 50"/>
          <p:cNvSpPr txBox="1"/>
          <p:nvPr/>
        </p:nvSpPr>
        <p:spPr>
          <a:xfrm>
            <a:off x="15198253" y="8141077"/>
            <a:ext cx="2935326" cy="461665"/>
          </a:xfrm>
          <a:prstGeom prst="rect">
            <a:avLst/>
          </a:prstGeom>
          <a:noFill/>
        </p:spPr>
        <p:txBody>
          <a:bodyPr wrap="square" rtlCol="0">
            <a:spAutoFit/>
          </a:bodyPr>
          <a:lstStyle/>
          <a:p>
            <a:r>
              <a:rPr lang="es-ES" sz="2400" b="1" dirty="0" smtClean="0"/>
              <a:t>Tecnológico</a:t>
            </a:r>
            <a:endParaRPr lang="es-ES"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Freeform 4"/>
          <p:cNvSpPr/>
          <p:nvPr/>
        </p:nvSpPr>
        <p:spPr>
          <a:xfrm flipV="1">
            <a:off x="-77396" y="9596858"/>
            <a:ext cx="4114440" cy="4114440"/>
          </a:xfrm>
          <a:custGeom>
            <a:avLst/>
            <a:gdLst>
              <a:gd name="textAreaLeft" fmla="*/ 0 w 4114440"/>
              <a:gd name="textAreaRight" fmla="*/ 4114800 w 4114440"/>
              <a:gd name="textAreaTop" fmla="*/ -360 h 4114440"/>
              <a:gd name="textAreaBottom" fmla="*/ 4114440 h 4114440"/>
            </a:gdLst>
            <a:ahLst/>
            <a:cxnLst/>
            <a:rect l="textAreaLeft" t="textAreaTop" r="textAreaRight" b="textAreaBottom"/>
            <a:pathLst>
              <a:path w="4114800" h="4114800">
                <a:moveTo>
                  <a:pt x="0" y="4114800"/>
                </a:moveTo>
                <a:lnTo>
                  <a:pt x="4114800" y="4114800"/>
                </a:lnTo>
                <a:lnTo>
                  <a:pt x="4114800" y="0"/>
                </a:lnTo>
                <a:lnTo>
                  <a:pt x="0" y="0"/>
                </a:lnTo>
                <a:lnTo>
                  <a:pt x="0" y="411480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0"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1" name="TextBox 6"/>
          <p:cNvSpPr/>
          <p:nvPr/>
        </p:nvSpPr>
        <p:spPr>
          <a:xfrm>
            <a:off x="5977800" y="600120"/>
            <a:ext cx="6332040" cy="24237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trike="noStrike" spc="-1" dirty="0">
                <a:solidFill>
                  <a:srgbClr val="000000"/>
                </a:solidFill>
                <a:latin typeface="Arial Bold"/>
                <a:ea typeface="Arial Bold"/>
              </a:rPr>
              <a:t>CAPÍTULO </a:t>
            </a:r>
            <a:r>
              <a:rPr lang="en-US" sz="4500" b="1" strike="noStrike" spc="-1" dirty="0" smtClean="0">
                <a:solidFill>
                  <a:srgbClr val="000000"/>
                </a:solidFill>
                <a:latin typeface="Arial Bold"/>
                <a:ea typeface="Arial Bold"/>
              </a:rPr>
              <a:t>IV.</a:t>
            </a:r>
          </a:p>
          <a:p>
            <a:pPr algn="ctr">
              <a:lnSpc>
                <a:spcPts val="6299"/>
              </a:lnSpc>
            </a:pPr>
            <a:r>
              <a:rPr lang="en-US" sz="2800" kern="0" dirty="0" err="1">
                <a:solidFill>
                  <a:srgbClr val="0EA5E9"/>
                </a:solidFill>
                <a:latin typeface="Inter SemiBold"/>
                <a:ea typeface="Inter SemiBold"/>
                <a:cs typeface="Inter SemiBold"/>
                <a:sym typeface="Inter SemiBold"/>
              </a:rPr>
              <a:t>Descripción</a:t>
            </a:r>
            <a:r>
              <a:rPr lang="en-US" sz="2800" kern="0" dirty="0">
                <a:solidFill>
                  <a:srgbClr val="0EA5E9"/>
                </a:solidFill>
                <a:latin typeface="Inter SemiBold"/>
                <a:ea typeface="Inter SemiBold"/>
                <a:cs typeface="Inter SemiBold"/>
                <a:sym typeface="Inter SemiBold"/>
              </a:rPr>
              <a:t> de la </a:t>
            </a:r>
            <a:r>
              <a:rPr lang="en-US" sz="2800" kern="0" dirty="0" err="1">
                <a:solidFill>
                  <a:srgbClr val="0EA5E9"/>
                </a:solidFill>
                <a:latin typeface="Inter SemiBold"/>
                <a:ea typeface="Inter SemiBold"/>
                <a:cs typeface="Inter SemiBold"/>
                <a:sym typeface="Inter SemiBold"/>
              </a:rPr>
              <a:t>propuesta</a:t>
            </a:r>
            <a:endParaRPr lang="en-US" sz="2800" kern="0" dirty="0">
              <a:solidFill>
                <a:srgbClr val="000000"/>
              </a:solidFill>
              <a:cs typeface="Arial"/>
              <a:sym typeface="Arial"/>
            </a:endParaRPr>
          </a:p>
          <a:p>
            <a:pPr algn="ctr">
              <a:lnSpc>
                <a:spcPts val="6299"/>
              </a:lnSpc>
            </a:pPr>
            <a:endParaRPr lang="es-VE" sz="4500" b="0" strike="noStrike" spc="-1" dirty="0">
              <a:solidFill>
                <a:srgbClr val="000000"/>
              </a:solidFill>
              <a:latin typeface="Arial"/>
            </a:endParaRPr>
          </a:p>
        </p:txBody>
      </p:sp>
      <p:grpSp>
        <p:nvGrpSpPr>
          <p:cNvPr id="9" name="Grupo 8"/>
          <p:cNvGrpSpPr/>
          <p:nvPr/>
        </p:nvGrpSpPr>
        <p:grpSpPr>
          <a:xfrm>
            <a:off x="1748618" y="3654688"/>
            <a:ext cx="14812182" cy="5646901"/>
            <a:chOff x="762000" y="3803017"/>
            <a:chExt cx="10667490" cy="3183421"/>
          </a:xfrm>
        </p:grpSpPr>
        <p:pic>
          <p:nvPicPr>
            <p:cNvPr id="10" name="Google Shape;313;p25" descr="image.png"/>
            <p:cNvPicPr preferRelativeResize="0"/>
            <p:nvPr/>
          </p:nvPicPr>
          <p:blipFill rotWithShape="1">
            <a:blip r:embed="rId4">
              <a:alphaModFix/>
            </a:blip>
            <a:srcRect/>
            <a:stretch/>
          </p:blipFill>
          <p:spPr>
            <a:xfrm>
              <a:off x="762000" y="3803017"/>
              <a:ext cx="10667490" cy="3183421"/>
            </a:xfrm>
            <a:prstGeom prst="rect">
              <a:avLst/>
            </a:prstGeom>
            <a:noFill/>
            <a:ln>
              <a:noFill/>
            </a:ln>
          </p:spPr>
        </p:pic>
        <p:sp>
          <p:nvSpPr>
            <p:cNvPr id="15" name="Google Shape;319;p25"/>
            <p:cNvSpPr txBox="1"/>
            <p:nvPr/>
          </p:nvSpPr>
          <p:spPr>
            <a:xfrm>
              <a:off x="1343025" y="3969474"/>
              <a:ext cx="4267200" cy="66627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solidFill>
                    <a:srgbClr val="0F172A"/>
                  </a:solidFill>
                  <a:latin typeface="Inter SemiBold"/>
                  <a:ea typeface="Inter SemiBold"/>
                  <a:cs typeface="Inter SemiBold"/>
                  <a:sym typeface="Inter SemiBold"/>
                </a:rPr>
                <a:t>RF-01 </a:t>
              </a:r>
              <a:r>
                <a:rPr lang="en-US" sz="2400" b="1" i="0" u="none" strike="noStrike" cap="none" dirty="0" err="1">
                  <a:solidFill>
                    <a:srgbClr val="0F172A"/>
                  </a:solidFill>
                  <a:latin typeface="Inter SemiBold"/>
                  <a:ea typeface="Inter SemiBold"/>
                  <a:cs typeface="Inter SemiBold"/>
                  <a:sym typeface="Inter SemiBold"/>
                </a:rPr>
                <a:t>Autenticación</a:t>
              </a:r>
              <a:r>
                <a:rPr lang="en-US" sz="2400" b="0" i="0" u="none" strike="noStrike" cap="none" dirty="0">
                  <a:solidFill>
                    <a:srgbClr val="0F172A"/>
                  </a:solidFill>
                  <a:latin typeface="Inter SemiBold"/>
                  <a:ea typeface="Inter SemiBold"/>
                  <a:cs typeface="Inter SemiBold"/>
                  <a:sym typeface="Inter SemiBold"/>
                </a:rPr>
                <a:t>:</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Acceso</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seguro</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por</a:t>
              </a:r>
              <a:r>
                <a:rPr lang="en-US" sz="2400" b="0" i="0" u="none" strike="noStrike" cap="none" dirty="0">
                  <a:solidFill>
                    <a:srgbClr val="334155"/>
                  </a:solidFill>
                  <a:latin typeface="Inter"/>
                  <a:ea typeface="Inter"/>
                  <a:cs typeface="Inter"/>
                  <a:sym typeface="Inter"/>
                </a:rPr>
                <a:t> roles </a:t>
              </a:r>
              <a:r>
                <a:rPr lang="en-US" sz="2400" b="0" i="0" u="none" strike="noStrike" cap="none" dirty="0" smtClean="0">
                  <a:solidFill>
                    <a:srgbClr val="334155"/>
                  </a:solidFill>
                  <a:latin typeface="Inter"/>
                  <a:ea typeface="Inter"/>
                  <a:cs typeface="Inter"/>
                  <a:sym typeface="Inter"/>
                </a:rPr>
                <a:t>de </a:t>
              </a:r>
              <a:r>
                <a:rPr lang="en-US" sz="2400" b="0" i="0" u="none" strike="noStrike" cap="none" dirty="0" err="1" smtClean="0">
                  <a:solidFill>
                    <a:srgbClr val="334155"/>
                  </a:solidFill>
                  <a:latin typeface="Inter"/>
                  <a:ea typeface="Inter"/>
                  <a:cs typeface="Inter"/>
                  <a:sym typeface="Inter"/>
                </a:rPr>
                <a:t>usuario</a:t>
              </a:r>
              <a:r>
                <a:rPr lang="en-US" sz="2400" b="0" i="0" u="none" strike="noStrike" cap="none" dirty="0" smtClean="0">
                  <a:solidFill>
                    <a:srgbClr val="334155"/>
                  </a:solidFill>
                  <a:latin typeface="Inter"/>
                  <a:ea typeface="Inter"/>
                  <a:cs typeface="Inter"/>
                  <a:sym typeface="Inter"/>
                </a:rPr>
                <a:t>.</a:t>
              </a:r>
              <a:endParaRPr sz="4000" dirty="0"/>
            </a:p>
          </p:txBody>
        </p:sp>
        <p:sp>
          <p:nvSpPr>
            <p:cNvPr id="16" name="Google Shape;320;p25"/>
            <p:cNvSpPr txBox="1"/>
            <p:nvPr/>
          </p:nvSpPr>
          <p:spPr>
            <a:xfrm>
              <a:off x="1343025" y="4848225"/>
              <a:ext cx="4267200" cy="66627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solidFill>
                    <a:srgbClr val="0F172A"/>
                  </a:solidFill>
                  <a:latin typeface="Inter SemiBold"/>
                  <a:ea typeface="Inter SemiBold"/>
                  <a:cs typeface="Inter SemiBold"/>
                  <a:sym typeface="Inter SemiBold"/>
                </a:rPr>
                <a:t>RF-02 </a:t>
              </a:r>
              <a:r>
                <a:rPr lang="en-US" sz="2400" b="1" i="0" u="none" strike="noStrike" cap="none" dirty="0" err="1">
                  <a:solidFill>
                    <a:srgbClr val="0F172A"/>
                  </a:solidFill>
                  <a:latin typeface="Inter SemiBold"/>
                  <a:ea typeface="Inter SemiBold"/>
                  <a:cs typeface="Inter SemiBold"/>
                  <a:sym typeface="Inter SemiBold"/>
                </a:rPr>
                <a:t>Registro</a:t>
              </a:r>
              <a:r>
                <a:rPr lang="en-US" sz="2400" b="1" i="0" u="none" strike="noStrike" cap="none" dirty="0">
                  <a:solidFill>
                    <a:srgbClr val="0F172A"/>
                  </a:solidFill>
                  <a:latin typeface="Inter SemiBold"/>
                  <a:ea typeface="Inter SemiBold"/>
                  <a:cs typeface="Inter SemiBold"/>
                  <a:sym typeface="Inter SemiBold"/>
                </a:rPr>
                <a:t> de </a:t>
              </a:r>
              <a:r>
                <a:rPr lang="en-US" sz="2400" b="1" i="0" u="none" strike="noStrike" cap="none" dirty="0" err="1">
                  <a:solidFill>
                    <a:srgbClr val="0F172A"/>
                  </a:solidFill>
                  <a:latin typeface="Inter SemiBold"/>
                  <a:ea typeface="Inter SemiBold"/>
                  <a:cs typeface="Inter SemiBold"/>
                  <a:sym typeface="Inter SemiBold"/>
                </a:rPr>
                <a:t>Solicitud</a:t>
              </a:r>
              <a:r>
                <a:rPr lang="en-US" sz="2400" b="0" i="0" u="none" strike="noStrike" cap="none" dirty="0">
                  <a:solidFill>
                    <a:srgbClr val="0F172A"/>
                  </a:solidFill>
                  <a:latin typeface="Inter SemiBold"/>
                  <a:ea typeface="Inter SemiBold"/>
                  <a:cs typeface="Inter SemiBold"/>
                  <a:sym typeface="Inter SemiBold"/>
                </a:rPr>
                <a:t>:</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Formularios</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intuitivos</a:t>
              </a:r>
              <a:r>
                <a:rPr lang="en-US" sz="2400" b="0" i="0" u="none" strike="noStrike" cap="none" dirty="0">
                  <a:solidFill>
                    <a:srgbClr val="334155"/>
                  </a:solidFill>
                  <a:latin typeface="Inter"/>
                  <a:ea typeface="Inter"/>
                  <a:cs typeface="Inter"/>
                  <a:sym typeface="Inter"/>
                </a:rPr>
                <a:t> de </a:t>
              </a:r>
              <a:r>
                <a:rPr lang="en-US" sz="2400" b="0" i="0" u="none" strike="noStrike" cap="none" dirty="0" err="1" smtClean="0">
                  <a:solidFill>
                    <a:srgbClr val="334155"/>
                  </a:solidFill>
                  <a:latin typeface="Inter"/>
                  <a:ea typeface="Inter"/>
                  <a:cs typeface="Inter"/>
                  <a:sym typeface="Inter"/>
                </a:rPr>
                <a:t>insumos</a:t>
              </a:r>
              <a:r>
                <a:rPr lang="en-US" sz="2400" b="0" i="0" u="none" strike="noStrike" cap="none" dirty="0" smtClean="0">
                  <a:solidFill>
                    <a:srgbClr val="334155"/>
                  </a:solidFill>
                  <a:latin typeface="Inter"/>
                  <a:ea typeface="Inter"/>
                  <a:cs typeface="Inter"/>
                  <a:sym typeface="Inter"/>
                </a:rPr>
                <a:t>.</a:t>
              </a:r>
              <a:endParaRPr sz="4000" dirty="0"/>
            </a:p>
          </p:txBody>
        </p:sp>
        <p:sp>
          <p:nvSpPr>
            <p:cNvPr id="17" name="Google Shape;321;p25"/>
            <p:cNvSpPr txBox="1"/>
            <p:nvPr/>
          </p:nvSpPr>
          <p:spPr>
            <a:xfrm>
              <a:off x="1404684" y="5782410"/>
              <a:ext cx="4267200" cy="666271"/>
            </a:xfrm>
            <a:prstGeom prst="rect">
              <a:avLst/>
            </a:prstGeom>
            <a:noFill/>
            <a:ln>
              <a:noFill/>
            </a:ln>
          </p:spPr>
          <p:txBody>
            <a:bodyPr spcFirstLastPara="1" wrap="square" lIns="0" tIns="0" rIns="0" bIns="0" anchor="t" anchorCtr="0">
              <a:spAutoFit/>
            </a:bodyPr>
            <a:lstStyle/>
            <a:p>
              <a:pPr lvl="0">
                <a:lnSpc>
                  <a:spcPct val="160000"/>
                </a:lnSpc>
              </a:pPr>
              <a:r>
                <a:rPr lang="en-US" sz="2400" b="1" i="0" u="none" strike="noStrike" cap="none" dirty="0">
                  <a:solidFill>
                    <a:srgbClr val="0F172A"/>
                  </a:solidFill>
                  <a:latin typeface="Inter SemiBold"/>
                  <a:ea typeface="Inter SemiBold"/>
                  <a:cs typeface="Inter SemiBold"/>
                  <a:sym typeface="Inter SemiBold"/>
                </a:rPr>
                <a:t>RF-03 </a:t>
              </a:r>
              <a:r>
                <a:rPr lang="en-US" sz="2400" b="1" i="0" u="none" strike="noStrike" cap="none" dirty="0" err="1">
                  <a:solidFill>
                    <a:srgbClr val="0F172A"/>
                  </a:solidFill>
                  <a:latin typeface="Inter SemiBold"/>
                  <a:ea typeface="Inter SemiBold"/>
                  <a:cs typeface="Inter SemiBold"/>
                  <a:sym typeface="Inter SemiBold"/>
                </a:rPr>
                <a:t>Flujo</a:t>
              </a:r>
              <a:r>
                <a:rPr lang="en-US" sz="2400" b="1" i="0" u="none" strike="noStrike" cap="none" dirty="0">
                  <a:solidFill>
                    <a:srgbClr val="0F172A"/>
                  </a:solidFill>
                  <a:latin typeface="Inter SemiBold"/>
                  <a:ea typeface="Inter SemiBold"/>
                  <a:cs typeface="Inter SemiBold"/>
                  <a:sym typeface="Inter SemiBold"/>
                </a:rPr>
                <a:t> </a:t>
              </a:r>
              <a:r>
                <a:rPr lang="en-US" sz="2400" b="1" i="0" u="none" strike="noStrike" cap="none" dirty="0" err="1">
                  <a:solidFill>
                    <a:srgbClr val="0F172A"/>
                  </a:solidFill>
                  <a:latin typeface="Inter SemiBold"/>
                  <a:ea typeface="Inter SemiBold"/>
                  <a:cs typeface="Inter SemiBold"/>
                  <a:sym typeface="Inter SemiBold"/>
                </a:rPr>
                <a:t>Automatizado</a:t>
              </a:r>
              <a:r>
                <a:rPr lang="en-US" sz="2400" b="0" i="0" u="none" strike="noStrike" cap="none" dirty="0">
                  <a:solidFill>
                    <a:srgbClr val="0F172A"/>
                  </a:solidFill>
                  <a:latin typeface="Inter SemiBold"/>
                  <a:ea typeface="Inter SemiBold"/>
                  <a:cs typeface="Inter SemiBold"/>
                  <a:sym typeface="Inter SemiBold"/>
                </a:rPr>
                <a:t>:</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Enrutamiento</a:t>
              </a:r>
              <a:r>
                <a:rPr lang="en-US" sz="2400" b="0" i="0" u="none" strike="noStrike" cap="none" dirty="0">
                  <a:solidFill>
                    <a:srgbClr val="334155"/>
                  </a:solidFill>
                  <a:latin typeface="Inter"/>
                  <a:ea typeface="Inter"/>
                  <a:cs typeface="Inter"/>
                  <a:sym typeface="Inter"/>
                </a:rPr>
                <a:t> </a:t>
              </a:r>
              <a:r>
                <a:rPr lang="en-US" sz="2400" b="0" i="0" u="none" strike="noStrike" cap="none" dirty="0" err="1" smtClean="0">
                  <a:solidFill>
                    <a:srgbClr val="334155"/>
                  </a:solidFill>
                  <a:latin typeface="Inter"/>
                  <a:ea typeface="Inter"/>
                  <a:cs typeface="Inter"/>
                  <a:sym typeface="Inter"/>
                </a:rPr>
                <a:t>dinámico</a:t>
              </a:r>
              <a:r>
                <a:rPr lang="en-US" sz="2400" b="0" i="0" u="none" strike="noStrike" cap="none" dirty="0" smtClean="0">
                  <a:solidFill>
                    <a:srgbClr val="334155"/>
                  </a:solidFill>
                  <a:latin typeface="Inter"/>
                  <a:ea typeface="Inter"/>
                  <a:cs typeface="Inter"/>
                  <a:sym typeface="Inter"/>
                </a:rPr>
                <a:t> de la </a:t>
              </a:r>
              <a:r>
                <a:rPr lang="en-US" sz="2400" i="0" u="none" strike="noStrike" cap="none" dirty="0" smtClean="0">
                  <a:solidFill>
                    <a:srgbClr val="334155"/>
                  </a:solidFill>
                  <a:latin typeface="Inter"/>
                  <a:ea typeface="Inter"/>
                  <a:cs typeface="Inter"/>
                  <a:sym typeface="Inter"/>
                </a:rPr>
                <a:t>s</a:t>
              </a:r>
              <a:r>
                <a:rPr lang="es-ES" sz="2400" dirty="0" err="1" smtClean="0"/>
                <a:t>olicitudes</a:t>
              </a:r>
              <a:r>
                <a:rPr lang="es-ES" sz="2400" dirty="0" smtClean="0"/>
                <a:t>.</a:t>
              </a:r>
              <a:endParaRPr sz="2400" dirty="0"/>
            </a:p>
          </p:txBody>
        </p:sp>
        <p:sp>
          <p:nvSpPr>
            <p:cNvPr id="19" name="Google Shape;323;p25"/>
            <p:cNvSpPr txBox="1"/>
            <p:nvPr/>
          </p:nvSpPr>
          <p:spPr>
            <a:xfrm>
              <a:off x="6696076" y="3969559"/>
              <a:ext cx="4267200" cy="99940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solidFill>
                    <a:srgbClr val="0F172A"/>
                  </a:solidFill>
                  <a:latin typeface="Inter SemiBold"/>
                  <a:ea typeface="Inter SemiBold"/>
                  <a:cs typeface="Inter SemiBold"/>
                  <a:sym typeface="Inter SemiBold"/>
                </a:rPr>
                <a:t>RF-04 </a:t>
              </a:r>
              <a:r>
                <a:rPr lang="en-US" sz="2400" b="1" i="0" u="none" strike="noStrike" cap="none" dirty="0" err="1">
                  <a:solidFill>
                    <a:srgbClr val="0F172A"/>
                  </a:solidFill>
                  <a:latin typeface="Inter SemiBold"/>
                  <a:ea typeface="Inter SemiBold"/>
                  <a:cs typeface="Inter SemiBold"/>
                  <a:sym typeface="Inter SemiBold"/>
                </a:rPr>
                <a:t>Aprobación</a:t>
              </a:r>
              <a:r>
                <a:rPr lang="en-US" sz="2400" b="1" i="0" u="none" strike="noStrike" cap="none" dirty="0">
                  <a:solidFill>
                    <a:srgbClr val="0F172A"/>
                  </a:solidFill>
                  <a:latin typeface="Inter SemiBold"/>
                  <a:ea typeface="Inter SemiBold"/>
                  <a:cs typeface="Inter SemiBold"/>
                  <a:sym typeface="Inter SemiBold"/>
                </a:rPr>
                <a:t> </a:t>
              </a:r>
              <a:r>
                <a:rPr lang="en-US" sz="2400" b="1" i="0" u="none" strike="noStrike" cap="none" dirty="0" err="1">
                  <a:solidFill>
                    <a:srgbClr val="0F172A"/>
                  </a:solidFill>
                  <a:latin typeface="Inter SemiBold"/>
                  <a:ea typeface="Inter SemiBold"/>
                  <a:cs typeface="Inter SemiBold"/>
                  <a:sym typeface="Inter SemiBold"/>
                </a:rPr>
                <a:t>Jerárquica</a:t>
              </a:r>
              <a:r>
                <a:rPr lang="en-US" sz="2400" b="0" i="0" u="none" strike="noStrike" cap="none" dirty="0">
                  <a:solidFill>
                    <a:srgbClr val="0F172A"/>
                  </a:solidFill>
                  <a:latin typeface="Inter SemiBold"/>
                  <a:ea typeface="Inter SemiBold"/>
                  <a:cs typeface="Inter SemiBold"/>
                  <a:sym typeface="Inter SemiBold"/>
                </a:rPr>
                <a:t>:</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Opción</a:t>
              </a:r>
              <a:r>
                <a:rPr lang="en-US" sz="2400" b="0" i="0" u="none" strike="noStrike" cap="none" dirty="0">
                  <a:solidFill>
                    <a:srgbClr val="334155"/>
                  </a:solidFill>
                  <a:latin typeface="Inter"/>
                  <a:ea typeface="Inter"/>
                  <a:cs typeface="Inter"/>
                  <a:sym typeface="Inter"/>
                </a:rPr>
                <a:t> para </a:t>
              </a:r>
              <a:r>
                <a:rPr lang="en-US" sz="2400" b="0" i="0" u="none" strike="noStrike" cap="none" dirty="0" err="1">
                  <a:solidFill>
                    <a:srgbClr val="334155"/>
                  </a:solidFill>
                  <a:latin typeface="Inter"/>
                  <a:ea typeface="Inter"/>
                  <a:cs typeface="Inter"/>
                  <a:sym typeface="Inter"/>
                </a:rPr>
                <a:t>validar</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rechazar</a:t>
              </a:r>
              <a:r>
                <a:rPr lang="en-US" sz="2400" b="0" i="0" u="none" strike="noStrike" cap="none" dirty="0">
                  <a:solidFill>
                    <a:srgbClr val="334155"/>
                  </a:solidFill>
                  <a:latin typeface="Inter"/>
                  <a:ea typeface="Inter"/>
                  <a:cs typeface="Inter"/>
                  <a:sym typeface="Inter"/>
                </a:rPr>
                <a:t> o </a:t>
              </a:r>
              <a:r>
                <a:rPr lang="en-US" sz="2400" b="0" i="0" u="none" strike="noStrike" cap="none" dirty="0" err="1">
                  <a:solidFill>
                    <a:srgbClr val="334155"/>
                  </a:solidFill>
                  <a:latin typeface="Inter"/>
                  <a:ea typeface="Inter"/>
                  <a:cs typeface="Inter"/>
                  <a:sym typeface="Inter"/>
                </a:rPr>
                <a:t>retornar</a:t>
              </a:r>
              <a:r>
                <a:rPr lang="en-US" sz="2400" b="0" i="0" u="none" strike="noStrike" cap="none" dirty="0">
                  <a:solidFill>
                    <a:srgbClr val="334155"/>
                  </a:solidFill>
                  <a:latin typeface="Inter"/>
                  <a:ea typeface="Inter"/>
                  <a:cs typeface="Inter"/>
                  <a:sym typeface="Inter"/>
                </a:rPr>
                <a:t> para </a:t>
              </a:r>
              <a:r>
                <a:rPr lang="en-US" sz="2400" b="0" i="0" u="none" strike="noStrike" cap="none" dirty="0" err="1">
                  <a:solidFill>
                    <a:srgbClr val="334155"/>
                  </a:solidFill>
                  <a:latin typeface="Inter"/>
                  <a:ea typeface="Inter"/>
                  <a:cs typeface="Inter"/>
                  <a:sym typeface="Inter"/>
                </a:rPr>
                <a:t>correcciones</a:t>
              </a:r>
              <a:r>
                <a:rPr lang="en-US" sz="2400" b="0" i="0" u="none" strike="noStrike" cap="none" dirty="0">
                  <a:solidFill>
                    <a:srgbClr val="334155"/>
                  </a:solidFill>
                  <a:latin typeface="Inter"/>
                  <a:ea typeface="Inter"/>
                  <a:cs typeface="Inter"/>
                  <a:sym typeface="Inter"/>
                </a:rPr>
                <a:t>.</a:t>
              </a:r>
              <a:endParaRPr sz="4000" dirty="0"/>
            </a:p>
          </p:txBody>
        </p:sp>
        <p:sp>
          <p:nvSpPr>
            <p:cNvPr id="20" name="Google Shape;324;p25"/>
            <p:cNvSpPr txBox="1"/>
            <p:nvPr/>
          </p:nvSpPr>
          <p:spPr>
            <a:xfrm>
              <a:off x="6691433" y="5074156"/>
              <a:ext cx="4267200" cy="99940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solidFill>
                    <a:srgbClr val="0F172A"/>
                  </a:solidFill>
                  <a:latin typeface="Inter SemiBold"/>
                  <a:ea typeface="Inter SemiBold"/>
                  <a:cs typeface="Inter SemiBold"/>
                  <a:sym typeface="Inter SemiBold"/>
                </a:rPr>
                <a:t>RF-05 </a:t>
              </a:r>
              <a:r>
                <a:rPr lang="en-US" sz="2400" b="1" dirty="0" err="1" smtClean="0">
                  <a:solidFill>
                    <a:srgbClr val="0F172A"/>
                  </a:solidFill>
                  <a:latin typeface="Inter SemiBold"/>
                  <a:ea typeface="Inter SemiBold"/>
                  <a:cs typeface="Inter SemiBold"/>
                  <a:sym typeface="Inter SemiBold"/>
                </a:rPr>
                <a:t>Verifiación</a:t>
              </a:r>
              <a:r>
                <a:rPr lang="en-US" sz="2400" b="1" dirty="0" smtClean="0">
                  <a:solidFill>
                    <a:srgbClr val="0F172A"/>
                  </a:solidFill>
                  <a:latin typeface="Inter SemiBold"/>
                  <a:ea typeface="Inter SemiBold"/>
                  <a:cs typeface="Inter SemiBold"/>
                  <a:sym typeface="Inter SemiBold"/>
                </a:rPr>
                <a:t> de Stock</a:t>
              </a:r>
              <a:r>
                <a:rPr lang="en-US" sz="2400" b="0" i="0" u="none" strike="noStrike" cap="none" dirty="0" smtClean="0">
                  <a:solidFill>
                    <a:srgbClr val="0F172A"/>
                  </a:solidFill>
                  <a:latin typeface="Inter SemiBold"/>
                  <a:ea typeface="Inter SemiBold"/>
                  <a:cs typeface="Inter SemiBold"/>
                  <a:sym typeface="Inter SemiBold"/>
                </a:rPr>
                <a:t>:</a:t>
              </a:r>
              <a:r>
                <a:rPr lang="en-US" sz="2400" b="0" i="0" u="none" strike="noStrike" cap="none" dirty="0" smtClean="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Verificación</a:t>
              </a:r>
              <a:r>
                <a:rPr lang="en-US" sz="2400" b="0" i="0" u="none" strike="noStrike" cap="none" dirty="0">
                  <a:solidFill>
                    <a:srgbClr val="334155"/>
                  </a:solidFill>
                  <a:latin typeface="Inter"/>
                  <a:ea typeface="Inter"/>
                  <a:cs typeface="Inter"/>
                  <a:sym typeface="Inter"/>
                </a:rPr>
                <a:t> de stock </a:t>
              </a:r>
              <a:r>
                <a:rPr lang="en-US" sz="2400" b="0" i="0" u="none" strike="noStrike" cap="none" dirty="0" err="1">
                  <a:solidFill>
                    <a:srgbClr val="334155"/>
                  </a:solidFill>
                  <a:latin typeface="Inter"/>
                  <a:ea typeface="Inter"/>
                  <a:cs typeface="Inter"/>
                  <a:sym typeface="Inter"/>
                </a:rPr>
                <a:t>existente</a:t>
              </a:r>
              <a:r>
                <a:rPr lang="en-US" sz="2400" b="0" i="0" u="none" strike="noStrike" cap="none" dirty="0">
                  <a:solidFill>
                    <a:srgbClr val="334155"/>
                  </a:solidFill>
                  <a:latin typeface="Inter"/>
                  <a:ea typeface="Inter"/>
                  <a:cs typeface="Inter"/>
                  <a:sym typeface="Inter"/>
                </a:rPr>
                <a:t> antes de </a:t>
              </a:r>
              <a:r>
                <a:rPr lang="en-US" sz="2400" b="0" i="0" u="none" strike="noStrike" cap="none" dirty="0" err="1">
                  <a:solidFill>
                    <a:srgbClr val="334155"/>
                  </a:solidFill>
                  <a:latin typeface="Inter"/>
                  <a:ea typeface="Inter"/>
                  <a:cs typeface="Inter"/>
                  <a:sym typeface="Inter"/>
                </a:rPr>
                <a:t>procesar</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compras</a:t>
              </a:r>
              <a:r>
                <a:rPr lang="en-US" sz="2400" b="0"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externas</a:t>
              </a:r>
              <a:r>
                <a:rPr lang="en-US" sz="2400" b="0" i="0" u="none" strike="noStrike" cap="none" dirty="0">
                  <a:solidFill>
                    <a:srgbClr val="334155"/>
                  </a:solidFill>
                  <a:latin typeface="Inter"/>
                  <a:ea typeface="Inter"/>
                  <a:cs typeface="Inter"/>
                  <a:sym typeface="Inter"/>
                </a:rPr>
                <a:t>.</a:t>
              </a:r>
              <a:endParaRPr sz="4000" dirty="0"/>
            </a:p>
          </p:txBody>
        </p:sp>
        <p:sp>
          <p:nvSpPr>
            <p:cNvPr id="21" name="Google Shape;325;p25"/>
            <p:cNvSpPr txBox="1"/>
            <p:nvPr/>
          </p:nvSpPr>
          <p:spPr>
            <a:xfrm>
              <a:off x="6696076" y="6117816"/>
              <a:ext cx="4267200" cy="66627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smtClean="0">
                  <a:solidFill>
                    <a:srgbClr val="0F172A"/>
                  </a:solidFill>
                  <a:latin typeface="Inter SemiBold"/>
                  <a:ea typeface="Inter SemiBold"/>
                  <a:cs typeface="Inter SemiBold"/>
                  <a:sym typeface="Inter SemiBold"/>
                </a:rPr>
                <a:t>RF-06 </a:t>
              </a:r>
              <a:r>
                <a:rPr lang="en-US" sz="2400" b="1" i="0" u="none" strike="noStrike" cap="none" dirty="0" err="1">
                  <a:solidFill>
                    <a:srgbClr val="0F172A"/>
                  </a:solidFill>
                  <a:latin typeface="Inter SemiBold"/>
                  <a:ea typeface="Inter SemiBold"/>
                  <a:cs typeface="Inter SemiBold"/>
                  <a:sym typeface="Inter SemiBold"/>
                </a:rPr>
                <a:t>Reportes</a:t>
              </a:r>
              <a:r>
                <a:rPr lang="en-US" sz="2400" b="1" i="0" u="none" strike="noStrike" cap="none" dirty="0">
                  <a:solidFill>
                    <a:srgbClr val="0F172A"/>
                  </a:solidFill>
                  <a:latin typeface="Inter SemiBold"/>
                  <a:ea typeface="Inter SemiBold"/>
                  <a:cs typeface="Inter SemiBold"/>
                  <a:sym typeface="Inter SemiBold"/>
                </a:rPr>
                <a:t> </a:t>
              </a:r>
              <a:r>
                <a:rPr lang="en-US" sz="2400" b="1" i="0" u="none" strike="noStrike" cap="none" dirty="0" err="1">
                  <a:solidFill>
                    <a:srgbClr val="0F172A"/>
                  </a:solidFill>
                  <a:latin typeface="Inter SemiBold"/>
                  <a:ea typeface="Inter SemiBold"/>
                  <a:cs typeface="Inter SemiBold"/>
                  <a:sym typeface="Inter SemiBold"/>
                </a:rPr>
                <a:t>Dinámicos</a:t>
              </a:r>
              <a:r>
                <a:rPr lang="en-US" sz="2400" b="1" i="0" u="none" strike="noStrike" cap="none" dirty="0">
                  <a:solidFill>
                    <a:srgbClr val="0F172A"/>
                  </a:solidFill>
                  <a:latin typeface="Inter SemiBold"/>
                  <a:ea typeface="Inter SemiBold"/>
                  <a:cs typeface="Inter SemiBold"/>
                  <a:sym typeface="Inter SemiBold"/>
                </a:rPr>
                <a:t>:</a:t>
              </a:r>
              <a:r>
                <a:rPr lang="en-US" sz="2400" b="1" i="0" u="none" strike="noStrike" cap="none" dirty="0">
                  <a:solidFill>
                    <a:srgbClr val="334155"/>
                  </a:solidFill>
                  <a:latin typeface="Inter"/>
                  <a:ea typeface="Inter"/>
                  <a:cs typeface="Inter"/>
                  <a:sym typeface="Inter"/>
                </a:rPr>
                <a:t> </a:t>
              </a:r>
              <a:r>
                <a:rPr lang="en-US" sz="2400" b="0" i="0" u="none" strike="noStrike" cap="none" dirty="0" err="1">
                  <a:solidFill>
                    <a:srgbClr val="334155"/>
                  </a:solidFill>
                  <a:latin typeface="Inter"/>
                  <a:ea typeface="Inter"/>
                  <a:cs typeface="Inter"/>
                  <a:sym typeface="Inter"/>
                </a:rPr>
                <a:t>Descarga</a:t>
              </a:r>
              <a:r>
                <a:rPr lang="en-US" sz="2400" b="0" i="0" u="none" strike="noStrike" cap="none" dirty="0">
                  <a:solidFill>
                    <a:srgbClr val="334155"/>
                  </a:solidFill>
                  <a:latin typeface="Inter"/>
                  <a:ea typeface="Inter"/>
                  <a:cs typeface="Inter"/>
                  <a:sym typeface="Inter"/>
                </a:rPr>
                <a:t> </a:t>
              </a:r>
              <a:r>
                <a:rPr lang="en-US" sz="2400" b="0" i="0" u="none" strike="noStrike" cap="none" dirty="0" smtClean="0">
                  <a:solidFill>
                    <a:srgbClr val="334155"/>
                  </a:solidFill>
                  <a:latin typeface="Inter"/>
                  <a:ea typeface="Inter"/>
                  <a:cs typeface="Inter"/>
                  <a:sym typeface="Inter"/>
                </a:rPr>
                <a:t>de PDF</a:t>
              </a:r>
              <a:endParaRPr sz="4000" dirty="0"/>
            </a:p>
          </p:txBody>
        </p:sp>
        <p:pic>
          <p:nvPicPr>
            <p:cNvPr id="22" name="Google Shape;326;p25" descr="image.png"/>
            <p:cNvPicPr preferRelativeResize="0"/>
            <p:nvPr/>
          </p:nvPicPr>
          <p:blipFill rotWithShape="1">
            <a:blip r:embed="rId5">
              <a:alphaModFix/>
            </a:blip>
            <a:srcRect/>
            <a:stretch/>
          </p:blipFill>
          <p:spPr>
            <a:xfrm>
              <a:off x="928511" y="4084665"/>
              <a:ext cx="332865" cy="218596"/>
            </a:xfrm>
            <a:prstGeom prst="rect">
              <a:avLst/>
            </a:prstGeom>
            <a:noFill/>
            <a:ln>
              <a:noFill/>
            </a:ln>
          </p:spPr>
        </p:pic>
        <p:pic>
          <p:nvPicPr>
            <p:cNvPr id="23" name="Google Shape;327;p25" descr="image.png"/>
            <p:cNvPicPr preferRelativeResize="0"/>
            <p:nvPr/>
          </p:nvPicPr>
          <p:blipFill rotWithShape="1">
            <a:blip r:embed="rId6">
              <a:alphaModFix/>
            </a:blip>
            <a:srcRect/>
            <a:stretch/>
          </p:blipFill>
          <p:spPr>
            <a:xfrm>
              <a:off x="943712" y="4955675"/>
              <a:ext cx="285808" cy="233166"/>
            </a:xfrm>
            <a:prstGeom prst="rect">
              <a:avLst/>
            </a:prstGeom>
            <a:noFill/>
            <a:ln>
              <a:noFill/>
            </a:ln>
          </p:spPr>
        </p:pic>
        <p:pic>
          <p:nvPicPr>
            <p:cNvPr id="24" name="Google Shape;328;p25" descr="image.png"/>
            <p:cNvPicPr preferRelativeResize="0"/>
            <p:nvPr/>
          </p:nvPicPr>
          <p:blipFill rotWithShape="1">
            <a:blip r:embed="rId7">
              <a:alphaModFix/>
            </a:blip>
            <a:srcRect/>
            <a:stretch/>
          </p:blipFill>
          <p:spPr>
            <a:xfrm>
              <a:off x="928511" y="5878138"/>
              <a:ext cx="281165" cy="239677"/>
            </a:xfrm>
            <a:prstGeom prst="rect">
              <a:avLst/>
            </a:prstGeom>
            <a:noFill/>
            <a:ln>
              <a:noFill/>
            </a:ln>
          </p:spPr>
        </p:pic>
        <p:pic>
          <p:nvPicPr>
            <p:cNvPr id="25" name="Google Shape;329;p25" descr="image.png"/>
            <p:cNvPicPr preferRelativeResize="0"/>
            <p:nvPr/>
          </p:nvPicPr>
          <p:blipFill rotWithShape="1">
            <a:blip r:embed="rId8">
              <a:alphaModFix/>
            </a:blip>
            <a:srcRect/>
            <a:stretch/>
          </p:blipFill>
          <p:spPr>
            <a:xfrm>
              <a:off x="6229863" y="4084665"/>
              <a:ext cx="313815" cy="224942"/>
            </a:xfrm>
            <a:prstGeom prst="rect">
              <a:avLst/>
            </a:prstGeom>
            <a:noFill/>
            <a:ln>
              <a:noFill/>
            </a:ln>
          </p:spPr>
        </p:pic>
        <p:pic>
          <p:nvPicPr>
            <p:cNvPr id="26" name="Google Shape;330;p25" descr="image.png"/>
            <p:cNvPicPr preferRelativeResize="0"/>
            <p:nvPr/>
          </p:nvPicPr>
          <p:blipFill rotWithShape="1">
            <a:blip r:embed="rId9">
              <a:alphaModFix/>
            </a:blip>
            <a:srcRect/>
            <a:stretch/>
          </p:blipFill>
          <p:spPr>
            <a:xfrm>
              <a:off x="6229863" y="5155406"/>
              <a:ext cx="332864" cy="257174"/>
            </a:xfrm>
            <a:prstGeom prst="rect">
              <a:avLst/>
            </a:prstGeom>
            <a:noFill/>
            <a:ln>
              <a:noFill/>
            </a:ln>
          </p:spPr>
        </p:pic>
        <p:pic>
          <p:nvPicPr>
            <p:cNvPr id="27" name="Google Shape;331;p25" descr="image.png"/>
            <p:cNvPicPr preferRelativeResize="0"/>
            <p:nvPr/>
          </p:nvPicPr>
          <p:blipFill rotWithShape="1">
            <a:blip r:embed="rId10">
              <a:alphaModFix/>
            </a:blip>
            <a:srcRect/>
            <a:stretch/>
          </p:blipFill>
          <p:spPr>
            <a:xfrm>
              <a:off x="6229863" y="6182728"/>
              <a:ext cx="313815" cy="229370"/>
            </a:xfrm>
            <a:prstGeom prst="rect">
              <a:avLst/>
            </a:prstGeom>
            <a:noFill/>
            <a:ln>
              <a:noFill/>
            </a:ln>
          </p:spPr>
        </p:pic>
      </p:grpSp>
      <p:sp>
        <p:nvSpPr>
          <p:cNvPr id="2" name="CuadroTexto 1"/>
          <p:cNvSpPr txBox="1"/>
          <p:nvPr/>
        </p:nvSpPr>
        <p:spPr>
          <a:xfrm>
            <a:off x="1748618" y="2696727"/>
            <a:ext cx="6791809" cy="584775"/>
          </a:xfrm>
          <a:prstGeom prst="rect">
            <a:avLst/>
          </a:prstGeom>
          <a:noFill/>
        </p:spPr>
        <p:txBody>
          <a:bodyPr wrap="square" rtlCol="0">
            <a:spAutoFit/>
          </a:bodyPr>
          <a:lstStyle/>
          <a:p>
            <a:r>
              <a:rPr lang="es-ES" sz="3200" b="1" dirty="0" smtClean="0"/>
              <a:t>Requerimientos Funcionales</a:t>
            </a:r>
            <a:endParaRPr lang="es-ES" sz="3200" b="1" dirty="0"/>
          </a:p>
        </p:txBody>
      </p:sp>
    </p:spTree>
    <p:extLst>
      <p:ext uri="{BB962C8B-B14F-4D97-AF65-F5344CB8AC3E}">
        <p14:creationId xmlns:p14="http://schemas.microsoft.com/office/powerpoint/2010/main" val="1184595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Freeform 4"/>
          <p:cNvSpPr/>
          <p:nvPr/>
        </p:nvSpPr>
        <p:spPr>
          <a:xfrm flipV="1">
            <a:off x="-77396" y="9596858"/>
            <a:ext cx="4114440" cy="4114440"/>
          </a:xfrm>
          <a:custGeom>
            <a:avLst/>
            <a:gdLst>
              <a:gd name="textAreaLeft" fmla="*/ 0 w 4114440"/>
              <a:gd name="textAreaRight" fmla="*/ 4114800 w 4114440"/>
              <a:gd name="textAreaTop" fmla="*/ -360 h 4114440"/>
              <a:gd name="textAreaBottom" fmla="*/ 4114440 h 4114440"/>
            </a:gdLst>
            <a:ahLst/>
            <a:cxnLst/>
            <a:rect l="textAreaLeft" t="textAreaTop" r="textAreaRight" b="textAreaBottom"/>
            <a:pathLst>
              <a:path w="4114800" h="4114800">
                <a:moveTo>
                  <a:pt x="0" y="4114800"/>
                </a:moveTo>
                <a:lnTo>
                  <a:pt x="4114800" y="4114800"/>
                </a:lnTo>
                <a:lnTo>
                  <a:pt x="4114800" y="0"/>
                </a:lnTo>
                <a:lnTo>
                  <a:pt x="0" y="0"/>
                </a:lnTo>
                <a:lnTo>
                  <a:pt x="0" y="411480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0"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1" name="TextBox 6"/>
          <p:cNvSpPr/>
          <p:nvPr/>
        </p:nvSpPr>
        <p:spPr>
          <a:xfrm>
            <a:off x="5977800" y="600120"/>
            <a:ext cx="6332040" cy="24237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trike="noStrike" spc="-1" dirty="0">
                <a:solidFill>
                  <a:srgbClr val="000000"/>
                </a:solidFill>
                <a:latin typeface="Arial Bold"/>
                <a:ea typeface="Arial Bold"/>
              </a:rPr>
              <a:t>CAPÍTULO </a:t>
            </a:r>
            <a:r>
              <a:rPr lang="en-US" sz="4500" b="1" strike="noStrike" spc="-1" dirty="0" smtClean="0">
                <a:solidFill>
                  <a:srgbClr val="000000"/>
                </a:solidFill>
                <a:latin typeface="Arial Bold"/>
                <a:ea typeface="Arial Bold"/>
              </a:rPr>
              <a:t>IV.</a:t>
            </a:r>
          </a:p>
          <a:p>
            <a:pPr algn="ctr">
              <a:lnSpc>
                <a:spcPts val="6299"/>
              </a:lnSpc>
            </a:pPr>
            <a:r>
              <a:rPr lang="en-US" sz="2800" kern="0" dirty="0" err="1">
                <a:solidFill>
                  <a:srgbClr val="0EA5E9"/>
                </a:solidFill>
                <a:latin typeface="Inter SemiBold"/>
                <a:ea typeface="Inter SemiBold"/>
                <a:cs typeface="Inter SemiBold"/>
                <a:sym typeface="Inter SemiBold"/>
              </a:rPr>
              <a:t>Descripción</a:t>
            </a:r>
            <a:r>
              <a:rPr lang="en-US" sz="2800" kern="0" dirty="0">
                <a:solidFill>
                  <a:srgbClr val="0EA5E9"/>
                </a:solidFill>
                <a:latin typeface="Inter SemiBold"/>
                <a:ea typeface="Inter SemiBold"/>
                <a:cs typeface="Inter SemiBold"/>
                <a:sym typeface="Inter SemiBold"/>
              </a:rPr>
              <a:t> de la </a:t>
            </a:r>
            <a:r>
              <a:rPr lang="en-US" sz="2800" kern="0" dirty="0" err="1">
                <a:solidFill>
                  <a:srgbClr val="0EA5E9"/>
                </a:solidFill>
                <a:latin typeface="Inter SemiBold"/>
                <a:ea typeface="Inter SemiBold"/>
                <a:cs typeface="Inter SemiBold"/>
                <a:sym typeface="Inter SemiBold"/>
              </a:rPr>
              <a:t>propuesta</a:t>
            </a:r>
            <a:endParaRPr lang="en-US" sz="2800" kern="0" dirty="0">
              <a:solidFill>
                <a:srgbClr val="000000"/>
              </a:solidFill>
              <a:cs typeface="Arial"/>
              <a:sym typeface="Arial"/>
            </a:endParaRPr>
          </a:p>
          <a:p>
            <a:pPr algn="ctr">
              <a:lnSpc>
                <a:spcPts val="6299"/>
              </a:lnSpc>
            </a:pPr>
            <a:endParaRPr lang="es-VE" sz="4500" b="0" strike="noStrike" spc="-1" dirty="0">
              <a:solidFill>
                <a:srgbClr val="000000"/>
              </a:solidFill>
              <a:latin typeface="Arial"/>
            </a:endParaRPr>
          </a:p>
        </p:txBody>
      </p:sp>
      <p:pic>
        <p:nvPicPr>
          <p:cNvPr id="10" name="Google Shape;313;p25" descr="image.png"/>
          <p:cNvPicPr preferRelativeResize="0"/>
          <p:nvPr/>
        </p:nvPicPr>
        <p:blipFill rotWithShape="1">
          <a:blip r:embed="rId4">
            <a:alphaModFix/>
          </a:blip>
          <a:srcRect/>
          <a:stretch/>
        </p:blipFill>
        <p:spPr>
          <a:xfrm>
            <a:off x="1748618" y="3654688"/>
            <a:ext cx="14812182" cy="5646901"/>
          </a:xfrm>
          <a:prstGeom prst="rect">
            <a:avLst/>
          </a:prstGeom>
          <a:noFill/>
          <a:ln>
            <a:noFill/>
          </a:ln>
        </p:spPr>
      </p:pic>
      <p:sp>
        <p:nvSpPr>
          <p:cNvPr id="2" name="CuadroTexto 1"/>
          <p:cNvSpPr txBox="1"/>
          <p:nvPr/>
        </p:nvSpPr>
        <p:spPr>
          <a:xfrm>
            <a:off x="1748618" y="2696727"/>
            <a:ext cx="6791809" cy="584775"/>
          </a:xfrm>
          <a:prstGeom prst="rect">
            <a:avLst/>
          </a:prstGeom>
          <a:noFill/>
        </p:spPr>
        <p:txBody>
          <a:bodyPr wrap="square" rtlCol="0">
            <a:spAutoFit/>
          </a:bodyPr>
          <a:lstStyle/>
          <a:p>
            <a:r>
              <a:rPr lang="es-ES" sz="3200" b="1" dirty="0" smtClean="0"/>
              <a:t>Requerimientos No Funcionales</a:t>
            </a:r>
            <a:endParaRPr lang="es-ES" sz="3200" b="1" dirty="0"/>
          </a:p>
        </p:txBody>
      </p:sp>
      <p:sp>
        <p:nvSpPr>
          <p:cNvPr id="4" name="CuadroTexto 3"/>
          <p:cNvSpPr txBox="1"/>
          <p:nvPr/>
        </p:nvSpPr>
        <p:spPr>
          <a:xfrm>
            <a:off x="3687097" y="5014452"/>
            <a:ext cx="9645445" cy="3539613"/>
          </a:xfrm>
          <a:prstGeom prst="rect">
            <a:avLst/>
          </a:prstGeom>
          <a:noFill/>
        </p:spPr>
        <p:txBody>
          <a:bodyPr wrap="square" rtlCol="0">
            <a:spAutoFit/>
          </a:bodyPr>
          <a:lstStyle/>
          <a:p>
            <a:endParaRPr lang="es-ES" dirty="0"/>
          </a:p>
        </p:txBody>
      </p:sp>
      <p:sp>
        <p:nvSpPr>
          <p:cNvPr id="6" name="Rectangle 3"/>
          <p:cNvSpPr>
            <a:spLocks noChangeArrowheads="1"/>
          </p:cNvSpPr>
          <p:nvPr/>
        </p:nvSpPr>
        <p:spPr bwMode="auto">
          <a:xfrm>
            <a:off x="1979825" y="3876300"/>
            <a:ext cx="1458097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RNF-01 Rendimiento:</a:t>
            </a:r>
            <a:r>
              <a:rPr kumimoji="0" lang="es-ES" altLang="es-ES" sz="2400" b="0" i="0" u="none" strike="noStrike" cap="none" normalizeH="0" baseline="0" dirty="0" smtClean="0">
                <a:ln>
                  <a:noFill/>
                </a:ln>
                <a:solidFill>
                  <a:schemeClr val="tx1"/>
                </a:solidFill>
                <a:effectLst/>
                <a:latin typeface="Arial" panose="020B0604020202020204" pitchFamily="34" charset="0"/>
              </a:rPr>
              <a:t> Carga inicial menor a </a:t>
            </a:r>
            <a:r>
              <a:rPr kumimoji="0" lang="es-ES" altLang="es-ES" sz="2400" b="1" i="0" u="none" strike="noStrike" cap="none" normalizeH="0" baseline="0" dirty="0" smtClean="0">
                <a:ln>
                  <a:noFill/>
                </a:ln>
                <a:solidFill>
                  <a:schemeClr val="tx1"/>
                </a:solidFill>
                <a:effectLst/>
                <a:latin typeface="Arial" panose="020B0604020202020204" pitchFamily="34" charset="0"/>
              </a:rPr>
              <a:t>2s</a:t>
            </a:r>
            <a:r>
              <a:rPr kumimoji="0" lang="es-ES" altLang="es-ES" sz="2400" b="0" i="0" u="none" strike="noStrike" cap="none" normalizeH="0" baseline="0" dirty="0" smtClean="0">
                <a:ln>
                  <a:noFill/>
                </a:ln>
                <a:solidFill>
                  <a:schemeClr val="tx1"/>
                </a:solidFill>
                <a:effectLst/>
                <a:latin typeface="Arial" panose="020B0604020202020204" pitchFamily="34" charset="0"/>
              </a:rPr>
              <a:t> y respuestas de la API en menos de </a:t>
            </a:r>
            <a:r>
              <a:rPr kumimoji="0" lang="es-ES" altLang="es-ES" sz="2400" b="1" i="0" u="none" strike="noStrike" cap="none" normalizeH="0" baseline="0" dirty="0" smtClean="0">
                <a:ln>
                  <a:noFill/>
                </a:ln>
                <a:solidFill>
                  <a:schemeClr val="tx1"/>
                </a:solidFill>
                <a:effectLst/>
                <a:latin typeface="Arial" panose="020B0604020202020204" pitchFamily="34" charset="0"/>
              </a:rPr>
              <a:t>500 ms</a:t>
            </a:r>
            <a:r>
              <a:rPr kumimoji="0" lang="es-ES" altLang="es-ES" sz="2400" b="0" i="0" u="none" strike="noStrike" cap="none" normalizeH="0" baseline="0" dirty="0" smtClean="0">
                <a:ln>
                  <a:noFill/>
                </a:ln>
                <a:solidFill>
                  <a:schemeClr val="tx1"/>
                </a:solidFill>
                <a:effectLst/>
                <a:latin typeface="Arial" panose="020B0604020202020204" pitchFamily="34" charset="0"/>
              </a:rPr>
              <a:t> en red interna.</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RNF-02 Escalabilidad:</a:t>
            </a:r>
            <a:r>
              <a:rPr kumimoji="0" lang="es-ES" altLang="es-ES" sz="2400" b="0" i="0" u="none" strike="noStrike" cap="none" normalizeH="0" baseline="0" dirty="0" smtClean="0">
                <a:ln>
                  <a:noFill/>
                </a:ln>
                <a:solidFill>
                  <a:schemeClr val="tx1"/>
                </a:solidFill>
                <a:effectLst/>
                <a:latin typeface="Arial" panose="020B0604020202020204" pitchFamily="34" charset="0"/>
              </a:rPr>
              <a:t> Soporte de acceso concurrente y simultáneo para las </a:t>
            </a:r>
            <a:r>
              <a:rPr kumimoji="0" lang="es-ES" altLang="es-ES" sz="2400" b="1" i="0" u="none" strike="noStrike" cap="none" normalizeH="0" baseline="0" dirty="0" smtClean="0">
                <a:ln>
                  <a:noFill/>
                </a:ln>
                <a:solidFill>
                  <a:schemeClr val="tx1"/>
                </a:solidFill>
                <a:effectLst/>
                <a:latin typeface="Arial" panose="020B0604020202020204" pitchFamily="34" charset="0"/>
              </a:rPr>
              <a:t>32 gerencias</a:t>
            </a:r>
            <a:r>
              <a:rPr kumimoji="0" lang="es-ES" altLang="es-ES" sz="2400" b="0" i="0" u="none" strike="noStrike" cap="none" normalizeH="0" baseline="0" dirty="0" smtClean="0">
                <a:ln>
                  <a:noFill/>
                </a:ln>
                <a:solidFill>
                  <a:schemeClr val="tx1"/>
                </a:solidFill>
                <a:effectLst/>
                <a:latin typeface="Arial" panose="020B0604020202020204" pitchFamily="34" charset="0"/>
              </a:rPr>
              <a:t> de la planta.</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RNF-03 Seguridad:</a:t>
            </a:r>
            <a:r>
              <a:rPr kumimoji="0" lang="es-ES" altLang="es-ES" sz="2400" b="0" i="0" u="none" strike="noStrike" cap="none" normalizeH="0" baseline="0" dirty="0" smtClean="0">
                <a:ln>
                  <a:noFill/>
                </a:ln>
                <a:solidFill>
                  <a:schemeClr val="tx1"/>
                </a:solidFill>
                <a:effectLst/>
                <a:latin typeface="Arial" panose="020B0604020202020204" pitchFamily="34" charset="0"/>
              </a:rPr>
              <a:t> Cifrado de contraseñas con </a:t>
            </a:r>
            <a:r>
              <a:rPr kumimoji="0" lang="es-ES" altLang="es-ES" sz="2400" b="1" i="0" u="none" strike="noStrike" cap="none" normalizeH="0" baseline="0" dirty="0" err="1" smtClean="0">
                <a:ln>
                  <a:noFill/>
                </a:ln>
                <a:solidFill>
                  <a:schemeClr val="tx1"/>
                </a:solidFill>
                <a:effectLst/>
                <a:latin typeface="Arial" panose="020B0604020202020204" pitchFamily="34" charset="0"/>
              </a:rPr>
              <a:t>bcrypt</a:t>
            </a:r>
            <a:r>
              <a:rPr kumimoji="0" lang="es-ES" altLang="es-ES" sz="2400" b="0" i="0" u="none" strike="noStrike" cap="none" normalizeH="0" baseline="0" dirty="0" smtClean="0">
                <a:ln>
                  <a:noFill/>
                </a:ln>
                <a:solidFill>
                  <a:schemeClr val="tx1"/>
                </a:solidFill>
                <a:effectLst/>
                <a:latin typeface="Arial" panose="020B0604020202020204" pitchFamily="34" charset="0"/>
              </a:rPr>
              <a:t> y </a:t>
            </a:r>
            <a:r>
              <a:rPr kumimoji="0" lang="es-ES" altLang="es-ES" sz="2400" b="0" i="0" u="none" strike="noStrike" cap="none" normalizeH="0" baseline="0" dirty="0" err="1" smtClean="0">
                <a:ln>
                  <a:noFill/>
                </a:ln>
                <a:solidFill>
                  <a:schemeClr val="tx1"/>
                </a:solidFill>
                <a:effectLst/>
                <a:latin typeface="Arial" panose="020B0604020202020204" pitchFamily="34" charset="0"/>
              </a:rPr>
              <a:t>tokens</a:t>
            </a:r>
            <a:r>
              <a:rPr kumimoji="0" lang="es-ES" altLang="es-ES" sz="2400" b="0" i="0" u="none" strike="noStrike" cap="none" normalizeH="0" baseline="0" dirty="0" smtClean="0">
                <a:ln>
                  <a:noFill/>
                </a:ln>
                <a:solidFill>
                  <a:schemeClr val="tx1"/>
                </a:solidFill>
                <a:effectLst/>
                <a:latin typeface="Arial" panose="020B0604020202020204" pitchFamily="34" charset="0"/>
              </a:rPr>
              <a:t> de sesión con tiempo de expiración.</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RNF-04 Usabilidad:</a:t>
            </a:r>
            <a:r>
              <a:rPr kumimoji="0" lang="es-ES" altLang="es-ES" sz="2400" b="0" i="0" u="none" strike="noStrike" cap="none" normalizeH="0" baseline="0" dirty="0" smtClean="0">
                <a:ln>
                  <a:noFill/>
                </a:ln>
                <a:solidFill>
                  <a:schemeClr val="tx1"/>
                </a:solidFill>
                <a:effectLst/>
                <a:latin typeface="Arial" panose="020B0604020202020204" pitchFamily="34" charset="0"/>
              </a:rPr>
              <a:t> Diseño adaptable (</a:t>
            </a:r>
            <a:r>
              <a:rPr kumimoji="0" lang="es-ES" altLang="es-ES" sz="2400" b="0" i="0" u="none" strike="noStrike" cap="none" normalizeH="0" baseline="0" dirty="0" err="1" smtClean="0">
                <a:ln>
                  <a:noFill/>
                </a:ln>
                <a:solidFill>
                  <a:schemeClr val="tx1"/>
                </a:solidFill>
                <a:effectLst/>
                <a:latin typeface="Arial" panose="020B0604020202020204" pitchFamily="34" charset="0"/>
              </a:rPr>
              <a:t>Tailwind</a:t>
            </a:r>
            <a:r>
              <a:rPr kumimoji="0" lang="es-ES" altLang="es-ES" sz="2400" b="0" i="0" u="none" strike="noStrike" cap="none" normalizeH="0" baseline="0" dirty="0" smtClean="0">
                <a:ln>
                  <a:noFill/>
                </a:ln>
                <a:solidFill>
                  <a:schemeClr val="tx1"/>
                </a:solidFill>
                <a:effectLst/>
                <a:latin typeface="Arial" panose="020B0604020202020204" pitchFamily="34" charset="0"/>
              </a:rPr>
              <a:t> CSS) que permite completar solicitudes en </a:t>
            </a:r>
            <a:r>
              <a:rPr kumimoji="0" lang="es-ES" altLang="es-ES" sz="2400" b="1" i="0" u="none" strike="noStrike" cap="none" normalizeH="0" baseline="0" dirty="0" smtClean="0">
                <a:ln>
                  <a:noFill/>
                </a:ln>
                <a:solidFill>
                  <a:schemeClr val="tx1"/>
                </a:solidFill>
                <a:effectLst/>
                <a:latin typeface="Arial" panose="020B0604020202020204" pitchFamily="34" charset="0"/>
              </a:rPr>
              <a:t>menos de 3 </a:t>
            </a:r>
          </a:p>
          <a:p>
            <a:pPr marL="0" marR="0" lvl="0" indent="0" algn="l" defTabSz="914400" rtl="0" eaLnBrk="0" fontAlgn="base" latinLnBrk="0" hangingPunct="0">
              <a:lnSpc>
                <a:spcPct val="100000"/>
              </a:lnSpc>
              <a:spcBef>
                <a:spcPct val="0"/>
              </a:spcBef>
              <a:spcAft>
                <a:spcPct val="0"/>
              </a:spcAft>
              <a:buClrTx/>
              <a:buSzTx/>
              <a:tabLst/>
            </a:pPr>
            <a:r>
              <a:rPr kumimoji="0" lang="es-ES" altLang="es-ES" sz="2400" b="1" i="0" u="none" strike="noStrike" cap="none" normalizeH="0" baseline="0" dirty="0" smtClean="0">
                <a:ln>
                  <a:noFill/>
                </a:ln>
                <a:solidFill>
                  <a:schemeClr val="tx1"/>
                </a:solidFill>
                <a:effectLst/>
                <a:latin typeface="Arial" panose="020B0604020202020204" pitchFamily="34" charset="0"/>
              </a:rPr>
              <a:t>pantallas</a:t>
            </a:r>
            <a:r>
              <a:rPr kumimoji="0" lang="es-ES" altLang="es-E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RNF-05 Disponibilidad:</a:t>
            </a:r>
            <a:r>
              <a:rPr kumimoji="0" lang="es-ES" altLang="es-ES" sz="2400" b="0" i="0" u="none" strike="noStrike" cap="none" normalizeH="0" baseline="0" dirty="0" smtClean="0">
                <a:ln>
                  <a:noFill/>
                </a:ln>
                <a:solidFill>
                  <a:schemeClr val="tx1"/>
                </a:solidFill>
                <a:effectLst/>
                <a:latin typeface="Arial" panose="020B0604020202020204" pitchFamily="34" charset="0"/>
              </a:rPr>
              <a:t> Operatividad garantizada del </a:t>
            </a:r>
            <a:r>
              <a:rPr kumimoji="0" lang="es-ES" altLang="es-ES" sz="2400" b="1" i="0" u="none" strike="noStrike" cap="none" normalizeH="0" baseline="0" dirty="0" smtClean="0">
                <a:ln>
                  <a:noFill/>
                </a:ln>
                <a:solidFill>
                  <a:schemeClr val="tx1"/>
                </a:solidFill>
                <a:effectLst/>
                <a:latin typeface="Arial" panose="020B0604020202020204" pitchFamily="34" charset="0"/>
              </a:rPr>
              <a:t>99.5%</a:t>
            </a:r>
            <a:r>
              <a:rPr kumimoji="0" lang="es-ES" altLang="es-ES" sz="2400" b="0" i="0" u="none" strike="noStrike" cap="none" normalizeH="0" baseline="0" dirty="0" smtClean="0">
                <a:ln>
                  <a:noFill/>
                </a:ln>
                <a:solidFill>
                  <a:schemeClr val="tx1"/>
                </a:solidFill>
                <a:effectLst/>
                <a:latin typeface="Arial" panose="020B0604020202020204" pitchFamily="34" charset="0"/>
              </a:rPr>
              <a:t> durante la jornada laboral de la empresa.</a:t>
            </a:r>
          </a:p>
          <a:p>
            <a:pPr marL="0" marR="0" lvl="0" indent="0" algn="l" defTabSz="914400" rtl="0" eaLnBrk="0" fontAlgn="base" latinLnBrk="0" hangingPunct="0">
              <a:lnSpc>
                <a:spcPct val="100000"/>
              </a:lnSpc>
              <a:spcBef>
                <a:spcPct val="0"/>
              </a:spcBef>
              <a:spcAft>
                <a:spcPct val="0"/>
              </a:spcAft>
              <a:buClrTx/>
              <a:buSzTx/>
              <a:tabLst/>
            </a:pPr>
            <a:endParaRPr kumimoji="0" lang="es-ES" altLang="es-E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RNF-06 Auditoría:</a:t>
            </a:r>
            <a:r>
              <a:rPr kumimoji="0" lang="es-ES" altLang="es-ES" sz="2400" b="0" i="0" u="none" strike="noStrike" cap="none" normalizeH="0" baseline="0" dirty="0" smtClean="0">
                <a:ln>
                  <a:noFill/>
                </a:ln>
                <a:solidFill>
                  <a:schemeClr val="tx1"/>
                </a:solidFill>
                <a:effectLst/>
                <a:latin typeface="Arial" panose="020B0604020202020204" pitchFamily="34" charset="0"/>
              </a:rPr>
              <a:t> Registro de </a:t>
            </a:r>
            <a:r>
              <a:rPr kumimoji="0" lang="es-ES" altLang="es-ES" sz="2400" b="0" i="1" u="none" strike="noStrike" cap="none" normalizeH="0" baseline="0" dirty="0" err="1" smtClean="0">
                <a:ln>
                  <a:noFill/>
                </a:ln>
                <a:solidFill>
                  <a:schemeClr val="tx1"/>
                </a:solidFill>
                <a:effectLst/>
                <a:latin typeface="Arial" panose="020B0604020202020204" pitchFamily="34" charset="0"/>
              </a:rPr>
              <a:t>logs</a:t>
            </a:r>
            <a:r>
              <a:rPr kumimoji="0" lang="es-ES" altLang="es-ES" sz="2400" b="0" i="0" u="none" strike="noStrike" cap="none" normalizeH="0" baseline="0" dirty="0" smtClean="0">
                <a:ln>
                  <a:noFill/>
                </a:ln>
                <a:solidFill>
                  <a:schemeClr val="tx1"/>
                </a:solidFill>
                <a:effectLst/>
                <a:latin typeface="Arial" panose="020B0604020202020204" pitchFamily="34" charset="0"/>
              </a:rPr>
              <a:t> estrictos con </a:t>
            </a:r>
            <a:r>
              <a:rPr kumimoji="0" lang="es-ES" altLang="es-ES" sz="2400" b="1" i="0" u="none" strike="noStrike" cap="none" normalizeH="0" baseline="0" dirty="0" smtClean="0">
                <a:ln>
                  <a:noFill/>
                </a:ln>
                <a:solidFill>
                  <a:schemeClr val="tx1"/>
                </a:solidFill>
                <a:effectLst/>
                <a:latin typeface="Arial" panose="020B0604020202020204" pitchFamily="34" charset="0"/>
              </a:rPr>
              <a:t>usuario, fecha, hora y acción</a:t>
            </a:r>
            <a:r>
              <a:rPr kumimoji="0" lang="es-ES" altLang="es-ES" sz="2400" b="0" i="0" u="none" strike="noStrike" cap="none" normalizeH="0" baseline="0" dirty="0" smtClean="0">
                <a:ln>
                  <a:noFill/>
                </a:ln>
                <a:solidFill>
                  <a:schemeClr val="tx1"/>
                </a:solidFill>
                <a:effectLst/>
                <a:latin typeface="Arial" panose="020B0604020202020204" pitchFamily="34" charset="0"/>
              </a:rPr>
              <a:t> para cada cambio realizado.</a:t>
            </a:r>
          </a:p>
        </p:txBody>
      </p:sp>
    </p:spTree>
    <p:extLst>
      <p:ext uri="{BB962C8B-B14F-4D97-AF65-F5344CB8AC3E}">
        <p14:creationId xmlns:p14="http://schemas.microsoft.com/office/powerpoint/2010/main" val="83361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redondeado 2"/>
          <p:cNvSpPr/>
          <p:nvPr/>
        </p:nvSpPr>
        <p:spPr>
          <a:xfrm>
            <a:off x="-896112" y="2595716"/>
            <a:ext cx="7979113" cy="791168"/>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89" name="Freeform 4"/>
          <p:cNvSpPr/>
          <p:nvPr/>
        </p:nvSpPr>
        <p:spPr>
          <a:xfrm flipV="1">
            <a:off x="-77396" y="9596858"/>
            <a:ext cx="4114440" cy="4114440"/>
          </a:xfrm>
          <a:custGeom>
            <a:avLst/>
            <a:gdLst>
              <a:gd name="textAreaLeft" fmla="*/ 0 w 4114440"/>
              <a:gd name="textAreaRight" fmla="*/ 4114800 w 4114440"/>
              <a:gd name="textAreaTop" fmla="*/ -360 h 4114440"/>
              <a:gd name="textAreaBottom" fmla="*/ 4114440 h 4114440"/>
            </a:gdLst>
            <a:ahLst/>
            <a:cxnLst/>
            <a:rect l="textAreaLeft" t="textAreaTop" r="textAreaRight" b="textAreaBottom"/>
            <a:pathLst>
              <a:path w="4114800" h="4114800">
                <a:moveTo>
                  <a:pt x="0" y="4114800"/>
                </a:moveTo>
                <a:lnTo>
                  <a:pt x="4114800" y="4114800"/>
                </a:lnTo>
                <a:lnTo>
                  <a:pt x="4114800" y="0"/>
                </a:lnTo>
                <a:lnTo>
                  <a:pt x="0" y="0"/>
                </a:lnTo>
                <a:lnTo>
                  <a:pt x="0" y="411480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0"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91" name="TextBox 6"/>
          <p:cNvSpPr/>
          <p:nvPr/>
        </p:nvSpPr>
        <p:spPr>
          <a:xfrm>
            <a:off x="5977800" y="600120"/>
            <a:ext cx="6332040" cy="24237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6299"/>
              </a:lnSpc>
            </a:pPr>
            <a:r>
              <a:rPr lang="en-US" sz="4500" b="1" strike="noStrike" spc="-1" dirty="0">
                <a:solidFill>
                  <a:srgbClr val="000000"/>
                </a:solidFill>
                <a:latin typeface="Arial Bold"/>
                <a:ea typeface="Arial Bold"/>
              </a:rPr>
              <a:t>CAPÍTULO </a:t>
            </a:r>
            <a:r>
              <a:rPr lang="en-US" sz="4500" b="1" strike="noStrike" spc="-1" dirty="0" smtClean="0">
                <a:solidFill>
                  <a:srgbClr val="000000"/>
                </a:solidFill>
                <a:latin typeface="Arial Bold"/>
                <a:ea typeface="Arial Bold"/>
              </a:rPr>
              <a:t>IV.</a:t>
            </a:r>
          </a:p>
          <a:p>
            <a:pPr algn="ctr">
              <a:lnSpc>
                <a:spcPts val="6299"/>
              </a:lnSpc>
            </a:pPr>
            <a:r>
              <a:rPr lang="en-US" sz="2800" kern="0" dirty="0" err="1">
                <a:solidFill>
                  <a:srgbClr val="0EA5E9"/>
                </a:solidFill>
                <a:latin typeface="Inter SemiBold"/>
                <a:ea typeface="Inter SemiBold"/>
                <a:cs typeface="Inter SemiBold"/>
                <a:sym typeface="Inter SemiBold"/>
              </a:rPr>
              <a:t>Descripción</a:t>
            </a:r>
            <a:r>
              <a:rPr lang="en-US" sz="2800" kern="0" dirty="0">
                <a:solidFill>
                  <a:srgbClr val="0EA5E9"/>
                </a:solidFill>
                <a:latin typeface="Inter SemiBold"/>
                <a:ea typeface="Inter SemiBold"/>
                <a:cs typeface="Inter SemiBold"/>
                <a:sym typeface="Inter SemiBold"/>
              </a:rPr>
              <a:t> de la </a:t>
            </a:r>
            <a:r>
              <a:rPr lang="en-US" sz="2800" kern="0" dirty="0" err="1">
                <a:solidFill>
                  <a:srgbClr val="0EA5E9"/>
                </a:solidFill>
                <a:latin typeface="Inter SemiBold"/>
                <a:ea typeface="Inter SemiBold"/>
                <a:cs typeface="Inter SemiBold"/>
                <a:sym typeface="Inter SemiBold"/>
              </a:rPr>
              <a:t>propuesta</a:t>
            </a:r>
            <a:endParaRPr lang="en-US" sz="2800" kern="0" dirty="0">
              <a:solidFill>
                <a:srgbClr val="000000"/>
              </a:solidFill>
              <a:cs typeface="Arial"/>
              <a:sym typeface="Arial"/>
            </a:endParaRPr>
          </a:p>
          <a:p>
            <a:pPr algn="ctr">
              <a:lnSpc>
                <a:spcPts val="6299"/>
              </a:lnSpc>
            </a:pPr>
            <a:endParaRPr lang="es-VE" sz="4500" b="0" strike="noStrike" spc="-1" dirty="0">
              <a:solidFill>
                <a:srgbClr val="000000"/>
              </a:solidFill>
              <a:latin typeface="Arial"/>
            </a:endParaRPr>
          </a:p>
        </p:txBody>
      </p:sp>
      <p:sp>
        <p:nvSpPr>
          <p:cNvPr id="2" name="CuadroTexto 1"/>
          <p:cNvSpPr txBox="1"/>
          <p:nvPr/>
        </p:nvSpPr>
        <p:spPr>
          <a:xfrm>
            <a:off x="1718010" y="2684122"/>
            <a:ext cx="6791809" cy="584775"/>
          </a:xfrm>
          <a:prstGeom prst="rect">
            <a:avLst/>
          </a:prstGeom>
          <a:noFill/>
        </p:spPr>
        <p:txBody>
          <a:bodyPr wrap="square" rtlCol="0">
            <a:spAutoFit/>
          </a:bodyPr>
          <a:lstStyle/>
          <a:p>
            <a:pPr algn="ctr"/>
            <a:r>
              <a:rPr lang="es-ES" sz="3200" b="1" dirty="0" smtClean="0"/>
              <a:t>Concluciones</a:t>
            </a:r>
            <a:endParaRPr lang="es-ES" sz="3200" b="1" dirty="0"/>
          </a:p>
        </p:txBody>
      </p:sp>
      <p:sp>
        <p:nvSpPr>
          <p:cNvPr id="11" name="Rectángulo redondeado 10"/>
          <p:cNvSpPr/>
          <p:nvPr/>
        </p:nvSpPr>
        <p:spPr>
          <a:xfrm>
            <a:off x="10730533" y="2595716"/>
            <a:ext cx="7979113" cy="791168"/>
          </a:xfrm>
          <a:prstGeom prst="round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p:cNvSpPr txBox="1"/>
          <p:nvPr/>
        </p:nvSpPr>
        <p:spPr>
          <a:xfrm>
            <a:off x="9697123" y="2698912"/>
            <a:ext cx="6791809" cy="584775"/>
          </a:xfrm>
          <a:prstGeom prst="rect">
            <a:avLst/>
          </a:prstGeom>
          <a:noFill/>
        </p:spPr>
        <p:txBody>
          <a:bodyPr wrap="square" rtlCol="0">
            <a:spAutoFit/>
          </a:bodyPr>
          <a:lstStyle/>
          <a:p>
            <a:pPr algn="ctr"/>
            <a:r>
              <a:rPr lang="es-ES" sz="3200" b="1" dirty="0" smtClean="0"/>
              <a:t>Recomendaciones</a:t>
            </a:r>
            <a:endParaRPr lang="es-ES" sz="3200" b="1" dirty="0"/>
          </a:p>
        </p:txBody>
      </p:sp>
      <p:sp>
        <p:nvSpPr>
          <p:cNvPr id="5" name="CuadroTexto 4"/>
          <p:cNvSpPr txBox="1"/>
          <p:nvPr/>
        </p:nvSpPr>
        <p:spPr>
          <a:xfrm>
            <a:off x="1041233" y="3860381"/>
            <a:ext cx="7070380" cy="4524315"/>
          </a:xfrm>
          <a:prstGeom prst="rect">
            <a:avLst/>
          </a:prstGeom>
          <a:solidFill>
            <a:schemeClr val="bg1"/>
          </a:solidFill>
        </p:spPr>
        <p:txBody>
          <a:bodyPr wrap="square" rtlCol="0">
            <a:spAutoFit/>
          </a:bodyPr>
          <a:lstStyle/>
          <a:p>
            <a:pPr algn="just"/>
            <a:r>
              <a:rPr lang="es-ES" sz="2400" dirty="0"/>
              <a:t>La implementación del sistema web en C.V.G. CABELUM consolida una solución tecnológica soberana que moderniza la gestión administrativa al sustituir procesos manuales por una arquitectura web robusta y eficiente. Gracias a la integración de altos estándares de seguridad, trazabilidad de datos y diseño adaptativo, la plataforma optimiza el flujo logístico de las 32 gerencias, transformando la información en un activo estratégico para la toma de decisiones gerenciales basada en indicadores de gestión en tiempo real.</a:t>
            </a:r>
          </a:p>
        </p:txBody>
      </p:sp>
      <p:sp>
        <p:nvSpPr>
          <p:cNvPr id="14" name="Rectangle 3"/>
          <p:cNvSpPr>
            <a:spLocks noChangeArrowheads="1"/>
          </p:cNvSpPr>
          <p:nvPr/>
        </p:nvSpPr>
        <p:spPr bwMode="auto">
          <a:xfrm>
            <a:off x="10028903" y="3860381"/>
            <a:ext cx="801226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A la Gerencia General:</a:t>
            </a:r>
            <a:r>
              <a:rPr kumimoji="0" lang="es-ES" altLang="es-ES" sz="2400" b="0" i="0" u="none" strike="noStrike" cap="none" normalizeH="0" baseline="0" dirty="0" smtClean="0">
                <a:ln>
                  <a:noFill/>
                </a:ln>
                <a:solidFill>
                  <a:schemeClr val="tx1"/>
                </a:solidFill>
                <a:effectLst/>
                <a:latin typeface="Arial" panose="020B0604020202020204" pitchFamily="34" charset="0"/>
              </a:rPr>
              <a:t> Institucionalizar el uso obligatorio del sistema en las </a:t>
            </a:r>
            <a:r>
              <a:rPr kumimoji="0" lang="es-ES" altLang="es-ES" sz="2400" b="1" i="0" u="none" strike="noStrike" cap="none" normalizeH="0" baseline="0" dirty="0" smtClean="0">
                <a:ln>
                  <a:noFill/>
                </a:ln>
                <a:solidFill>
                  <a:schemeClr val="tx1"/>
                </a:solidFill>
                <a:effectLst/>
                <a:latin typeface="Arial" panose="020B0604020202020204" pitchFamily="34" charset="0"/>
              </a:rPr>
              <a:t>32 gerencias</a:t>
            </a:r>
            <a:r>
              <a:rPr kumimoji="0" lang="es-ES" altLang="es-ES" sz="2400" b="0" i="0" u="none" strike="noStrike" cap="none" normalizeH="0" baseline="0" dirty="0" smtClean="0">
                <a:ln>
                  <a:noFill/>
                </a:ln>
                <a:solidFill>
                  <a:schemeClr val="tx1"/>
                </a:solidFill>
                <a:effectLst/>
                <a:latin typeface="Arial" panose="020B0604020202020204" pitchFamily="34" charset="0"/>
              </a:rPr>
              <a:t> y mantener capacitaciones continuas para el personal.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ES" altLang="es-E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Al Departamento de TI:</a:t>
            </a:r>
            <a:r>
              <a:rPr kumimoji="0" lang="es-ES" altLang="es-ES" sz="2400" b="0" i="0" u="none" strike="noStrike" cap="none" normalizeH="0" baseline="0" dirty="0" smtClean="0">
                <a:ln>
                  <a:noFill/>
                </a:ln>
                <a:solidFill>
                  <a:schemeClr val="tx1"/>
                </a:solidFill>
                <a:effectLst/>
                <a:latin typeface="Arial" panose="020B0604020202020204" pitchFamily="34" charset="0"/>
              </a:rPr>
              <a:t> Automatizar respaldos diarios, auditar semanalmente los </a:t>
            </a:r>
            <a:r>
              <a:rPr kumimoji="0" lang="es-ES" altLang="es-ES" sz="2400" b="0" i="0" u="none" strike="noStrike" cap="none" normalizeH="0" baseline="0" dirty="0" err="1" smtClean="0">
                <a:ln>
                  <a:noFill/>
                </a:ln>
                <a:solidFill>
                  <a:schemeClr val="tx1"/>
                </a:solidFill>
                <a:effectLst/>
                <a:latin typeface="Arial" panose="020B0604020202020204" pitchFamily="34" charset="0"/>
              </a:rPr>
              <a:t>logs</a:t>
            </a:r>
            <a:r>
              <a:rPr kumimoji="0" lang="es-ES" altLang="es-ES" sz="2400" b="0" i="0" u="none" strike="noStrike" cap="none" normalizeH="0" baseline="0" dirty="0" smtClean="0">
                <a:ln>
                  <a:noFill/>
                </a:ln>
                <a:solidFill>
                  <a:schemeClr val="tx1"/>
                </a:solidFill>
                <a:effectLst/>
                <a:latin typeface="Arial" panose="020B0604020202020204" pitchFamily="34" charset="0"/>
              </a:rPr>
              <a:t> de seguridad y planificar la migración a la nube o contenedores.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ES" altLang="es-E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400" b="1" i="0" u="none" strike="noStrike" cap="none" normalizeH="0" baseline="0" dirty="0" smtClean="0">
                <a:ln>
                  <a:noFill/>
                </a:ln>
                <a:solidFill>
                  <a:schemeClr val="tx1"/>
                </a:solidFill>
                <a:effectLst/>
                <a:latin typeface="Arial" panose="020B0604020202020204" pitchFamily="34" charset="0"/>
              </a:rPr>
              <a:t>Evolución del Software:</a:t>
            </a:r>
            <a:r>
              <a:rPr kumimoji="0" lang="es-ES" altLang="es-ES" sz="2400" b="0" i="0" u="none" strike="noStrike" cap="none" normalizeH="0" baseline="0" dirty="0" smtClean="0">
                <a:ln>
                  <a:noFill/>
                </a:ln>
                <a:solidFill>
                  <a:schemeClr val="tx1"/>
                </a:solidFill>
                <a:effectLst/>
                <a:latin typeface="Arial" panose="020B0604020202020204" pitchFamily="34" charset="0"/>
              </a:rPr>
              <a:t> Integrar el sistema con el </a:t>
            </a:r>
            <a:r>
              <a:rPr kumimoji="0" lang="es-ES" altLang="es-ES" sz="2400" b="1" i="0" u="none" strike="noStrike" cap="none" normalizeH="0" baseline="0" dirty="0" smtClean="0">
                <a:ln>
                  <a:noFill/>
                </a:ln>
                <a:solidFill>
                  <a:schemeClr val="tx1"/>
                </a:solidFill>
                <a:effectLst/>
                <a:latin typeface="Arial" panose="020B0604020202020204" pitchFamily="34" charset="0"/>
              </a:rPr>
              <a:t>ERP corporativo</a:t>
            </a:r>
            <a:r>
              <a:rPr kumimoji="0" lang="es-ES" altLang="es-ES" sz="2400" b="0" i="0" u="none" strike="noStrike" cap="none" normalizeH="0" baseline="0" dirty="0" smtClean="0">
                <a:ln>
                  <a:noFill/>
                </a:ln>
                <a:solidFill>
                  <a:schemeClr val="tx1"/>
                </a:solidFill>
                <a:effectLst/>
                <a:latin typeface="Arial" panose="020B0604020202020204" pitchFamily="34" charset="0"/>
              </a:rPr>
              <a:t> y desarrollar notificaciones en tiempo real con </a:t>
            </a:r>
            <a:r>
              <a:rPr kumimoji="0" lang="es-ES" altLang="es-ES" sz="2400" b="1" i="0" u="none" strike="noStrike" cap="none" normalizeH="0" baseline="0" dirty="0" err="1" smtClean="0">
                <a:ln>
                  <a:noFill/>
                </a:ln>
                <a:solidFill>
                  <a:schemeClr val="tx1"/>
                </a:solidFill>
                <a:effectLst/>
                <a:latin typeface="Arial" panose="020B0604020202020204" pitchFamily="34" charset="0"/>
              </a:rPr>
              <a:t>WebSockets</a:t>
            </a:r>
            <a:r>
              <a:rPr kumimoji="0" lang="es-ES" altLang="es-ES" sz="2400" b="0" i="0" u="none" strike="noStrike" cap="none" normalizeH="0" baseline="0" dirty="0" smtClean="0">
                <a:ln>
                  <a:noFill/>
                </a:ln>
                <a:solidFill>
                  <a:schemeClr val="tx1"/>
                </a:solidFill>
                <a:effectLst/>
                <a:latin typeface="Arial" panose="020B0604020202020204" pitchFamily="34" charset="0"/>
              </a:rPr>
              <a:t>.</a:t>
            </a:r>
          </a:p>
        </p:txBody>
      </p:sp>
      <p:cxnSp>
        <p:nvCxnSpPr>
          <p:cNvPr id="16" name="Conector recto 15"/>
          <p:cNvCxnSpPr/>
          <p:nvPr/>
        </p:nvCxnSpPr>
        <p:spPr>
          <a:xfrm>
            <a:off x="9114503" y="2595716"/>
            <a:ext cx="29497" cy="651878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2062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4000"/>
            <a:lum/>
          </a:blip>
          <a:srcRect/>
          <a:stretch>
            <a:fillRect/>
          </a:stretch>
        </a:blipFill>
        <a:effectLst/>
      </p:bgPr>
    </p:bg>
    <p:spTree>
      <p:nvGrpSpPr>
        <p:cNvPr id="1" name=""/>
        <p:cNvGrpSpPr/>
        <p:nvPr/>
      </p:nvGrpSpPr>
      <p:grpSpPr>
        <a:xfrm>
          <a:off x="0" y="0"/>
          <a:ext cx="0" cy="0"/>
          <a:chOff x="0" y="0"/>
          <a:chExt cx="0" cy="0"/>
        </a:xfrm>
      </p:grpSpPr>
      <p:sp>
        <p:nvSpPr>
          <p:cNvPr id="8" name="Rectángulo 7"/>
          <p:cNvSpPr/>
          <p:nvPr/>
        </p:nvSpPr>
        <p:spPr>
          <a:xfrm>
            <a:off x="376518" y="322729"/>
            <a:ext cx="17563535" cy="134679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3" name="Freeform 6"/>
          <p:cNvSpPr/>
          <p:nvPr/>
        </p:nvSpPr>
        <p:spPr>
          <a:xfrm>
            <a:off x="376518" y="534681"/>
            <a:ext cx="1504559" cy="1017113"/>
          </a:xfrm>
          <a:custGeom>
            <a:avLst/>
            <a:gdLst/>
            <a:ahLst/>
            <a:cxnLst/>
            <a:rect l="l" t="t" r="r" b="b"/>
            <a:pathLst>
              <a:path w="1715229" h="1715229">
                <a:moveTo>
                  <a:pt x="0" y="0"/>
                </a:moveTo>
                <a:lnTo>
                  <a:pt x="1715229" y="0"/>
                </a:lnTo>
                <a:lnTo>
                  <a:pt x="1715229" y="1715229"/>
                </a:lnTo>
                <a:lnTo>
                  <a:pt x="0" y="1715229"/>
                </a:lnTo>
                <a:lnTo>
                  <a:pt x="0" y="0"/>
                </a:lnTo>
                <a:close/>
              </a:path>
            </a:pathLst>
          </a:custGeom>
          <a:blipFill>
            <a:blip r:embed="rId3"/>
            <a:stretch>
              <a:fillRect/>
            </a:stretch>
          </a:blipFill>
          <a:ln>
            <a:solidFill>
              <a:schemeClr val="bg1"/>
            </a:solidFill>
          </a:ln>
        </p:spPr>
      </p:sp>
      <p:sp>
        <p:nvSpPr>
          <p:cNvPr id="4" name="TextBox 9"/>
          <p:cNvSpPr txBox="1"/>
          <p:nvPr/>
        </p:nvSpPr>
        <p:spPr>
          <a:xfrm>
            <a:off x="838199" y="1903759"/>
            <a:ext cx="16078200" cy="2308324"/>
          </a:xfrm>
          <a:prstGeom prst="rect">
            <a:avLst/>
          </a:prstGeom>
        </p:spPr>
        <p:txBody>
          <a:bodyPr wrap="square" lIns="0" tIns="0" rIns="0" bIns="0" rtlCol="0" anchor="t">
            <a:spAutoFit/>
          </a:bodyPr>
          <a:lstStyle/>
          <a:p>
            <a:pPr marL="0" marR="0" lvl="0" indent="0" algn="ctr" defTabSz="914400" rtl="0" eaLnBrk="1" fontAlgn="auto" latinLnBrk="0" hangingPunct="1">
              <a:lnSpc>
                <a:spcPts val="3639"/>
              </a:lnSpc>
              <a:spcBef>
                <a:spcPts val="0"/>
              </a:spcBef>
              <a:spcAft>
                <a:spcPts val="0"/>
              </a:spcAft>
              <a:buClrTx/>
              <a:buSzTx/>
              <a:buFontTx/>
              <a:buNone/>
              <a:tabLst/>
              <a:defRPr/>
            </a:pPr>
            <a:r>
              <a:rPr kumimoji="0" lang="en-US" sz="2400" b="1" i="0" u="none" strike="noStrike" kern="1200" cap="none" spc="163" normalizeH="0" baseline="0" noProof="0" dirty="0">
                <a:ln>
                  <a:noFill/>
                </a:ln>
                <a:solidFill>
                  <a:srgbClr val="000000"/>
                </a:solidFill>
                <a:effectLst/>
                <a:uLnTx/>
                <a:uFillTx/>
                <a:latin typeface="Arial" panose="020B0604020202020204" pitchFamily="34" charset="0"/>
                <a:ea typeface="Poppins Bold"/>
                <a:cs typeface="Arial" panose="020B0604020202020204" pitchFamily="34" charset="0"/>
                <a:sym typeface="Poppins Bold"/>
              </a:rPr>
              <a:t>REPÚBLICA BOLIVARIANA DE VENEZUELA </a:t>
            </a:r>
          </a:p>
          <a:p>
            <a:pPr marL="0" marR="0" lvl="0" indent="0" algn="ctr" defTabSz="914400" rtl="0" eaLnBrk="1" fontAlgn="auto" latinLnBrk="0" hangingPunct="1">
              <a:lnSpc>
                <a:spcPts val="3639"/>
              </a:lnSpc>
              <a:spcBef>
                <a:spcPts val="0"/>
              </a:spcBef>
              <a:spcAft>
                <a:spcPts val="0"/>
              </a:spcAft>
              <a:buClrTx/>
              <a:buSzTx/>
              <a:buFontTx/>
              <a:buNone/>
              <a:tabLst/>
              <a:defRPr/>
            </a:pPr>
            <a:r>
              <a:rPr kumimoji="0" lang="en-US" sz="2400" b="1" i="0" u="none" strike="noStrike" kern="1200" cap="none" spc="163" normalizeH="0" baseline="0" noProof="0" dirty="0">
                <a:ln>
                  <a:noFill/>
                </a:ln>
                <a:solidFill>
                  <a:srgbClr val="000000"/>
                </a:solidFill>
                <a:effectLst/>
                <a:uLnTx/>
                <a:uFillTx/>
                <a:latin typeface="Arial" panose="020B0604020202020204" pitchFamily="34" charset="0"/>
                <a:ea typeface="Poppins Bold"/>
                <a:cs typeface="Arial" panose="020B0604020202020204" pitchFamily="34" charset="0"/>
                <a:sym typeface="Poppins Bold"/>
              </a:rPr>
              <a:t>MINISTERIO DEL PODER POPULAR PARA LA EDUCACIÓN UNIVERSITARIA, CIENCIA Y TECNOLOGÍA </a:t>
            </a:r>
          </a:p>
          <a:p>
            <a:pPr marL="0" marR="0" lvl="0" indent="0" algn="ctr" defTabSz="914400" rtl="0" eaLnBrk="1" fontAlgn="auto" latinLnBrk="0" hangingPunct="1">
              <a:lnSpc>
                <a:spcPts val="3639"/>
              </a:lnSpc>
              <a:spcBef>
                <a:spcPts val="0"/>
              </a:spcBef>
              <a:spcAft>
                <a:spcPts val="0"/>
              </a:spcAft>
              <a:buClrTx/>
              <a:buSzTx/>
              <a:buFontTx/>
              <a:buNone/>
              <a:tabLst/>
              <a:defRPr/>
            </a:pPr>
            <a:r>
              <a:rPr kumimoji="0" lang="en-US" sz="2400" b="1" i="0" u="none" strike="noStrike" kern="1200" cap="none" spc="163" normalizeH="0" baseline="0" noProof="0" dirty="0">
                <a:ln>
                  <a:noFill/>
                </a:ln>
                <a:solidFill>
                  <a:srgbClr val="000000"/>
                </a:solidFill>
                <a:effectLst/>
                <a:uLnTx/>
                <a:uFillTx/>
                <a:latin typeface="Arial" panose="020B0604020202020204" pitchFamily="34" charset="0"/>
                <a:ea typeface="Poppins Bold"/>
                <a:cs typeface="Arial" panose="020B0604020202020204" pitchFamily="34" charset="0"/>
                <a:sym typeface="Poppins Bold"/>
              </a:rPr>
              <a:t>UNIVERSIDAD POLITÉCNICA TERRITORIAL DEL ESTADO BOLÍVAR</a:t>
            </a:r>
          </a:p>
          <a:p>
            <a:pPr marL="0" marR="0" lvl="0" indent="0" algn="ctr" defTabSz="914400" rtl="0" eaLnBrk="1" fontAlgn="auto" latinLnBrk="0" hangingPunct="1">
              <a:lnSpc>
                <a:spcPts val="3639"/>
              </a:lnSpc>
              <a:spcBef>
                <a:spcPts val="0"/>
              </a:spcBef>
              <a:spcAft>
                <a:spcPts val="0"/>
              </a:spcAft>
              <a:buClrTx/>
              <a:buSzTx/>
              <a:buFontTx/>
              <a:buNone/>
              <a:tabLst/>
              <a:defRPr/>
            </a:pPr>
            <a:r>
              <a:rPr kumimoji="0" lang="en-US" sz="2400" b="1" i="0" u="none" strike="noStrike" kern="1200" cap="none" spc="163" normalizeH="0" baseline="0" noProof="0" dirty="0">
                <a:ln>
                  <a:noFill/>
                </a:ln>
                <a:solidFill>
                  <a:srgbClr val="000000"/>
                </a:solidFill>
                <a:effectLst/>
                <a:uLnTx/>
                <a:uFillTx/>
                <a:latin typeface="Arial" panose="020B0604020202020204" pitchFamily="34" charset="0"/>
                <a:ea typeface="Poppins Bold"/>
                <a:cs typeface="Arial" panose="020B0604020202020204" pitchFamily="34" charset="0"/>
                <a:sym typeface="Poppins Bold"/>
              </a:rPr>
              <a:t>PROGRAMA NACIONAL DE FORMACIÓN EN INFORMÁTICA</a:t>
            </a:r>
          </a:p>
        </p:txBody>
      </p:sp>
      <p:sp>
        <p:nvSpPr>
          <p:cNvPr id="5" name="TextBox 10"/>
          <p:cNvSpPr txBox="1"/>
          <p:nvPr/>
        </p:nvSpPr>
        <p:spPr>
          <a:xfrm>
            <a:off x="2425830" y="4454451"/>
            <a:ext cx="13464910" cy="2215991"/>
          </a:xfrm>
          <a:prstGeom prst="rect">
            <a:avLst/>
          </a:prstGeom>
        </p:spPr>
        <p:txBody>
          <a:bodyPr wrap="square" lIns="0" tIns="0" rIns="0" bIns="0" rtlCol="0" anchor="t">
            <a:spAutoFit/>
          </a:bodyPr>
          <a:lstStyle/>
          <a:p>
            <a:pPr marL="0" marR="0" lvl="0" indent="0" algn="ctr" defTabSz="914400" rtl="0" eaLnBrk="1" fontAlgn="auto" latinLnBrk="0" hangingPunct="1">
              <a:spcBef>
                <a:spcPts val="0"/>
              </a:spcBef>
              <a:spcAft>
                <a:spcPts val="0"/>
              </a:spcAft>
              <a:buClrTx/>
              <a:buSzTx/>
              <a:buFontTx/>
              <a:buNone/>
              <a:tabLst/>
              <a:defRPr/>
            </a:pPr>
            <a:r>
              <a:rPr lang="es-ES" sz="3600" b="1" dirty="0" smtClean="0">
                <a:solidFill>
                  <a:srgbClr val="0038A8"/>
                </a:solidFill>
                <a:latin typeface="Open Sans Bold"/>
                <a:ea typeface="Open Sans Bold"/>
                <a:cs typeface="Open Sans Bold"/>
                <a:sym typeface="Open Sans Bold"/>
              </a:rPr>
              <a:t>Desarrollo </a:t>
            </a:r>
            <a:r>
              <a:rPr lang="es-ES" sz="3600" b="1" dirty="0">
                <a:solidFill>
                  <a:srgbClr val="0038A8"/>
                </a:solidFill>
                <a:latin typeface="Open Sans Bold"/>
                <a:ea typeface="Open Sans Bold"/>
                <a:cs typeface="Open Sans Bold"/>
                <a:sym typeface="Open Sans Bold"/>
              </a:rPr>
              <a:t>de un Sistema Web para la Gestión de Solicitudes de Compra y Venta en C.V.G. CABELUM, Ubicada en la Nueva Zona industrial, Av. Perimetral, Municipio Angostura del Orinoco, Ciudad Bolívar, Estado Bolívar</a:t>
            </a:r>
            <a:endParaRPr kumimoji="0" lang="en-US" sz="3600" b="1" i="0" u="none" strike="noStrike" kern="1200" cap="none" spc="0" normalizeH="0" baseline="0" noProof="0" dirty="0">
              <a:ln>
                <a:noFill/>
              </a:ln>
              <a:solidFill>
                <a:srgbClr val="0038A8"/>
              </a:solidFill>
              <a:effectLst/>
              <a:uLnTx/>
              <a:uFillTx/>
              <a:latin typeface="Open Sans Bold"/>
              <a:ea typeface="Open Sans Bold"/>
              <a:cs typeface="Open Sans Bold"/>
              <a:sym typeface="Open Sans Bold"/>
            </a:endParaRPr>
          </a:p>
        </p:txBody>
      </p:sp>
      <p:sp>
        <p:nvSpPr>
          <p:cNvPr id="6" name="TextBox 12"/>
          <p:cNvSpPr txBox="1"/>
          <p:nvPr/>
        </p:nvSpPr>
        <p:spPr>
          <a:xfrm>
            <a:off x="11167782" y="7247808"/>
            <a:ext cx="8224553" cy="1170705"/>
          </a:xfrm>
          <a:prstGeom prst="rect">
            <a:avLst/>
          </a:prstGeom>
        </p:spPr>
        <p:txBody>
          <a:bodyPr lIns="0" tIns="0" rIns="0" bIns="0" rtlCol="0" anchor="t">
            <a:spAutoFit/>
          </a:bodyPr>
          <a:lstStyle/>
          <a:p>
            <a:pPr marL="0" marR="0" lvl="0" indent="0" algn="l" defTabSz="914400" rtl="0" eaLnBrk="1" fontAlgn="auto" latinLnBrk="0" hangingPunct="1">
              <a:lnSpc>
                <a:spcPts val="4759"/>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0000"/>
                </a:solidFill>
                <a:effectLst/>
                <a:uLnTx/>
                <a:uFillTx/>
                <a:latin typeface="Poppins"/>
                <a:ea typeface="Poppins"/>
                <a:cs typeface="Poppins"/>
                <a:sym typeface="Poppins"/>
              </a:rPr>
              <a:t>AUTOR : CESAR</a:t>
            </a:r>
            <a:r>
              <a:rPr kumimoji="0" lang="en-US" sz="2400" b="0" i="0" u="none" strike="noStrike" kern="1200" cap="none" spc="0" normalizeH="0" noProof="0" dirty="0" smtClean="0">
                <a:ln>
                  <a:noFill/>
                </a:ln>
                <a:solidFill>
                  <a:srgbClr val="000000"/>
                </a:solidFill>
                <a:effectLst/>
                <a:uLnTx/>
                <a:uFillTx/>
                <a:latin typeface="Poppins"/>
                <a:ea typeface="Poppins"/>
                <a:cs typeface="Poppins"/>
                <a:sym typeface="Poppins"/>
              </a:rPr>
              <a:t> TORRES C.I:30.939.693</a:t>
            </a:r>
            <a:endParaRPr kumimoji="0" lang="en-US" sz="2400" b="0" i="0" u="none" strike="noStrike" kern="1200" cap="none" spc="0" normalizeH="0" baseline="0" noProof="0" dirty="0" smtClean="0">
              <a:ln>
                <a:noFill/>
              </a:ln>
              <a:solidFill>
                <a:srgbClr val="000000"/>
              </a:solidFill>
              <a:effectLst/>
              <a:uLnTx/>
              <a:uFillTx/>
              <a:latin typeface="Poppins"/>
              <a:ea typeface="Poppins"/>
              <a:cs typeface="Poppins"/>
              <a:sym typeface="Poppins"/>
            </a:endParaRPr>
          </a:p>
          <a:p>
            <a:pPr marL="0" marR="0" lvl="0" indent="0" algn="l" defTabSz="914400" rtl="0" eaLnBrk="1" fontAlgn="auto" latinLnBrk="0" hangingPunct="1">
              <a:lnSpc>
                <a:spcPts val="4759"/>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0000"/>
                </a:solidFill>
                <a:effectLst/>
                <a:uLnTx/>
                <a:uFillTx/>
                <a:latin typeface="Poppins"/>
                <a:ea typeface="Poppins"/>
                <a:cs typeface="Poppins"/>
                <a:sym typeface="Poppins"/>
              </a:rPr>
              <a:t>TUTOR RESPONSABLE: </a:t>
            </a:r>
            <a:r>
              <a:rPr lang="en-US" sz="2400" dirty="0" smtClean="0">
                <a:solidFill>
                  <a:srgbClr val="000000"/>
                </a:solidFill>
                <a:latin typeface="Poppins"/>
                <a:ea typeface="Poppins"/>
                <a:cs typeface="Poppins"/>
                <a:sym typeface="Poppins"/>
              </a:rPr>
              <a:t>JORGE NUÑEZ</a:t>
            </a:r>
            <a:endParaRPr kumimoji="0" lang="en-US" sz="2400" b="0" i="0" u="none" strike="noStrike" kern="1200" cap="none" spc="0" normalizeH="0" baseline="0" noProof="0" dirty="0">
              <a:ln>
                <a:noFill/>
              </a:ln>
              <a:solidFill>
                <a:srgbClr val="000000"/>
              </a:solidFill>
              <a:effectLst/>
              <a:uLnTx/>
              <a:uFillTx/>
              <a:latin typeface="Poppins"/>
              <a:ea typeface="Poppins"/>
              <a:cs typeface="Poppins"/>
              <a:sym typeface="Poppins"/>
            </a:endParaRPr>
          </a:p>
        </p:txBody>
      </p:sp>
      <p:sp>
        <p:nvSpPr>
          <p:cNvPr id="7" name="TextBox 12"/>
          <p:cNvSpPr txBox="1"/>
          <p:nvPr/>
        </p:nvSpPr>
        <p:spPr>
          <a:xfrm>
            <a:off x="5657063" y="9017064"/>
            <a:ext cx="8224553" cy="615553"/>
          </a:xfrm>
          <a:prstGeom prst="rect">
            <a:avLst/>
          </a:prstGeom>
        </p:spPr>
        <p:txBody>
          <a:bodyPr lIns="0" tIns="0" rIns="0" bIns="0" rtlCol="0" anchor="t">
            <a:spAutoFit/>
          </a:bodyPr>
          <a:lstStyle/>
          <a:p>
            <a:pPr marL="0" marR="0" lvl="0" indent="0" algn="l" defTabSz="914400" rtl="0" eaLnBrk="1" fontAlgn="auto" latinLnBrk="0" hangingPunct="1">
              <a:lnSpc>
                <a:spcPts val="4759"/>
              </a:lnSpc>
              <a:spcBef>
                <a:spcPts val="0"/>
              </a:spcBef>
              <a:spcAft>
                <a:spcPts val="0"/>
              </a:spcAft>
              <a:buClrTx/>
              <a:buSzTx/>
              <a:buFontTx/>
              <a:buNone/>
              <a:tabLst/>
              <a:defRPr/>
            </a:pPr>
            <a:r>
              <a:rPr kumimoji="0" lang="en-US" sz="2800" b="0" i="0" u="none" strike="noStrike" kern="1200" cap="none" spc="0" normalizeH="0" baseline="0" noProof="0" dirty="0" smtClean="0">
                <a:ln>
                  <a:noFill/>
                </a:ln>
                <a:solidFill>
                  <a:srgbClr val="000000"/>
                </a:solidFill>
                <a:effectLst/>
                <a:uLnTx/>
                <a:uFillTx/>
                <a:latin typeface="Poppins"/>
                <a:ea typeface="Poppins"/>
                <a:cs typeface="Poppins"/>
                <a:sym typeface="Poppins"/>
              </a:rPr>
              <a:t>CIUDAD BOLIVAR,</a:t>
            </a:r>
            <a:r>
              <a:rPr kumimoji="0" lang="en-US" sz="2800" b="0" i="0" u="none" strike="noStrike" kern="1200" cap="none" spc="0" normalizeH="0" noProof="0" dirty="0" smtClean="0">
                <a:ln>
                  <a:noFill/>
                </a:ln>
                <a:solidFill>
                  <a:srgbClr val="000000"/>
                </a:solidFill>
                <a:effectLst/>
                <a:uLnTx/>
                <a:uFillTx/>
                <a:latin typeface="Poppins"/>
                <a:ea typeface="Poppins"/>
                <a:cs typeface="Poppins"/>
                <a:sym typeface="Poppins"/>
              </a:rPr>
              <a:t> JULIO</a:t>
            </a:r>
            <a:r>
              <a:rPr kumimoji="0" lang="en-US" sz="2800" b="0" i="0" u="none" strike="noStrike" kern="1200" cap="none" spc="0" normalizeH="0" baseline="0" noProof="0" dirty="0" smtClean="0">
                <a:ln>
                  <a:noFill/>
                </a:ln>
                <a:solidFill>
                  <a:srgbClr val="000000"/>
                </a:solidFill>
                <a:effectLst/>
                <a:uLnTx/>
                <a:uFillTx/>
                <a:latin typeface="Poppins"/>
                <a:ea typeface="Poppins"/>
                <a:cs typeface="Poppins"/>
                <a:sym typeface="Poppins"/>
              </a:rPr>
              <a:t> DEL AÑO 2026</a:t>
            </a:r>
            <a:endParaRPr kumimoji="0" lang="en-US" sz="2800" b="0" i="0" u="none" strike="noStrike" kern="1200" cap="none" spc="0" normalizeH="0" baseline="0" noProof="0" dirty="0">
              <a:ln>
                <a:noFill/>
              </a:ln>
              <a:solidFill>
                <a:srgbClr val="000000"/>
              </a:solidFill>
              <a:effectLst/>
              <a:uLnTx/>
              <a:uFillTx/>
              <a:latin typeface="Poppins"/>
              <a:ea typeface="Poppins"/>
              <a:cs typeface="Poppins"/>
              <a:sym typeface="Poppins"/>
            </a:endParaRPr>
          </a:p>
        </p:txBody>
      </p:sp>
      <p:sp>
        <p:nvSpPr>
          <p:cNvPr id="9" name="Freeform 24"/>
          <p:cNvSpPr/>
          <p:nvPr/>
        </p:nvSpPr>
        <p:spPr>
          <a:xfrm>
            <a:off x="3335099" y="328256"/>
            <a:ext cx="11084400" cy="1354320"/>
          </a:xfrm>
          <a:custGeom>
            <a:avLst/>
            <a:gdLst>
              <a:gd name="textAreaLeft" fmla="*/ 0 w 11084400"/>
              <a:gd name="textAreaRight" fmla="*/ 11084760 w 11084400"/>
              <a:gd name="textAreaTop" fmla="*/ 0 h 1354320"/>
              <a:gd name="textAreaBottom" fmla="*/ 1354680 h 1354320"/>
            </a:gdLst>
            <a:ahLst/>
            <a:cxnLst/>
            <a:rect l="textAreaLeft" t="textAreaTop" r="textAreaRight" b="textAreaBottom"/>
            <a:pathLst>
              <a:path w="11084732" h="1505088">
                <a:moveTo>
                  <a:pt x="0" y="0"/>
                </a:moveTo>
                <a:lnTo>
                  <a:pt x="11084732" y="0"/>
                </a:lnTo>
                <a:lnTo>
                  <a:pt x="11084732" y="1505088"/>
                </a:lnTo>
                <a:lnTo>
                  <a:pt x="0" y="1505088"/>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10" name="Freeform 23"/>
          <p:cNvSpPr/>
          <p:nvPr/>
        </p:nvSpPr>
        <p:spPr>
          <a:xfrm>
            <a:off x="15873521" y="367526"/>
            <a:ext cx="1713600" cy="1051200"/>
          </a:xfrm>
          <a:custGeom>
            <a:avLst/>
            <a:gdLst>
              <a:gd name="textAreaLeft" fmla="*/ 0 w 1713600"/>
              <a:gd name="textAreaRight" fmla="*/ 1713960 w 1713600"/>
              <a:gd name="textAreaTop" fmla="*/ 0 h 1051200"/>
              <a:gd name="textAreaBottom" fmla="*/ 1051560 h 1051200"/>
            </a:gdLst>
            <a:ahLst/>
            <a:cxnLst/>
            <a:rect l="textAreaLeft" t="textAreaTop" r="textAreaRight" b="textAreaBottom"/>
            <a:pathLst>
              <a:path w="1714068" h="1051413">
                <a:moveTo>
                  <a:pt x="0" y="0"/>
                </a:moveTo>
                <a:lnTo>
                  <a:pt x="1714067" y="0"/>
                </a:lnTo>
                <a:lnTo>
                  <a:pt x="1714067" y="1051412"/>
                </a:lnTo>
                <a:lnTo>
                  <a:pt x="0" y="1051412"/>
                </a:lnTo>
                <a:lnTo>
                  <a:pt x="0" y="0"/>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
        <p:nvSpPr>
          <p:cNvPr id="11" name="Freeform 5"/>
          <p:cNvSpPr/>
          <p:nvPr/>
        </p:nvSpPr>
        <p:spPr>
          <a:xfrm>
            <a:off x="0" y="-485640"/>
            <a:ext cx="18287640" cy="914040"/>
          </a:xfrm>
          <a:custGeom>
            <a:avLst/>
            <a:gdLst>
              <a:gd name="textAreaLeft" fmla="*/ 0 w 18287640"/>
              <a:gd name="textAreaRight" fmla="*/ 18288000 w 18287640"/>
              <a:gd name="textAreaTop" fmla="*/ 0 h 914040"/>
              <a:gd name="textAreaBottom" fmla="*/ 914400 h 914040"/>
            </a:gdLst>
            <a:ahLst/>
            <a:cxnLst/>
            <a:rect l="textAreaLeft" t="textAreaTop" r="textAreaRight" b="textAreaBottom"/>
            <a:pathLst>
              <a:path w="18288000" h="914400">
                <a:moveTo>
                  <a:pt x="0" y="0"/>
                </a:moveTo>
                <a:lnTo>
                  <a:pt x="18288000" y="0"/>
                </a:lnTo>
                <a:lnTo>
                  <a:pt x="18288000" y="914400"/>
                </a:lnTo>
                <a:lnTo>
                  <a:pt x="0" y="914400"/>
                </a:lnTo>
                <a:lnTo>
                  <a:pt x="0" y="0"/>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s-VE" sz="1800" b="0" strike="noStrike" spc="-1">
              <a:solidFill>
                <a:srgbClr val="000000"/>
              </a:solidFill>
              <a:latin typeface="Calibri"/>
            </a:endParaRPr>
          </a:p>
        </p:txBody>
      </p:sp>
    </p:spTree>
    <p:extLst>
      <p:ext uri="{BB962C8B-B14F-4D97-AF65-F5344CB8AC3E}">
        <p14:creationId xmlns:p14="http://schemas.microsoft.com/office/powerpoint/2010/main" val="206727451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1088</TotalTime>
  <Words>1013</Words>
  <Application>Microsoft Office PowerPoint</Application>
  <PresentationFormat>Personalizado</PresentationFormat>
  <Paragraphs>95</Paragraphs>
  <Slides>10</Slides>
  <Notes>2</Notes>
  <HiddenSlides>0</HiddenSlides>
  <MMClips>0</MMClips>
  <ScaleCrop>false</ScaleCrop>
  <HeadingPairs>
    <vt:vector size="6" baseType="variant">
      <vt:variant>
        <vt:lpstr>Fuentes usadas</vt:lpstr>
      </vt:variant>
      <vt:variant>
        <vt:i4>12</vt:i4>
      </vt:variant>
      <vt:variant>
        <vt:lpstr>Tema</vt:lpstr>
      </vt:variant>
      <vt:variant>
        <vt:i4>2</vt:i4>
      </vt:variant>
      <vt:variant>
        <vt:lpstr>Títulos de diapositiva</vt:lpstr>
      </vt:variant>
      <vt:variant>
        <vt:i4>10</vt:i4>
      </vt:variant>
    </vt:vector>
  </HeadingPairs>
  <TitlesOfParts>
    <vt:vector size="24" baseType="lpstr">
      <vt:lpstr>Arial</vt:lpstr>
      <vt:lpstr>Arial Bold</vt:lpstr>
      <vt:lpstr>Calibri</vt:lpstr>
      <vt:lpstr>DejaVu Sans</vt:lpstr>
      <vt:lpstr>Inter</vt:lpstr>
      <vt:lpstr>Inter SemiBold</vt:lpstr>
      <vt:lpstr>Open Sans Bold</vt:lpstr>
      <vt:lpstr>Poppins</vt:lpstr>
      <vt:lpstr>Poppins Bold</vt:lpstr>
      <vt:lpstr>Symbol</vt:lpstr>
      <vt:lpstr>Times New Roman</vt:lpstr>
      <vt:lpstr>Wingdings</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FORMATO DIAPOSITIVAS PST</dc:title>
  <dc:subject/>
  <dc:creator>PNFI</dc:creator>
  <dc:description/>
  <cp:lastModifiedBy>Cesar</cp:lastModifiedBy>
  <cp:revision>49</cp:revision>
  <dcterms:created xsi:type="dcterms:W3CDTF">2006-08-16T00:00:00Z</dcterms:created>
  <dcterms:modified xsi:type="dcterms:W3CDTF">2026-07-17T05:14:52Z</dcterms:modified>
  <dc:identifier>DAGnXqYnOGs</dc:identifier>
  <dc:language>es-VE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Personalizado</vt:lpwstr>
  </property>
  <property fmtid="{D5CDD505-2E9C-101B-9397-08002B2CF9AE}" pid="4" name="Slides">
    <vt:i4>6</vt:i4>
  </property>
</Properties>
</file>